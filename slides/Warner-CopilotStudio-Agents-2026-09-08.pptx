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8" r:id="rId1"/>
  </p:sldMasterIdLst>
  <p:notesMasterIdLst>
    <p:notesMasterId r:id="rId21"/>
  </p:notesMasterIdLst>
  <p:sldIdLst>
    <p:sldId id="256" r:id="rId15"/>
    <p:sldId id="257" r:id="rId16"/>
    <p:sldId id="258" r:id="rId17"/>
    <p:sldId id="259" r:id="rId18"/>
    <p:sldId id="260" r:id="rId19"/>
    <p:sldId id="261" r:id="rId20"/>
    <p:sldId id="262" r:id="rId14"/>
    <p:sldId id="263" r:id="rId13"/>
    <p:sldId id="264" r:id="rId12"/>
    <p:sldId id="265" r:id="rId11"/>
    <p:sldId id="266" r:id="rId10"/>
    <p:sldId id="267" r:id="rId9"/>
    <p:sldId id="268" r:id="rId8"/>
    <p:sldId id="269" r:id="rId7"/>
    <p:sldId id="270" r:id="rId6"/>
    <p:sldId id="271" r:id="rId5"/>
    <p:sldId id="272" r:id="rId4"/>
    <p:sldId id="273" r:id="rId3"/>
    <p:sldId id="274" r:id="rId2"/>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Lst>
  <p:sldSz cx="9144000" cy="5143500" type="screen16x9"/>
  <p:notesSz cx="6858000" cy="9144000"/>
  <p:embeddedFontLst>
    <p:embeddedFont>
      <p:font typeface="Poppins" pitchFamily="2" charset="77"/>
      <p:regular r:id="rId22"/>
      <p:bold r:id="rId23"/>
      <p:italic r:id="rId24"/>
      <p:boldItalic r:id="rId25"/>
    </p:embeddedFont>
    <p:embeddedFont>
      <p:font typeface="Poppins SemiBold" panose="00000700000000000000"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C36E57-C8FC-42D9-9C08-652FC2493DDB}">
  <a:tblStyle styleId="{2BC36E57-C8FC-42D9-9C08-652FC2493D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p:restoredTop sz="94688"/>
  </p:normalViewPr>
  <p:slideViewPr>
    <p:cSldViewPr snapToGrid="0" snapToObjects="1">
      <p:cViewPr varScale="1">
        <p:scale>
          <a:sx n="155" d="100"/>
          <a:sy n="155" d="100"/>
        </p:scale>
        <p:origin x="5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9.xml"/><Relationship Id="rId3" Type="http://schemas.openxmlformats.org/officeDocument/2006/relationships/slide" Target="slides/slide18.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slide" Target="slides/slide8.xml"/><Relationship Id="rId14" Type="http://schemas.openxmlformats.org/officeDocument/2006/relationships/slide" Target="slides/slide7.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Hello there, and welcome to Build AI Agents to Automate Your Workflows. Tim Warner here, and over the next four hours I'm gonna teach you to build a Copilot Studio agent that earns its keep. We're building the Contoso AI Fundamentals Coach, an agent that helps a colleague prepare for Azure AI Fundamentals, which is exam AI-901. We'll grow that same agent all morning. First it gets a clear job, then a trusted source, then a conversation that actually waits for an answer, then a bounded tool, and finally a pilot decision you can defend. The exam is just our subject matter. The design skill transfers straight to your help desk, your onboarding, and your internal knowledge work, and you won't write a line of code to get there.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our shape for the morning, all times Central. Four segments, three ten-minute breaks, and a wrap-up at the end. I'll build one agent straight through all four, and you'll never need an account to take part. If you have to step away, the breaks land on the hour, so you can plan around them.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I use today lives in one public-facing repo, and I'd rather you had the link now than hunt for it later. You'll find the agent kit, the four labs, the worksheets, and a verified link register with every Microsoft Learn page behind this course. Grab it now, because the demos move quickly and I want you following along rather than transcribing.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Quick housekeeping on questions. Put them in the Q&amp;A window rather than chat, because chat scrolls and I'll lose them. Only the O'Reilly team and I can see the Q&amp;A window, so ask freely. I'll take questions inside each segment rather than saving them all for the end, and I'd rather answer three good questions properly than twenty in a rush.</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 one. Before anybody touches a control, we decide what this agent is for and what it must refuse. A brief you can't test is just a wish, so we'll write one that ends in a measurable boundary.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four outcomes are what you signed up for, so let's be straight about how we'll hit them. I'll build one agent across four segments and show you the evidence behind every change, not just the happy-path chat. You don't need a tenant to take part, because every exercise is a prediction, a diagnosis, or a design decision you can make on paper. One housekeeping note on outcome two: it says AZ-900 because that's the wording approved before AI-900 retired this past June. AI-901 replaced it under the same certification name, so AI-901 is what we're building. Same skill, current exam. If your account's ready, follow along, and the full recipes are in the repo for later.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Contoso's a fictional company and this is a fictional enablement program, so nothing here is a real customer. Our user has twenty or thirty minutes to study and keeps tripping over unfamiliar AI concepts. You're the maker, which means the quality of that experience sits with you. The agent explains one narrow concept, asks an original practice question, waits for the answer, and then gives feedback. It can hand back a reviewed study session. It can't book an exam, it doesn't know anyone's personal calendar, and it won't promise a passing score. Hold onto that last part, because most of today's interesting decisions sit right on that boundary.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this diagram from the user's message toward the capabilities. A channel carries the conversation in, and a trigger starts the work. With generative orchestration turned on, the agent reads your descriptions and picks what to use: knowledge, topics, tools, or several at once. Knowledge contributes reference material, topics hold the dialogue you authored, and tools run a defined operation. Instructions steer behavior, but here's the part people skip past: instructions don't grant data access and they don't guarantee a correct answer. A conversational trigger and an event trigger are different front doors, and today we're using the conversational one. Treat this as a conceptual map, not a guaranteed execution order.</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 me show you the official trial route, straight from the current Get access article on Microsoft Learn. You enter a work or school email, select Next, and follow whatever prompts that account gets. Now I won't pretend there's one universal screen sequence here, because tenant configuration and existing entitlement change what appears. I'm using an instructor-controlled account for this, and you can watch the whole route without creating anything today. And if the account's already licensed, I'll say so and explain what we're actually looking at rather than dressing it up as a fresh trial. That kind of honesty about your own demo environment is worth more than a polished lie.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the honest shape of trial access. You can author and you can test, but you can't publish. A personal email address or an organizational self-service restriction can stop sign-up cold, and the fix is the documented administrator route, not a policy you change on the fly during a class. Watch the two expiry clocks as well, because the trial license and the trial environment aren't the same thing. Read the actual notices in your own tenant instead of trusting a sixty-day number you half-remember. Save your work through the documented process before anything expires. Nothing today depends on you finishing sign-up.</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the persona and the job together, because a brief you can't test is just a wish. Ask yourself what evidence would separate a genuinely helpful answer from a confident invention, and write that down as your metric. Ours is zero invented policy answers across the boundary cases we actually run. Notice the hedge in that sentence, because it covers the cases we run and it isn't a guarantee about every future response. Save the brief before you open a single authoring control. A small topic and tool inventory pays you back later, because when something odd happens you can tell which capability got selected.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purpose on your topic map doesn't automatically need its own authored topic, and that's worth internalizing early. Overview and search can both ride on grounded answers. Practice is different, because we need the agent to stop and wait for new thinking from the learner, and that takes a controlled dialogue. Study planning goes to the tool we build in segment three. Fallback explains what the agent couldn't do and offers a next step that's actually true. We'll author the practice sequence explicitly and inspect the fallback path. Write descriptions that genuinely distinguish these purposes, because that's exactly what orchestration reads when it chooses.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we're cooking with gas. I'll create a blank agent in the documented standard experience, check the orchestration setting and the approved model, and save the instructions. Then I'll run the exam appointment prompt in a fresh conversation. Watch what happens, because the source can't know a personal fact like that, and this is our first honest boundary test. Inspect the response rather than assuming the instruction did its job. That's the habit I want you carrying out of this room. While I demo, you write one instruction, one topic purpose, and one metric. No account needed, and we aren't spending this whole segment on sign-up screens.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 two. Now we give the agent something true to say and a conversation that genuinely waits for the learner. Grounding and a real wait point are what separate a study assistant from a chatbot with opinions.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Grounding means the agent pulls evidence from a reference at response time instead of leaning on whatever the model already absorbed. We'll use the small Contoso AI concepts file so we can inspect a source we actually know. That file's course-authored teaching material grounded in Microsoft Learn, and it isn't a Microsoft publication or a complete exam syllabus. I'll ask which responsible AI principle covers telling somebody they're talking to a bot, then compare the generated answer against the passage behind it. A citation's something you inspect, not an accuracy certificate. We'll test the unsupported appointment question separately. This diagram explains retrieval conceptually, and it isn't a promise that every answer takes this path.</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Agent-level knowledge is available broadly across the conversation. A generative answers node can narrow to a selected source scope, and you'll want to inspect its Search only selected sources setting rather than guessing at it. Don't teach upload order as source priority, because there's no first-uploaded-wins rule in there. Names and descriptions are what drive selection. For this controlled build I'm turning off broad web search and ungrounded responses, and then testing. Those settings have limits and they don't guarantee every claim is correct. The guide records current size and source-count limits with the docs. One small text file is a teaching choice that keeps setup quick, not a product ceiling.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a trap worth naming out loud. A question mark inside a Message node doesn't make the agent wait for anything at all. You need a Question node with real multiple-choice options and a saved response variable. Set it to ask every time, because a practice answer has to come from the learner right now, not from something they said earlier in the conversation. The correct branch and the incorrect branches should explain genuinely different things. An unmatched answer needs an honest recovery. I'll test the first turn to prove the answer key stays hidden, then reply to check the feedback.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Automatic input filling earns its place when the conversation already tells us which focus the learner wants. It's the wrong tool for collecting a fresh quiz answer, and that distinction matters more than it looks. The proposal uses the term AutomaticTaskInput. What's documented in the authoring experience today is Dynamically fill with the best option, with a separate Should prompt user control. So we'll teach the documented controls, and I won't claim the proposal term is a current interface label or invent YAML for it. I'll show you the difference on a tool input and on a Question node, then get back to the build.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I'll author and test the practice topic while you predict what it does. Before I run the first test, ask yourself whether the assistant should reveal the answer at that point, and hold your answer. Use the seven-minute exercise from the Build guide, sketch or annotate the node sequence, and write the feedback you'd give for one wrong choice. No tenant account required. Then we'll watch the actual wait, the actual feedback, and the recovery on an unmatched answer, and compare all of that against what you predicted. The full lab's there for independent practice later, and designing on paper isn't the same as authoring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good failure response names what's missing and gives a next step that genuinely exists. We'll inspect both the authored topic's recovery and the system fallback route, because instructions alone won't change a system fallback message. And a topic named Escalate doesn't prove a single human was contacted. Use the fallback and escalation guidance so you don't promise a transfer you can't deliver. Then we'll debrief what we saw: the source passage, the wait point, the branch-specific feedback, and the limitation. Ask yourself which of those you'd have missed if you'd only watched a polished final chat transcript.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 three, and this is where it gets fun. We hand the agent one bounded tool, then spend most of our time on the harder question: where its authority stops and a human's begins.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right next step depends entirely on the job in front of the agent. Use these four requests to separate generating a supported answer from collecting information and from running an operation. Our tool returns a fixed, reviewed session, which gives us an unambiguous capability boundary to look at, and it doesn't write to any external system. Now ask yourself why a booking request belongs outside this agent's authority, because that's the real lesson on this slide. I'd rather keep the tool demo focused on input, execution, and evidence than bolt on a connector just to make the thing look impressive.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input's one Text value: responsible-ai, workloads, or foundry. Those are Contoso teaching shortcuts, and I want to be precise here, because they aren't the official AI-901 skill area names. The outputs are status and plan, both Text. A supported focus returns ok plus a reviewed thirty-minute session. An unsupported value like quantum returns unsupported and a reminder of the choices. A runtime failure's a different animal from an unsupported value, and we'll test those separately. The flow never books, mails, or updates a record. This becomes a real tool pattern once the flow's built and bound, because the fixture on its own isn't a deployed flow.</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Let's get the vocabulary straight, because this trips people up constantly. The tool is the capability the agent can call. The agent flow implements that capability, and the designer's actions are steps inside it. Follow the native recipe: when an agent calls the flow, initialize String variables for status and plan at the top level, evaluate three conditions, and respond exactly once after the branches. Keep the default unsupported response unless a supported focus matches. That native response is synchronous, so it has to meet the documented timeout. We don't need loops, arrays, or a hosted API to teach this first boundary.</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my favorite few minutes of the whole morning. I'll run the direct flow test first, then request the responsible-ai session through the agent. Then we inspect the actual input and the returned status and plan in the activity view. Count the allocation with me: ten minutes reading, ten minutes working an example, five minutes recalling without notes, and five minutes checking against Microsoft Learn. We'll test unsupported input and tool unavailability as two separate conditions. These slide values describe the expected contract, and they aren't results we observed while writing the course. If I play a rehearsal recording, I'll tell you it's a recording first.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HTTP tool calls one defined web operation. Model Context Protocol gives you a way to expose discoverable tools and resources through a server, and the reviewed Copilot Studio integration for it requires generative orchestration. Neither mechanism grants permission just by being connected, and that's the sentence I'd underline twice. For Contoso, a future approved learning catalog might expose one web operation, or a server with several described tools. We aren't building either integration in this first tool lesson. What you need to explain is which boundary each one introduces and which identity does the calling. Keep authentication, endpoint restrictions, and data policy inside that decision.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you might be thinking, hang on Tim, everybody's shipping multi-agent systems right now, so why are we staying with one? Because you add specialization when another agent has a genuinely distinct job or a different owner, not because multi-agent sounds impressive on a slide. A child agent's organized inside a parent. A connected agent can be managed separately. Agent-to-agent describes an interoperability protocol rather than a third ownership model. Current Microsoft guidance also lists connections involving Microsoft Foundry, Fabric, and the Microsoft 365 Agents SDK, and their prerequisites differ. Those are extension awareness today, not working course integrations. So what new responsibility would justify a second agent?</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Don't confuse a friendly sentence with a completed business operation. That's the whole slide, honestly. A referral tells the user where to go. Submitting a request requires a real authorized connector and a returned receipt proving it went through. A live transfer requires a supported integration and an accepted handoff on the other end. Our course agent only offers a mentor referral, and it says so plainly. The same logic applies to authentication, because instructions can't grant permissions. Check the execution identity, the connector policy, and the allowed data before you add a tool or an external model, and use synthetic content for the exercise.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minutes, everybody, on the same Contoso contract. No account and no flow attachment needed. Give me the input, the two output fields, and one request the tool should refuse as unsupported. Then I'll use the prepared agent and flow to inspect real execution evidence, and we'll revisit the failures together. Keep your predictions labeled as predictions until we've actually observed something, because that discipline is most of what separates a working agent from a demo that fooled everybody. The independent tool lab stays available after class for anyone who wants to build it themselves.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 four. Everything so far was building. This is the part that decides whether anyone else should be allowed to use the thing, and we'll answer it with evidence rather than enthusiasm.</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from prepared native sets so we spend our time interpreting results instead of typing test cases. AI901-live-three uses Compare meaning across E04, E05, and E08, each with an expected response. AI901-tool-one uses Tool use only for E08 and selects the actual GetStudySession capability. Remove the default General quality method when you're building deliberately focused sets like these. Methods get configured on the set, so leaving expected tools blank on the other two cases produces Invalid results for that method rather than a clean skip. The eighty-percent meaning threshold's our course choice, not a Microsoft recommendation. And single-response grading never simulates answering the quiz.</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Run the same prepared set before your change and after it. One change, not five. Open a failed case, read the expected response against the actual one, then inspect the activity map for the knowledge passage or the tool call behind it. A generated grading rationale can be wrong, so verify the underlying evidence rather than trusting the score on its face. Compare the same set, not different questions that happen to produce a friendlier number. If you change the agent model, record the approved configuration and rerun the same cases. Export genuine results with the documented control, and never pass authored expectations off as an executed report.</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on this slide is synthetic discussion data rather than tenant telemetry, and I'll say that again before we leave it. In the guide's ten-session example, nine sessions didn't escalate, but only six actually resolved. Three were abandoned and one escalated. So a ninety-percent containment proxy sits right next to a sixty-percent resolution rate, and that gap is the entire lesson. The survey describes its four respondents, not your user base. Test-panel traffic's excluded from Monitor, and channel data can arrive late. Read resolution, abandonment, transcripts, feedback, and response time together, because any one of them alone will mislead you.</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Use the Power Platform framework as a thinking tool rather than reciting five labels back at people. Reliability means a useful recovery when the tool's unavailable. Security means an approved identity and permitted data. Operational excellence means repeatable tests and an owner who can actually respond when something breaks. Performance efficiency means measuring response time and unnecessary tool work instead of assuming a longer answer's a better one. Experience optimization means the learner gets useful feedback, understands the limitation, and can reach a real next step. These are course examples of the framework applied, not a Microsoft certification of our agent.</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Publishing makes the configured version available to connected channels. It doesn't by itself establish who can use the thing, and that distinction catches people out constantly. I'll use an entitled instructor environment, a prepared scoped Teams channel, and a fresh conversation, then run one publish operation and two short checks, with the second-user access check prepared separately. I won't ask trial-only learners to publish, because current licensing guidance permits creation and testing but not publication. Environment separation, data policy, and an approved audience all belong in rollout planning. An installation link isn't evidence that anyone was actually granted access.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Teams is our live channel today. SharePoint and Microsoft 365 Copilot are scoped comparisons, and each route carries its own setup, permissions, and availability. For SharePoint the maker needs the documented site access and deployment prerequisites. For Microsoft 365 Copilot, inspect the channel configuration and the approved audience rather than assuming your Teams setup lights up every surface. Test the fresh conversation behavior with the actual intended user. And here's a hard line from me: never use a public channel as a workaround for a private pilot that got blocked. That isn't a shortcut, that's a governance incident waiting to happen.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Protect seven minutes for the Operate worksheet. A good candidate might be a small internal enablement pilot with approved content and a named owner. I want you to name what would stop the pilot, not just what would start it, because that's the part everybody skips. Use the synthetic case if you don't have real observations, and label the evidence for exactly what it is. A worksheet's evidence of your reasoning, and it isn't evidence that publishing or evaluation executed. Then I'd like one of you to challenge somebody else's pilot boundary using the five concerns.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Transfer the architecture, not the exam subject. A help-desk agent could ground in approved support articles, use a topic for triage, and call one approved lookup. An onboarding assistant could ground in approved guidance and refer a sensitive case to a person. Every new scenario needs its own access review and its own evaluation cases. For follow-up, inspect a genuine topic capture in the native code editor or in VS Code. That YAML represents authored structure, and it isn't a magic portable deployment. The export guide walks the procedure, and the sanitized capture has to come from the teaching tenant before anybody distributes it.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Let's bring it home with the four outcomes. You planned a brief with a testable boundary. You grounded answers in a real source and built a topic that genuinely waits. You gave the agent a bounded tool and drew a human boundary around it. And you produced test evidence plus a pilot decision you can defend in a room full of stakeholders. Your brief, your prediction, your tool decision, and your pilot decision are real artifacts even without a tenant. A blocked operation stays unrun, and a prediction never counts as a passing test. I hope you found this session helpful, and I'll see you next time.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 close every course with a short list of laws, because principles survive a product rename and screenshots don't. These six are the whole morning compressed. If you forget every click I showed you, keep these. Number one is the one I'd tattoo on the inside of your eyelids: a fluent answer isn't proof that a tool ran, and the only cure is to go and look at the execution record yourself.</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That's our four hours. Thank you for spending your morning with me, and please do fill in the course evaluation, because O'Reilly reads every one and it genuinely shapes what I get to teach next. All the materials stay in the repo, so nothing you saw today disappears when this window closes. I hope you found this session helpful, and I'll see you next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 Id="rId3"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Blue Option 1">
  <p:cSld name="TITLE_2">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pic>
        <p:nvPicPr>
          <p:cNvPr id="14" name="Google Shape;14;p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6" y="342900"/>
            <a:ext cx="1290750" cy="245250"/>
          </a:xfrm>
          <a:prstGeom prst="rect">
            <a:avLst/>
          </a:prstGeom>
          <a:noFill/>
          <a:ln>
            <a:noFill/>
          </a:ln>
        </p:spPr>
      </p:pic>
      <p:sp>
        <p:nvSpPr>
          <p:cNvPr id="15" name="Google Shape;15;p3"/>
          <p:cNvSpPr txBox="1">
            <a:spLocks noGrp="1"/>
          </p:cNvSpPr>
          <p:nvPr>
            <p:ph type="title"/>
          </p:nvPr>
        </p:nvSpPr>
        <p:spPr>
          <a:xfrm>
            <a:off x="506875" y="1200300"/>
            <a:ext cx="2888400" cy="1845000"/>
          </a:xfrm>
          <a:prstGeom prst="rect">
            <a:avLst/>
          </a:prstGeom>
          <a:noFill/>
          <a:ln>
            <a:noFill/>
          </a:ln>
        </p:spPr>
        <p:txBody>
          <a:bodyPr spcFirstLastPara="1" wrap="square" lIns="0" tIns="0" rIns="0" bIns="0" anchor="t" anchorCtr="0">
            <a:noAutofit/>
          </a:bodyPr>
          <a:lstStyle>
            <a:lvl1pPr lvl="0"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1pPr>
            <a:lvl2pPr lvl="1"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2pPr>
            <a:lvl3pPr lvl="2"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3pPr>
            <a:lvl4pPr lvl="3"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4pPr>
            <a:lvl5pPr lvl="4"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5pPr>
            <a:lvl6pPr lvl="5"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6pPr>
            <a:lvl7pPr lvl="6"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7pPr>
            <a:lvl8pPr lvl="7"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8pPr>
            <a:lvl9pPr lvl="8"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9pPr>
          </a:lstStyle>
          <a:p>
            <a:endParaRPr/>
          </a:p>
        </p:txBody>
      </p:sp>
      <p:sp>
        <p:nvSpPr>
          <p:cNvPr id="16" name="Google Shape;16;p3"/>
          <p:cNvSpPr txBox="1">
            <a:spLocks noGrp="1"/>
          </p:cNvSpPr>
          <p:nvPr>
            <p:ph type="subTitle" idx="1"/>
          </p:nvPr>
        </p:nvSpPr>
        <p:spPr>
          <a:xfrm>
            <a:off x="506875" y="3362325"/>
            <a:ext cx="27033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Blue Option 2">
  <p:cSld name="TITLE_1_1">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sp>
        <p:nvSpPr>
          <p:cNvPr id="24" name="Google Shape;24;p5"/>
          <p:cNvSpPr txBox="1">
            <a:spLocks noGrp="1"/>
          </p:cNvSpPr>
          <p:nvPr>
            <p:ph type="subTitle" idx="1"/>
          </p:nvPr>
        </p:nvSpPr>
        <p:spPr>
          <a:xfrm>
            <a:off x="506875" y="3362325"/>
            <a:ext cx="27390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9pPr>
          </a:lstStyle>
          <a:p>
            <a:endParaRPr/>
          </a:p>
        </p:txBody>
      </p:sp>
      <p:sp>
        <p:nvSpPr>
          <p:cNvPr id="25" name="Google Shape;25;p5"/>
          <p:cNvSpPr txBox="1">
            <a:spLocks noGrp="1"/>
          </p:cNvSpPr>
          <p:nvPr>
            <p:ph type="title"/>
          </p:nvPr>
        </p:nvSpPr>
        <p:spPr>
          <a:xfrm>
            <a:off x="506875" y="1878975"/>
            <a:ext cx="2703300" cy="12174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pic>
        <p:nvPicPr>
          <p:cNvPr id="26" name="Google Shape;26;p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5" y="1200300"/>
            <a:ext cx="2810625" cy="5340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Option 1">
  <p:cSld name="CUSTOM">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29" name="Google Shape;29;p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a:spLocks noGrp="1"/>
          </p:cNvSpPr>
          <p:nvPr>
            <p:ph type="body" idx="1"/>
          </p:nvPr>
        </p:nvSpPr>
        <p:spPr>
          <a:xfrm>
            <a:off x="506875" y="1878975"/>
            <a:ext cx="82326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1" name="Google Shape;31;p6"/>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2" name="Google Shape;32;p6"/>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33" name="Google Shape;33;p6"/>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Option 2">
  <p:cSld name="CUSTOM_1">
    <p:spTree>
      <p:nvGrpSpPr>
        <p:cNvPr id="1" name="Shape 34"/>
        <p:cNvGrpSpPr/>
        <p:nvPr/>
      </p:nvGrpSpPr>
      <p:grpSpPr>
        <a:xfrm>
          <a:off x="0" y="0"/>
          <a:ext cx="0" cy="0"/>
          <a:chOff x="0" y="0"/>
          <a:chExt cx="0" cy="0"/>
        </a:xfrm>
      </p:grpSpPr>
      <p:sp>
        <p:nvSpPr>
          <p:cNvPr id="35" name="Google Shape;35;p7"/>
          <p:cNvSpPr txBox="1">
            <a:spLocks noGrp="1"/>
          </p:cNvSpPr>
          <p:nvPr>
            <p:ph type="body" idx="1"/>
          </p:nvPr>
        </p:nvSpPr>
        <p:spPr>
          <a:xfrm>
            <a:off x="5068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6" name="Google Shape;36;p7"/>
          <p:cNvSpPr txBox="1">
            <a:spLocks noGrp="1"/>
          </p:cNvSpPr>
          <p:nvPr>
            <p:ph type="body" idx="2"/>
          </p:nvPr>
        </p:nvSpPr>
        <p:spPr>
          <a:xfrm>
            <a:off x="32459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7" name="Google Shape;37;p7"/>
          <p:cNvSpPr txBox="1">
            <a:spLocks noGrp="1"/>
          </p:cNvSpPr>
          <p:nvPr>
            <p:ph type="body" idx="3"/>
          </p:nvPr>
        </p:nvSpPr>
        <p:spPr>
          <a:xfrm>
            <a:off x="5985000"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8" name="Google Shape;38;p7"/>
          <p:cNvSpPr txBox="1">
            <a:spLocks noGrp="1"/>
          </p:cNvSpPr>
          <p:nvPr>
            <p:ph type="body" idx="4"/>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9" name="Google Shape;39;p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40" name="Google Shape;40;p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42" name="Google Shape;42;p7"/>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Slide">
  <p:cSld name="CUSTOM_1_1">
    <p:spTree>
      <p:nvGrpSpPr>
        <p:cNvPr id="1" name="Shape 43"/>
        <p:cNvGrpSpPr/>
        <p:nvPr/>
      </p:nvGrpSpPr>
      <p:grpSpPr>
        <a:xfrm>
          <a:off x="0" y="0"/>
          <a:ext cx="0" cy="0"/>
          <a:chOff x="0" y="0"/>
          <a:chExt cx="0" cy="0"/>
        </a:xfrm>
      </p:grpSpPr>
      <p:sp>
        <p:nvSpPr>
          <p:cNvPr id="44" name="Google Shape;44;p8"/>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ptop Option">
  <p:cSld name="CUSTOM_1_1_1">
    <p:spTree>
      <p:nvGrpSpPr>
        <p:cNvPr id="1" name="Shape 45"/>
        <p:cNvGrpSpPr/>
        <p:nvPr/>
      </p:nvGrpSpPr>
      <p:grpSpPr>
        <a:xfrm>
          <a:off x="0" y="0"/>
          <a:ext cx="0" cy="0"/>
          <a:chOff x="0" y="0"/>
          <a:chExt cx="0" cy="0"/>
        </a:xfrm>
      </p:grpSpPr>
      <p:pic>
        <p:nvPicPr>
          <p:cNvPr id="46" name="Google Shape;46;p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007284" y="1878975"/>
            <a:ext cx="4141616" cy="2924549"/>
          </a:xfrm>
          <a:prstGeom prst="rect">
            <a:avLst/>
          </a:prstGeom>
          <a:noFill/>
          <a:ln>
            <a:noFill/>
          </a:ln>
        </p:spPr>
      </p:pic>
      <p:sp>
        <p:nvSpPr>
          <p:cNvPr id="47" name="Google Shape;47;p9"/>
          <p:cNvSpPr/>
          <p:nvPr/>
        </p:nvSpPr>
        <p:spPr>
          <a:xfrm>
            <a:off x="5636925" y="2027450"/>
            <a:ext cx="3507300" cy="2447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a:p>
        </p:txBody>
      </p:sp>
      <p:sp>
        <p:nvSpPr>
          <p:cNvPr id="48" name="Google Shape;48;p9"/>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49" name="Google Shape;49;p9"/>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0" name="Google Shape;50;p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51" name="Google Shape;51;p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53" name="Google Shape;53;p9"/>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Option 2">
  <p:cSld name="CUSTOM_1_1_1_1">
    <p:spTree>
      <p:nvGrpSpPr>
        <p:cNvPr id="1" name="Shape 54"/>
        <p:cNvGrpSpPr/>
        <p:nvPr/>
      </p:nvGrpSpPr>
      <p:grpSpPr>
        <a:xfrm>
          <a:off x="0" y="0"/>
          <a:ext cx="0" cy="0"/>
          <a:chOff x="0" y="0"/>
          <a:chExt cx="0" cy="0"/>
        </a:xfrm>
      </p:grpSpPr>
      <p:pic>
        <p:nvPicPr>
          <p:cNvPr id="55" name="Google Shape;55;p10"/>
          <p:cNvPicPr preferRelativeResize="0"/>
          <p:nvPr/>
        </p:nvPicPr>
        <p:blipFill rotWithShape="1">
          <a:blip r:embed="rId2" cstate="screen">
            <a:alphaModFix/>
            <a:extLst>
              <a:ext uri="{28A0092B-C50C-407E-A947-70E740481C1C}">
                <a14:useLocalDpi xmlns:a14="http://schemas.microsoft.com/office/drawing/2010/main"/>
              </a:ext>
            </a:extLst>
          </a:blip>
          <a:srcRect t="-7227"/>
          <a:stretch/>
        </p:blipFill>
        <p:spPr>
          <a:xfrm>
            <a:off x="5753100" y="1743075"/>
            <a:ext cx="3390900" cy="3400500"/>
          </a:xfrm>
          <a:prstGeom prst="rect">
            <a:avLst/>
          </a:prstGeom>
          <a:noFill/>
          <a:ln>
            <a:noFill/>
          </a:ln>
        </p:spPr>
      </p:pic>
      <p:sp>
        <p:nvSpPr>
          <p:cNvPr id="56" name="Google Shape;56;p1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0"/>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58" name="Google Shape;58;p10"/>
          <p:cNvSpPr txBox="1">
            <a:spLocks noGrp="1"/>
          </p:cNvSpPr>
          <p:nvPr>
            <p:ph type="body" idx="2"/>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9" name="Google Shape;59;p1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0" name="Google Shape;60;p1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Option 3">
  <p:cSld name="CUSTOM_1_1_1_1_2">
    <p:spTree>
      <p:nvGrpSpPr>
        <p:cNvPr id="1" name="Shape 62"/>
        <p:cNvGrpSpPr/>
        <p:nvPr/>
      </p:nvGrpSpPr>
      <p:grpSpPr>
        <a:xfrm>
          <a:off x="0" y="0"/>
          <a:ext cx="0" cy="0"/>
          <a:chOff x="0" y="0"/>
          <a:chExt cx="0" cy="0"/>
        </a:xfrm>
      </p:grpSpPr>
      <p:pic>
        <p:nvPicPr>
          <p:cNvPr id="63" name="Google Shape;63;p1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7000"/>
            <a:ext cx="3390900" cy="2796600"/>
          </a:xfrm>
          <a:prstGeom prst="rect">
            <a:avLst/>
          </a:prstGeom>
          <a:noFill/>
          <a:ln>
            <a:noFill/>
          </a:ln>
        </p:spPr>
      </p:pic>
      <p:sp>
        <p:nvSpPr>
          <p:cNvPr id="64" name="Google Shape;64;p1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66" name="Google Shape;66;p1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67" name="Google Shape;67;p1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8" name="Google Shape;68;p1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Option 4">
  <p:cSld name="CUSTOM_1_1_1_1_2_1">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72" name="Google Shape;72;p1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74" name="Google Shape;74;p1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75" name="Google Shape;75;p1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76" name="Google Shape;76;p1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Option 5">
  <p:cSld name="CUSTOM_1_1_1_1_2_1_1">
    <p:spTree>
      <p:nvGrpSpPr>
        <p:cNvPr id="1" name="Shape 78"/>
        <p:cNvGrpSpPr/>
        <p:nvPr/>
      </p:nvGrpSpPr>
      <p:grpSpPr>
        <a:xfrm>
          <a:off x="0" y="0"/>
          <a:ext cx="0" cy="0"/>
          <a:chOff x="0" y="0"/>
          <a:chExt cx="0" cy="0"/>
        </a:xfrm>
      </p:grpSpPr>
      <p:pic>
        <p:nvPicPr>
          <p:cNvPr id="79" name="Google Shape;79;p1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123925"/>
            <a:ext cx="3390900" cy="3019800"/>
          </a:xfrm>
          <a:prstGeom prst="rect">
            <a:avLst/>
          </a:prstGeom>
          <a:noFill/>
          <a:ln>
            <a:noFill/>
          </a:ln>
        </p:spPr>
      </p:pic>
      <p:sp>
        <p:nvSpPr>
          <p:cNvPr id="80" name="Google Shape;80;p1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82" name="Google Shape;82;p1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83" name="Google Shape;83;p1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84" name="Google Shape;84;p1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Option 6">
  <p:cSld name="CUSTOM_1_1_1_1_2_1_1_1">
    <p:spTree>
      <p:nvGrpSpPr>
        <p:cNvPr id="1" name="Shape 86"/>
        <p:cNvGrpSpPr/>
        <p:nvPr/>
      </p:nvGrpSpPr>
      <p:grpSpPr>
        <a:xfrm>
          <a:off x="0" y="0"/>
          <a:ext cx="0" cy="0"/>
          <a:chOff x="0" y="0"/>
          <a:chExt cx="0" cy="0"/>
        </a:xfrm>
      </p:grpSpPr>
      <p:pic>
        <p:nvPicPr>
          <p:cNvPr id="87" name="Google Shape;87;p1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88" name="Google Shape;88;p14"/>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0" name="Google Shape;90;p14"/>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1" name="Google Shape;91;p1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92" name="Google Shape;92;p1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 Option 7">
  <p:cSld name="CUSTOM_1_1_1_1_2_1_1_1_1">
    <p:spTree>
      <p:nvGrpSpPr>
        <p:cNvPr id="1" name="Shape 94"/>
        <p:cNvGrpSpPr/>
        <p:nvPr/>
      </p:nvGrpSpPr>
      <p:grpSpPr>
        <a:xfrm>
          <a:off x="0" y="0"/>
          <a:ext cx="0" cy="0"/>
          <a:chOff x="0" y="0"/>
          <a:chExt cx="0" cy="0"/>
        </a:xfrm>
      </p:grpSpPr>
      <p:pic>
        <p:nvPicPr>
          <p:cNvPr id="95" name="Google Shape;95;p1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38200"/>
            <a:ext cx="3390900" cy="2905500"/>
          </a:xfrm>
          <a:prstGeom prst="rect">
            <a:avLst/>
          </a:prstGeom>
          <a:noFill/>
          <a:ln>
            <a:noFill/>
          </a:ln>
        </p:spPr>
      </p:pic>
      <p:sp>
        <p:nvSpPr>
          <p:cNvPr id="96" name="Google Shape;96;p15"/>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8" name="Google Shape;98;p15"/>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9" name="Google Shape;99;p1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0" name="Google Shape;100;p1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 Option 8">
  <p:cSld name="CUSTOM_1_1_1_1_2_1_1_1_1_1">
    <p:spTree>
      <p:nvGrpSpPr>
        <p:cNvPr id="1" name="Shape 102"/>
        <p:cNvGrpSpPr/>
        <p:nvPr/>
      </p:nvGrpSpPr>
      <p:grpSpPr>
        <a:xfrm>
          <a:off x="0" y="0"/>
          <a:ext cx="0" cy="0"/>
          <a:chOff x="0" y="0"/>
          <a:chExt cx="0" cy="0"/>
        </a:xfrm>
      </p:grpSpPr>
      <p:pic>
        <p:nvPicPr>
          <p:cNvPr id="103" name="Google Shape;103;p1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78200"/>
            <a:ext cx="3390900" cy="2865600"/>
          </a:xfrm>
          <a:prstGeom prst="rect">
            <a:avLst/>
          </a:prstGeom>
          <a:noFill/>
          <a:ln>
            <a:noFill/>
          </a:ln>
        </p:spPr>
      </p:pic>
      <p:sp>
        <p:nvSpPr>
          <p:cNvPr id="104" name="Google Shape;104;p16"/>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06" name="Google Shape;106;p16"/>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07" name="Google Shape;107;p1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8" name="Google Shape;108;p1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 Option 9">
  <p:cSld name="CUSTOM_1_1_1_1_2_1_1_1_1_1_1">
    <p:spTree>
      <p:nvGrpSpPr>
        <p:cNvPr id="1" name="Shape 110"/>
        <p:cNvGrpSpPr/>
        <p:nvPr/>
      </p:nvGrpSpPr>
      <p:grpSpPr>
        <a:xfrm>
          <a:off x="0" y="0"/>
          <a:ext cx="0" cy="0"/>
          <a:chOff x="0" y="0"/>
          <a:chExt cx="0" cy="0"/>
        </a:xfrm>
      </p:grpSpPr>
      <p:pic>
        <p:nvPicPr>
          <p:cNvPr id="111" name="Google Shape;111;p1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1900"/>
            <a:ext cx="3390900" cy="2801700"/>
          </a:xfrm>
          <a:prstGeom prst="rect">
            <a:avLst/>
          </a:prstGeom>
          <a:noFill/>
          <a:ln>
            <a:noFill/>
          </a:ln>
        </p:spPr>
      </p:pic>
      <p:sp>
        <p:nvSpPr>
          <p:cNvPr id="112" name="Google Shape;112;p17"/>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14" name="Google Shape;114;p17"/>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15" name="Google Shape;115;p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16" name="Google Shape;116;p1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Option 10">
  <p:cSld name="CUSTOM_1_1_1_1_2_1_1_1_1_1_1_1">
    <p:spTree>
      <p:nvGrpSpPr>
        <p:cNvPr id="1" name="Shape 118"/>
        <p:cNvGrpSpPr/>
        <p:nvPr/>
      </p:nvGrpSpPr>
      <p:grpSpPr>
        <a:xfrm>
          <a:off x="0" y="0"/>
          <a:ext cx="0" cy="0"/>
          <a:chOff x="0" y="0"/>
          <a:chExt cx="0" cy="0"/>
        </a:xfrm>
      </p:grpSpPr>
      <p:pic>
        <p:nvPicPr>
          <p:cNvPr id="119" name="Google Shape;119;p1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33025"/>
            <a:ext cx="3390900" cy="2710500"/>
          </a:xfrm>
          <a:prstGeom prst="rect">
            <a:avLst/>
          </a:prstGeom>
          <a:noFill/>
          <a:ln>
            <a:noFill/>
          </a:ln>
        </p:spPr>
      </p:pic>
      <p:sp>
        <p:nvSpPr>
          <p:cNvPr id="120" name="Google Shape;120;p18"/>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8"/>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22" name="Google Shape;122;p18"/>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23" name="Google Shape;123;p1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24" name="Google Shape;124;p18"/>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8"/>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 Option 11">
  <p:cSld name="CUSTOM_1_1_1_1_2_1_1_1_1_1_1_1_1">
    <p:spTree>
      <p:nvGrpSpPr>
        <p:cNvPr id="1" name="Shape 126"/>
        <p:cNvGrpSpPr/>
        <p:nvPr/>
      </p:nvGrpSpPr>
      <p:grpSpPr>
        <a:xfrm>
          <a:off x="0" y="0"/>
          <a:ext cx="0" cy="0"/>
          <a:chOff x="0" y="0"/>
          <a:chExt cx="0" cy="0"/>
        </a:xfrm>
      </p:grpSpPr>
      <p:pic>
        <p:nvPicPr>
          <p:cNvPr id="127" name="Google Shape;127;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807675"/>
            <a:ext cx="3390900" cy="3336000"/>
          </a:xfrm>
          <a:prstGeom prst="rect">
            <a:avLst/>
          </a:prstGeom>
          <a:noFill/>
          <a:ln>
            <a:noFill/>
          </a:ln>
        </p:spPr>
      </p:pic>
      <p:sp>
        <p:nvSpPr>
          <p:cNvPr id="128" name="Google Shape;128;p19"/>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9"/>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0" name="Google Shape;130;p19"/>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1" name="Google Shape;131;p1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32" name="Google Shape;132;p1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 Option 12">
  <p:cSld name="CUSTOM_1_1_1_1_2_1_1_1_1_1_1_1_1_1">
    <p:spTree>
      <p:nvGrpSpPr>
        <p:cNvPr id="1" name="Shape 134"/>
        <p:cNvGrpSpPr/>
        <p:nvPr/>
      </p:nvGrpSpPr>
      <p:grpSpPr>
        <a:xfrm>
          <a:off x="0" y="0"/>
          <a:ext cx="0" cy="0"/>
          <a:chOff x="0" y="0"/>
          <a:chExt cx="0" cy="0"/>
        </a:xfrm>
      </p:grpSpPr>
      <p:pic>
        <p:nvPicPr>
          <p:cNvPr id="135" name="Google Shape;135;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911750"/>
            <a:ext cx="3390900" cy="3231900"/>
          </a:xfrm>
          <a:prstGeom prst="rect">
            <a:avLst/>
          </a:prstGeom>
          <a:noFill/>
          <a:ln>
            <a:noFill/>
          </a:ln>
        </p:spPr>
      </p:pic>
      <p:sp>
        <p:nvSpPr>
          <p:cNvPr id="136" name="Google Shape;136;p2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8" name="Google Shape;138;p20"/>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9" name="Google Shape;139;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0" name="Google Shape;140;p2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 Option 13">
  <p:cSld name="CUSTOM_1_1_1_1_2_1_1_1_1_1_1_1_1_1_1">
    <p:spTree>
      <p:nvGrpSpPr>
        <p:cNvPr id="1" name="Shape 142"/>
        <p:cNvGrpSpPr/>
        <p:nvPr/>
      </p:nvGrpSpPr>
      <p:grpSpPr>
        <a:xfrm>
          <a:off x="0" y="0"/>
          <a:ext cx="0" cy="0"/>
          <a:chOff x="0" y="0"/>
          <a:chExt cx="0" cy="0"/>
        </a:xfrm>
      </p:grpSpPr>
      <p:pic>
        <p:nvPicPr>
          <p:cNvPr id="143" name="Google Shape;143;p2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69075"/>
            <a:ext cx="3390900" cy="2674500"/>
          </a:xfrm>
          <a:prstGeom prst="rect">
            <a:avLst/>
          </a:prstGeom>
          <a:noFill/>
          <a:ln>
            <a:noFill/>
          </a:ln>
        </p:spPr>
      </p:pic>
      <p:sp>
        <p:nvSpPr>
          <p:cNvPr id="144" name="Google Shape;144;p2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46" name="Google Shape;146;p2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47" name="Google Shape;147;p2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8" name="Google Shape;148;p2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Option 14">
  <p:cSld name="CUSTOM_1_1_1_1_2_1_1_1_1_1_1_1_1_1_1_1">
    <p:spTree>
      <p:nvGrpSpPr>
        <p:cNvPr id="1" name="Shape 150"/>
        <p:cNvGrpSpPr/>
        <p:nvPr/>
      </p:nvGrpSpPr>
      <p:grpSpPr>
        <a:xfrm>
          <a:off x="0" y="0"/>
          <a:ext cx="0" cy="0"/>
          <a:chOff x="0" y="0"/>
          <a:chExt cx="0" cy="0"/>
        </a:xfrm>
      </p:grpSpPr>
      <p:pic>
        <p:nvPicPr>
          <p:cNvPr id="151" name="Google Shape;151;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28625"/>
            <a:ext cx="3390900" cy="2715000"/>
          </a:xfrm>
          <a:prstGeom prst="rect">
            <a:avLst/>
          </a:prstGeom>
          <a:noFill/>
          <a:ln>
            <a:noFill/>
          </a:ln>
        </p:spPr>
      </p:pic>
      <p:sp>
        <p:nvSpPr>
          <p:cNvPr id="152" name="Google Shape;152;p2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54" name="Google Shape;154;p2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55" name="Google Shape;155;p2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56" name="Google Shape;156;p2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ption 2_Placeholder">
  <p:cSld name="CUSTOM_1_1_1_1_1">
    <p:spTree>
      <p:nvGrpSpPr>
        <p:cNvPr id="1" name="Shape 158"/>
        <p:cNvGrpSpPr/>
        <p:nvPr/>
      </p:nvGrpSpPr>
      <p:grpSpPr>
        <a:xfrm>
          <a:off x="0" y="0"/>
          <a:ext cx="0" cy="0"/>
          <a:chOff x="0" y="0"/>
          <a:chExt cx="0" cy="0"/>
        </a:xfrm>
      </p:grpSpPr>
      <p:sp>
        <p:nvSpPr>
          <p:cNvPr id="159" name="Google Shape;159;p23"/>
          <p:cNvSpPr/>
          <p:nvPr/>
        </p:nvSpPr>
        <p:spPr>
          <a:xfrm>
            <a:off x="5898025" y="2544550"/>
            <a:ext cx="3246000" cy="25989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sz="1200">
              <a:solidFill>
                <a:schemeClr val="lt2"/>
              </a:solidFill>
            </a:endParaRPr>
          </a:p>
        </p:txBody>
      </p:sp>
      <p:sp>
        <p:nvSpPr>
          <p:cNvPr id="160" name="Google Shape;160;p2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txBox="1">
            <a:spLocks noGrp="1"/>
          </p:cNvSpPr>
          <p:nvPr>
            <p:ph type="body" idx="1"/>
          </p:nvPr>
        </p:nvSpPr>
        <p:spPr>
          <a:xfrm>
            <a:off x="506875" y="4800600"/>
            <a:ext cx="4998600" cy="3426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62" name="Google Shape;162;p2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63" name="Google Shape;163;p23"/>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64" name="Google Shape;164;p2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ogo Option 1">
  <p:cSld name="CUSTOM_1_1_1_1_1_1">
    <p:spTree>
      <p:nvGrpSpPr>
        <p:cNvPr id="1" name="Shape 166"/>
        <p:cNvGrpSpPr/>
        <p:nvPr/>
      </p:nvGrpSpPr>
      <p:grpSpPr>
        <a:xfrm>
          <a:off x="0" y="0"/>
          <a:ext cx="0" cy="0"/>
          <a:chOff x="0" y="0"/>
          <a:chExt cx="0" cy="0"/>
        </a:xfrm>
      </p:grpSpPr>
      <p:sp>
        <p:nvSpPr>
          <p:cNvPr id="167" name="Google Shape;167;p24"/>
          <p:cNvSpPr txBox="1">
            <a:spLocks noGrp="1"/>
          </p:cNvSpPr>
          <p:nvPr>
            <p:ph type="body" idx="1"/>
          </p:nvPr>
        </p:nvSpPr>
        <p:spPr>
          <a:xfrm>
            <a:off x="4615525" y="1878975"/>
            <a:ext cx="4021500" cy="2921700"/>
          </a:xfrm>
          <a:prstGeom prst="rect">
            <a:avLst/>
          </a:prstGeom>
          <a:noFill/>
          <a:ln>
            <a:noFill/>
          </a:ln>
        </p:spPr>
        <p:txBody>
          <a:bodyPr spcFirstLastPara="1" wrap="square" lIns="91425" tIns="0" rIns="0"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cxnSp>
        <p:nvCxnSpPr>
          <p:cNvPr id="168" name="Google Shape;168;p24"/>
          <p:cNvCxnSpPr/>
          <p:nvPr/>
        </p:nvCxnSpPr>
        <p:spPr>
          <a:xfrm>
            <a:off x="4528475" y="1884100"/>
            <a:ext cx="0" cy="2918400"/>
          </a:xfrm>
          <a:prstGeom prst="straightConnector1">
            <a:avLst/>
          </a:prstGeom>
          <a:noFill/>
          <a:ln w="9525" cap="flat" cmpd="sng">
            <a:solidFill>
              <a:schemeClr val="dk2"/>
            </a:solidFill>
            <a:prstDash val="solid"/>
            <a:round/>
            <a:headEnd type="none" w="med" len="med"/>
            <a:tailEnd type="none" w="med" len="med"/>
          </a:ln>
        </p:spPr>
      </p:cxnSp>
      <p:sp>
        <p:nvSpPr>
          <p:cNvPr id="169" name="Google Shape;169;p24"/>
          <p:cNvSpPr txBox="1">
            <a:spLocks noGrp="1"/>
          </p:cNvSpPr>
          <p:nvPr>
            <p:ph type="body" idx="2"/>
          </p:nvPr>
        </p:nvSpPr>
        <p:spPr>
          <a:xfrm>
            <a:off x="506875" y="4800600"/>
            <a:ext cx="81300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170" name="Google Shape;170;p24"/>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1" name="Google Shape;171;p2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3" name="Google Shape;173;p24"/>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_1_1_1_1_1_1_1">
    <p:spTree>
      <p:nvGrpSpPr>
        <p:cNvPr id="1" name="Shape 174"/>
        <p:cNvGrpSpPr/>
        <p:nvPr/>
      </p:nvGrpSpPr>
      <p:grpSpPr>
        <a:xfrm>
          <a:off x="0" y="0"/>
          <a:ext cx="0" cy="0"/>
          <a:chOff x="0" y="0"/>
          <a:chExt cx="0" cy="0"/>
        </a:xfrm>
      </p:grpSpPr>
      <p:sp>
        <p:nvSpPr>
          <p:cNvPr id="175" name="Google Shape;175;p25"/>
          <p:cNvSpPr txBox="1">
            <a:spLocks noGrp="1"/>
          </p:cNvSpPr>
          <p:nvPr>
            <p:ph type="body" idx="1"/>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a:spcBef>
                <a:spcPts val="0"/>
              </a:spcBef>
              <a:spcAft>
                <a:spcPts val="0"/>
              </a:spcAft>
              <a:buClr>
                <a:schemeClr val="lt2"/>
              </a:buClr>
              <a:buSzPts val="800"/>
              <a:buChar char="●"/>
              <a:defRPr sz="800">
                <a:solidFill>
                  <a:schemeClr val="lt2"/>
                </a:solidFill>
              </a:defRPr>
            </a:lvl1pPr>
            <a:lvl2pPr marL="914400" lvl="1" indent="-279400">
              <a:spcBef>
                <a:spcPts val="0"/>
              </a:spcBef>
              <a:spcAft>
                <a:spcPts val="0"/>
              </a:spcAft>
              <a:buClr>
                <a:schemeClr val="lt2"/>
              </a:buClr>
              <a:buSzPts val="800"/>
              <a:buChar char="○"/>
              <a:defRPr sz="800">
                <a:solidFill>
                  <a:schemeClr val="lt2"/>
                </a:solidFill>
              </a:defRPr>
            </a:lvl2pPr>
            <a:lvl3pPr marL="1371600" lvl="2" indent="-279400">
              <a:spcBef>
                <a:spcPts val="0"/>
              </a:spcBef>
              <a:spcAft>
                <a:spcPts val="0"/>
              </a:spcAft>
              <a:buClr>
                <a:schemeClr val="lt2"/>
              </a:buClr>
              <a:buSzPts val="800"/>
              <a:buChar char="■"/>
              <a:defRPr sz="800">
                <a:solidFill>
                  <a:schemeClr val="lt2"/>
                </a:solidFill>
              </a:defRPr>
            </a:lvl3pPr>
            <a:lvl4pPr marL="1828800" lvl="3" indent="-279400">
              <a:spcBef>
                <a:spcPts val="0"/>
              </a:spcBef>
              <a:spcAft>
                <a:spcPts val="0"/>
              </a:spcAft>
              <a:buClr>
                <a:schemeClr val="lt2"/>
              </a:buClr>
              <a:buSzPts val="800"/>
              <a:buChar char="●"/>
              <a:defRPr sz="800">
                <a:solidFill>
                  <a:schemeClr val="lt2"/>
                </a:solidFill>
              </a:defRPr>
            </a:lvl4pPr>
            <a:lvl5pPr marL="2286000" lvl="4" indent="-279400">
              <a:spcBef>
                <a:spcPts val="0"/>
              </a:spcBef>
              <a:spcAft>
                <a:spcPts val="0"/>
              </a:spcAft>
              <a:buClr>
                <a:schemeClr val="lt2"/>
              </a:buClr>
              <a:buSzPts val="800"/>
              <a:buChar char="○"/>
              <a:defRPr sz="800">
                <a:solidFill>
                  <a:schemeClr val="lt2"/>
                </a:solidFill>
              </a:defRPr>
            </a:lvl5pPr>
            <a:lvl6pPr marL="2743200" lvl="5" indent="-279400">
              <a:spcBef>
                <a:spcPts val="0"/>
              </a:spcBef>
              <a:spcAft>
                <a:spcPts val="0"/>
              </a:spcAft>
              <a:buClr>
                <a:schemeClr val="lt2"/>
              </a:buClr>
              <a:buSzPts val="800"/>
              <a:buChar char="■"/>
              <a:defRPr sz="800">
                <a:solidFill>
                  <a:schemeClr val="lt2"/>
                </a:solidFill>
              </a:defRPr>
            </a:lvl6pPr>
            <a:lvl7pPr marL="3200400" lvl="6" indent="-279400">
              <a:spcBef>
                <a:spcPts val="0"/>
              </a:spcBef>
              <a:spcAft>
                <a:spcPts val="0"/>
              </a:spcAft>
              <a:buClr>
                <a:schemeClr val="lt2"/>
              </a:buClr>
              <a:buSzPts val="800"/>
              <a:buChar char="●"/>
              <a:defRPr sz="800">
                <a:solidFill>
                  <a:schemeClr val="lt2"/>
                </a:solidFill>
              </a:defRPr>
            </a:lvl7pPr>
            <a:lvl8pPr marL="3657600" lvl="7" indent="-279400">
              <a:spcBef>
                <a:spcPts val="0"/>
              </a:spcBef>
              <a:spcAft>
                <a:spcPts val="0"/>
              </a:spcAft>
              <a:buClr>
                <a:schemeClr val="lt2"/>
              </a:buClr>
              <a:buSzPts val="800"/>
              <a:buChar char="○"/>
              <a:defRPr sz="800">
                <a:solidFill>
                  <a:schemeClr val="lt2"/>
                </a:solidFill>
              </a:defRPr>
            </a:lvl8pPr>
            <a:lvl9pPr marL="4114800" lvl="8" indent="-279400">
              <a:spcBef>
                <a:spcPts val="0"/>
              </a:spcBef>
              <a:spcAft>
                <a:spcPts val="0"/>
              </a:spcAft>
              <a:buClr>
                <a:schemeClr val="lt2"/>
              </a:buClr>
              <a:buSzPts val="800"/>
              <a:buChar char="■"/>
              <a:defRPr sz="800">
                <a:solidFill>
                  <a:schemeClr val="lt2"/>
                </a:solidFill>
              </a:defRPr>
            </a:lvl9pPr>
          </a:lstStyle>
          <a:p>
            <a:endParaRPr/>
          </a:p>
        </p:txBody>
      </p:sp>
      <p:pic>
        <p:nvPicPr>
          <p:cNvPr id="176" name="Google Shape;176;p25"/>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7" name="Google Shape;177;p2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9" name="Google Shape;179;p25"/>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ransition Slide 1">
  <p:cSld name="CUSTOM_2">
    <p:spTree>
      <p:nvGrpSpPr>
        <p:cNvPr id="1" name="Shape 180"/>
        <p:cNvGrpSpPr/>
        <p:nvPr/>
      </p:nvGrpSpPr>
      <p:grpSpPr>
        <a:xfrm>
          <a:off x="0" y="0"/>
          <a:ext cx="0" cy="0"/>
          <a:chOff x="0" y="0"/>
          <a:chExt cx="0" cy="0"/>
        </a:xfrm>
      </p:grpSpPr>
      <p:pic>
        <p:nvPicPr>
          <p:cNvPr id="181" name="Google Shape;181;p2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2" name="Google Shape;182;p26"/>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3" name="Google Shape;183;p2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ransition Slide 2">
  <p:cSld name="CUSTOM_2_1">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6" name="Google Shape;186;p27"/>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7" name="Google Shape;187;p2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ransition Slide 3">
  <p:cSld name="CUSTOM_2_1_1">
    <p:spTree>
      <p:nvGrpSpPr>
        <p:cNvPr id="1" name="Shape 188"/>
        <p:cNvGrpSpPr/>
        <p:nvPr/>
      </p:nvGrpSpPr>
      <p:grpSpPr>
        <a:xfrm>
          <a:off x="0" y="0"/>
          <a:ext cx="0" cy="0"/>
          <a:chOff x="0" y="0"/>
          <a:chExt cx="0" cy="0"/>
        </a:xfrm>
      </p:grpSpPr>
      <p:pic>
        <p:nvPicPr>
          <p:cNvPr id="189" name="Google Shape;189;p28"/>
          <p:cNvPicPr preferRelativeResize="0"/>
          <p:nvPr/>
        </p:nvPicPr>
        <p:blipFill rotWithShape="1">
          <a:blip r:embed="rId2" cstate="screen">
            <a:alphaModFix amt="74000"/>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90" name="Google Shape;190;p28"/>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9pPr>
          </a:lstStyle>
          <a:p>
            <a:endParaRPr/>
          </a:p>
        </p:txBody>
      </p:sp>
      <p:pic>
        <p:nvPicPr>
          <p:cNvPr id="191" name="Google Shape;191;p2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ransition Slide 4">
  <p:cSld name="CUSTOM_2_1_1_1">
    <p:spTree>
      <p:nvGrpSpPr>
        <p:cNvPr id="1" name="Shape 192"/>
        <p:cNvGrpSpPr/>
        <p:nvPr/>
      </p:nvGrpSpPr>
      <p:grpSpPr>
        <a:xfrm>
          <a:off x="0" y="0"/>
          <a:ext cx="0" cy="0"/>
          <a:chOff x="0" y="0"/>
          <a:chExt cx="0" cy="0"/>
        </a:xfrm>
      </p:grpSpPr>
      <p:pic>
        <p:nvPicPr>
          <p:cNvPr id="193" name="Google Shape;193;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sp>
        <p:nvSpPr>
          <p:cNvPr id="194" name="Google Shape;194;p29"/>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95" name="Google Shape;195;p2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ransition Slide 5">
  <p:cSld name="CUSTOM_2_1_1_1_1">
    <p:spTree>
      <p:nvGrpSpPr>
        <p:cNvPr id="1" name="Shape 196"/>
        <p:cNvGrpSpPr/>
        <p:nvPr/>
      </p:nvGrpSpPr>
      <p:grpSpPr>
        <a:xfrm>
          <a:off x="0" y="0"/>
          <a:ext cx="0" cy="0"/>
          <a:chOff x="0" y="0"/>
          <a:chExt cx="0" cy="0"/>
        </a:xfrm>
      </p:grpSpPr>
      <p:pic>
        <p:nvPicPr>
          <p:cNvPr id="197" name="Google Shape;197;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pic>
        <p:nvPicPr>
          <p:cNvPr id="198" name="Google Shape;198;p3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99" name="Google Shape;199;p30"/>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losing Slide Colour">
  <p:cSld name="CUSTOM_3_1">
    <p:spTree>
      <p:nvGrpSpPr>
        <p:cNvPr id="1" name="Shape 200"/>
        <p:cNvGrpSpPr/>
        <p:nvPr/>
      </p:nvGrpSpPr>
      <p:grpSpPr>
        <a:xfrm>
          <a:off x="0" y="0"/>
          <a:ext cx="0" cy="0"/>
          <a:chOff x="0" y="0"/>
          <a:chExt cx="0" cy="0"/>
        </a:xfrm>
      </p:grpSpPr>
      <p:pic>
        <p:nvPicPr>
          <p:cNvPr id="201" name="Google Shape;201;p3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pic>
        <p:nvPicPr>
          <p:cNvPr id="202" name="Google Shape;202;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63693" y="2293838"/>
            <a:ext cx="3216560" cy="555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9525" y="4930375"/>
            <a:ext cx="404400" cy="213000"/>
          </a:xfrm>
          <a:prstGeom prst="rect">
            <a:avLst/>
          </a:prstGeom>
          <a:noFill/>
          <a:ln>
            <a:noFill/>
          </a:ln>
        </p:spPr>
        <p:txBody>
          <a:bodyPr spcFirstLastPara="1" wrap="square" lIns="0" tIns="0" rIns="0" bIns="0" anchor="t" anchorCtr="0">
            <a:noAutofit/>
          </a:bodyPr>
          <a:lstStyle>
            <a:lvl1pPr lvl="0">
              <a:buNone/>
              <a:defRPr sz="800">
                <a:latin typeface="Poppins"/>
                <a:ea typeface="Poppins"/>
                <a:cs typeface="Poppins"/>
                <a:sym typeface="Poppins"/>
              </a:defRPr>
            </a:lvl1pPr>
            <a:lvl2pPr lvl="1">
              <a:buNone/>
              <a:defRPr sz="800">
                <a:latin typeface="Poppins"/>
                <a:ea typeface="Poppins"/>
                <a:cs typeface="Poppins"/>
                <a:sym typeface="Poppins"/>
              </a:defRPr>
            </a:lvl2pPr>
            <a:lvl3pPr lvl="2">
              <a:buNone/>
              <a:defRPr sz="800">
                <a:latin typeface="Poppins"/>
                <a:ea typeface="Poppins"/>
                <a:cs typeface="Poppins"/>
                <a:sym typeface="Poppins"/>
              </a:defRPr>
            </a:lvl3pPr>
            <a:lvl4pPr lvl="3">
              <a:buNone/>
              <a:defRPr sz="800">
                <a:latin typeface="Poppins"/>
                <a:ea typeface="Poppins"/>
                <a:cs typeface="Poppins"/>
                <a:sym typeface="Poppins"/>
              </a:defRPr>
            </a:lvl4pPr>
            <a:lvl5pPr lvl="4">
              <a:buNone/>
              <a:defRPr sz="800">
                <a:latin typeface="Poppins"/>
                <a:ea typeface="Poppins"/>
                <a:cs typeface="Poppins"/>
                <a:sym typeface="Poppins"/>
              </a:defRPr>
            </a:lvl5pPr>
            <a:lvl6pPr lvl="5">
              <a:buNone/>
              <a:defRPr sz="800">
                <a:latin typeface="Poppins"/>
                <a:ea typeface="Poppins"/>
                <a:cs typeface="Poppins"/>
                <a:sym typeface="Poppins"/>
              </a:defRPr>
            </a:lvl6pPr>
            <a:lvl7pPr lvl="6">
              <a:buNone/>
              <a:defRPr sz="800">
                <a:latin typeface="Poppins"/>
                <a:ea typeface="Poppins"/>
                <a:cs typeface="Poppins"/>
                <a:sym typeface="Poppins"/>
              </a:defRPr>
            </a:lvl7pPr>
            <a:lvl8pPr lvl="7">
              <a:buNone/>
              <a:defRPr sz="800">
                <a:latin typeface="Poppins"/>
                <a:ea typeface="Poppins"/>
                <a:cs typeface="Poppins"/>
                <a:sym typeface="Poppins"/>
              </a:defRPr>
            </a:lvl8pPr>
            <a:lvl9pPr lvl="8">
              <a:buNone/>
              <a:defRPr sz="800">
                <a:latin typeface="Poppins"/>
                <a:ea typeface="Poppins"/>
                <a:cs typeface="Poppins"/>
                <a:sym typeface="Poppins"/>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
          <p15:clr>
            <a:srgbClr val="EA4335"/>
          </p15:clr>
        </p15:guide>
        <p15:guide id="2" pos="319">
          <p15:clr>
            <a:srgbClr val="EA4335"/>
          </p15:clr>
        </p15:guide>
        <p15:guide id="3" pos="1990">
          <p15:clr>
            <a:srgbClr val="EA4335"/>
          </p15:clr>
        </p15:guide>
        <p15:guide id="4" pos="3715">
          <p15:clr>
            <a:srgbClr val="EA4335"/>
          </p15:clr>
        </p15:guide>
        <p15:guide id="5" pos="5441">
          <p15:clr>
            <a:srgbClr val="EA4335"/>
          </p15:clr>
        </p15:guide>
        <p15:guide id="6" pos="2045">
          <p15:clr>
            <a:srgbClr val="EA4335"/>
          </p15:clr>
        </p15:guide>
        <p15:guide id="7" pos="3770">
          <p15:clr>
            <a:srgbClr val="EA4335"/>
          </p15:clr>
        </p15:guide>
        <p15:guide id="8" orient="horz" pos="3024">
          <p15:clr>
            <a:srgbClr val="EA4335"/>
          </p15:clr>
        </p15:guide>
        <p15:guide id="9" pos="1122">
          <p15:clr>
            <a:srgbClr val="EA4335"/>
          </p15:clr>
        </p15:guide>
        <p15:guide id="10" pos="2907">
          <p15:clr>
            <a:srgbClr val="EA4335"/>
          </p15:clr>
        </p15:guide>
        <p15:guide id="11" pos="4638">
          <p15:clr>
            <a:srgbClr val="EA4335"/>
          </p15:clr>
        </p15:guide>
        <p15:guide id="12" pos="1184">
          <p15:clr>
            <a:srgbClr val="EA4335"/>
          </p15:clr>
        </p15:guide>
        <p15:guide id="13" pos="2853">
          <p15:clr>
            <a:srgbClr val="EA4335"/>
          </p15:clr>
        </p15:guide>
        <p15:guide id="14" pos="4576">
          <p15:clr>
            <a:srgbClr val="EA4335"/>
          </p15:clr>
        </p15:guide>
        <p15:guide id="15" orient="horz" pos="1122">
          <p15:clr>
            <a:srgbClr val="EA4335"/>
          </p15:clr>
        </p15:guide>
        <p15:guide id="16" orient="horz" pos="1184">
          <p15:clr>
            <a:srgbClr val="EA4335"/>
          </p15:clr>
        </p15:guide>
        <p15:guide id="17" orient="horz" pos="2118">
          <p15:clr>
            <a:srgbClr val="EA4335"/>
          </p15:clr>
        </p15:guide>
        <p15:guide id="18" orient="horz" pos="2056">
          <p15:clr>
            <a:srgbClr val="EA4335"/>
          </p15:clr>
        </p15:guide>
        <p15:guide id="19" orient="horz" pos="756">
          <p15:clr>
            <a:schemeClr val="lt2"/>
          </p15:clr>
        </p15:guide>
        <p15:guide id="20" pos="264">
          <p15:clr>
            <a:srgbClr val="EA4335"/>
          </p15:clr>
        </p15:guide>
        <p15:guide id="21" pos="5505">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Build AI Agents to</a:t>
            </a:r>
            <a:br/>
            <a:r>
              <a:rPr sz="1500"/>
              <a:t>Automate Your Workflows</a:t>
            </a:r>
          </a:p>
        </p:txBody>
      </p:sp>
      <p:sp>
        <p:nvSpPr>
          <p:cNvPr id="3" name="Subtitle 2"/>
          <p:cNvSpPr>
            <a:spLocks noGrp="1"/>
          </p:cNvSpPr>
          <p:nvPr>
            <p:ph type="subTitle" idx="1"/>
          </p:nvPr>
        </p:nvSpPr>
        <p:spPr/>
        <p:txBody>
          <a:bodyPr wrap="square"/>
          <a:lstStyle/>
          <a:p>
            <a:r>
              <a:rPr sz="1500"/>
              <a:t>Tim Warner  |  September 8, 2026</a:t>
            </a:r>
          </a:p>
          <a:p>
            <a:r>
              <a:rPr sz="1500"/>
              <a:t>Microsoft Copilot Studio  |  timw.info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Course flow (Central Time)</a:t>
            </a:r>
          </a:p>
        </p:txBody>
      </p:sp>
      <p:sp>
        <p:nvSpPr>
          <p:cNvPr id="3" name="Text Placeholder 2"/>
          <p:cNvSpPr>
            <a:spLocks noGrp="1"/>
          </p:cNvSpPr>
          <p:nvPr>
            <p:ph type="body" idx="1"/>
          </p:nvPr>
        </p:nvSpPr>
        <p:spPr/>
        <p:txBody>
          <a:bodyPr wrap="square"/>
          <a:lstStyle/>
          <a:p>
            <a:r>
              <a:rPr sz="1300"/>
              <a:t>09:00  Segment 1 [Inception: design the agent]</a:t>
            </a:r>
          </a:p>
          <a:p>
            <a:r>
              <a:rPr sz="1300"/>
              <a:t>10:00  Segment 2 [Build: knowledge and grounded answers]</a:t>
            </a:r>
          </a:p>
          <a:p>
            <a:r>
              <a:rPr sz="1300"/>
              <a:t>11:00  Segment 3 [Extend: actions, MCP, handoff]</a:t>
            </a:r>
          </a:p>
          <a:p>
            <a:r>
              <a:rPr sz="1300"/>
              <a:t>12:00  Segment 4 [Operate: evaluate, govern, publish]</a:t>
            </a:r>
          </a:p>
          <a:p>
            <a:r>
              <a:rPr sz="1300"/>
              <a:t>12:50  Wrap-up, next steps, and Q&amp;A</a:t>
            </a:r>
          </a:p>
          <a:p>
            <a:r>
              <a:rPr sz="1300"/>
              <a:t>Ten-minute breaks at 09:50, 10:50, and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Session materials</a:t>
            </a:r>
          </a:p>
        </p:txBody>
      </p:sp>
      <p:sp>
        <p:nvSpPr>
          <p:cNvPr id="3" name="Text Placeholder 2"/>
          <p:cNvSpPr>
            <a:spLocks noGrp="1"/>
          </p:cNvSpPr>
          <p:nvPr>
            <p:ph type="body" idx="1"/>
          </p:nvPr>
        </p:nvSpPr>
        <p:spPr/>
        <p:txBody>
          <a:bodyPr wrap="square"/>
          <a:lstStyle/>
          <a:p>
            <a:r>
              <a:rPr sz="1300"/>
              <a:t>github.com/timothywarner-org/oreilly-copilot-studio-agents</a:t>
            </a:r>
          </a:p>
          <a:p/>
          <a:p>
            <a:r>
              <a:rPr sz="1300"/>
              <a:t>The agent kit: brief, instructions, knowledge, topics, tool contracts, runbook</a:t>
            </a:r>
          </a:p>
          <a:p>
            <a:r>
              <a:rPr sz="1300"/>
              <a:t>Four labs and worksheets, with worked answers</a:t>
            </a:r>
          </a:p>
          <a:p>
            <a:r>
              <a:rPr sz="1300"/>
              <a:t>sources/link-register.md: every Learn page, grouped by segment and checked live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Questions?</a:t>
            </a:r>
          </a:p>
        </p:txBody>
      </p:sp>
      <p:sp>
        <p:nvSpPr>
          <p:cNvPr id="3" name="Text Placeholder 2"/>
          <p:cNvSpPr>
            <a:spLocks noGrp="1"/>
          </p:cNvSpPr>
          <p:nvPr>
            <p:ph type="body" idx="1"/>
          </p:nvPr>
        </p:nvSpPr>
        <p:spPr/>
        <p:txBody>
          <a:bodyPr wrap="square"/>
          <a:lstStyle/>
          <a:p>
            <a:r>
              <a:rPr sz="1500"/>
              <a:t>Use the Q&amp;A window, not chat, so nothing scrolls away</a:t>
            </a:r>
          </a:p>
          <a:p>
            <a:r>
              <a:rPr sz="1500"/>
              <a:t>Only the O'Reilly team and I can read the Q&amp;A window</a:t>
            </a:r>
          </a:p>
          <a:p>
            <a:r>
              <a:rPr sz="1500"/>
              <a:t>I answer inside each segment, not only at the end</a:t>
            </a:r>
          </a:p>
          <a:p>
            <a:r>
              <a:rPr sz="1500"/>
              <a:t>Session is recorded; materials stay in the repo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Segment 1</a:t>
            </a:r>
            <a:br/>
            <a:r>
              <a:rPr sz="1500"/>
              <a:t>Inception: design the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four course outcomes</a:t>
            </a:r>
          </a:p>
        </p:txBody>
      </p:sp>
      <p:sp>
        <p:nvSpPr>
          <p:cNvPr id="3" name="Text Placeholder 2"/>
          <p:cNvSpPr>
            <a:spLocks noGrp="1"/>
          </p:cNvSpPr>
          <p:nvPr>
            <p:ph type="body" idx="1"/>
          </p:nvPr>
        </p:nvSpPr>
        <p:spPr/>
        <p:txBody>
          <a:bodyPr wrap="square"/>
          <a:lstStyle/>
          <a:p>
            <a:r>
              <a:rPr sz="1100"/>
              <a:t>Plan a Copilot Studio agent from persona, job-to-be-done, instructions, topic map, guardrails, and success metrics.</a:t>
            </a:r>
          </a:p>
          <a:p>
            <a:r>
              <a:rPr sz="1100"/>
              <a:t>Build a grounded AZ-900 study assistant using knowledge sources, topics, generative answers, and test prompts.</a:t>
            </a:r>
          </a:p>
          <a:p>
            <a:r>
              <a:rPr sz="1100"/>
              <a:t>Extend the agent with actions, agent flows, MCP and subagent concepts, and human handoff patterns.</a:t>
            </a:r>
          </a:p>
          <a:p>
            <a:r>
              <a:rPr sz="1100"/>
              <a:t>Evaluate, publish, observe, and govern the agent using analytics, agent evaluations, Power Platform Well-Architected guidance, and security principles.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A maker and a learner</a:t>
            </a:r>
          </a:p>
        </p:txBody>
      </p:sp>
      <p:sp>
        <p:nvSpPr>
          <p:cNvPr id="3" name="Text Placeholder 2"/>
          <p:cNvSpPr>
            <a:spLocks noGrp="1"/>
          </p:cNvSpPr>
          <p:nvPr>
            <p:ph type="body" idx="1"/>
          </p:nvPr>
        </p:nvSpPr>
        <p:spPr/>
        <p:txBody>
          <a:bodyPr wrap="square"/>
          <a:lstStyle/>
          <a:p>
            <a:r>
              <a:rPr sz="1500"/>
              <a:t>You: design the assistant</a:t>
            </a:r>
          </a:p>
          <a:p>
            <a:r>
              <a:rPr sz="1500"/>
              <a:t>Contoso colleague: learn Azure AI</a:t>
            </a:r>
          </a:p>
          <a:p>
            <a:r>
              <a:rPr sz="1500"/>
              <a:t>Shared need: useful practice with a 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agent’s building blocks</a:t>
            </a:r>
          </a:p>
        </p:txBody>
      </p:sp>
      <p:sp>
        <p:nvSpPr>
          <p:cNvPr id="3" name="Text Placeholder 2"/>
          <p:cNvSpPr>
            <a:spLocks noGrp="1"/>
          </p:cNvSpPr>
          <p:nvPr>
            <p:ph type="body" idx="1"/>
          </p:nvPr>
        </p:nvSpPr>
        <p:spPr/>
        <p:txBody>
          <a:bodyPr wrap="square"/>
          <a:lstStyle/>
          <a:p>
            <a:r>
              <a:rPr sz="1500"/>
              <a:t>User message through a channel</a:t>
            </a:r>
          </a:p>
          <a:p>
            <a:r>
              <a:rPr sz="1500"/>
              <a:t>Generative orchestration</a:t>
            </a:r>
          </a:p>
          <a:p>
            <a:r>
              <a:rPr sz="1500"/>
              <a:t>Knowledge: reference material</a:t>
            </a:r>
          </a:p>
          <a:p>
            <a:r>
              <a:rPr sz="1500"/>
              <a:t>Topic: authored conversation</a:t>
            </a:r>
          </a:p>
          <a:p>
            <a:r>
              <a:rPr sz="1500"/>
              <a:t>Tool: a defined 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Starting a Copilot Studio trial</a:t>
            </a:r>
          </a:p>
        </p:txBody>
      </p:sp>
      <p:sp>
        <p:nvSpPr>
          <p:cNvPr id="3" name="Text Placeholder 2"/>
          <p:cNvSpPr>
            <a:spLocks noGrp="1"/>
          </p:cNvSpPr>
          <p:nvPr>
            <p:ph type="body" idx="1"/>
          </p:nvPr>
        </p:nvSpPr>
        <p:spPr/>
        <p:txBody>
          <a:bodyPr wrap="square"/>
          <a:lstStyle/>
          <a:p>
            <a:r>
              <a:rPr sz="1500"/>
              <a:t>Open the official Copilot Studio trial sign-up</a:t>
            </a:r>
          </a:p>
          <a:p>
            <a:r>
              <a:rPr sz="1500"/>
              <a:t>Enter a work or school email address</a:t>
            </a:r>
          </a:p>
          <a:p>
            <a:r>
              <a:rPr sz="1500"/>
              <a:t>Follow the account-specific sign-up prompts</a:t>
            </a:r>
          </a:p>
          <a:p>
            <a:r>
              <a:rPr sz="1500"/>
              <a:t>Open the available authoring environment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Trial access and its limits</a:t>
            </a:r>
          </a:p>
        </p:txBody>
      </p:sp>
      <p:sp>
        <p:nvSpPr>
          <p:cNvPr id="3" name="Text Placeholder 2"/>
          <p:cNvSpPr>
            <a:spLocks noGrp="1"/>
          </p:cNvSpPr>
          <p:nvPr>
            <p:ph type="body" idx="1"/>
          </p:nvPr>
        </p:nvSpPr>
        <p:spPr/>
        <p:txBody>
          <a:bodyPr wrap="square"/>
          <a:lstStyle/>
          <a:p>
            <a:r>
              <a:rPr sz="1300"/>
              <a:t>What happens | What to do</a:t>
            </a:r>
          </a:p>
          <a:p>
            <a:r>
              <a:rPr sz="1300"/>
              <a:t>Work or school identity is required | Use the appropriate organizational account.</a:t>
            </a:r>
          </a:p>
          <a:p>
            <a:r>
              <a:rPr sz="1300"/>
              <a:t>Self-service signup is blocked | Use the documented administrator route.</a:t>
            </a:r>
          </a:p>
          <a:p>
            <a:r>
              <a:rPr sz="1300"/>
              <a:t>Trial authoring and testing are available | Practice with synthetic course data.</a:t>
            </a:r>
          </a:p>
          <a:p>
            <a:r>
              <a:rPr sz="1300"/>
              <a:t>Publishing is unavailable on the trial | Watch the entitled instructor publish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brief before the build</a:t>
            </a:r>
          </a:p>
        </p:txBody>
      </p:sp>
      <p:sp>
        <p:nvSpPr>
          <p:cNvPr id="3" name="Text Placeholder 2"/>
          <p:cNvSpPr>
            <a:spLocks noGrp="1"/>
          </p:cNvSpPr>
          <p:nvPr>
            <p:ph type="body" idx="1"/>
          </p:nvPr>
        </p:nvSpPr>
        <p:spPr/>
        <p:txBody>
          <a:bodyPr wrap="square"/>
          <a:lstStyle/>
          <a:p>
            <a:r>
              <a:rPr sz="1300"/>
              <a:t>Brief element | Contoso example</a:t>
            </a:r>
          </a:p>
          <a:p>
            <a:r>
              <a:rPr sz="1300"/>
              <a:t>Persona and job | An AI beginner needs supported explanations and practice.</a:t>
            </a:r>
          </a:p>
          <a:p>
            <a:r>
              <a:rPr sz="1300"/>
              <a:t>Instructions | Use the course reference. Say when it doesn’t support an answer.</a:t>
            </a:r>
          </a:p>
          <a:p>
            <a:r>
              <a:rPr sz="1300"/>
              <a:t>Boundary | No exam booking, private policy claims, or pass guarantees.</a:t>
            </a:r>
          </a:p>
          <a:p>
            <a:r>
              <a:rPr sz="1300"/>
              <a:t>Success metric | Zero invented policy answers in the recorded boundary test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One map, five purposes</a:t>
            </a:r>
          </a:p>
        </p:txBody>
      </p:sp>
      <p:sp>
        <p:nvSpPr>
          <p:cNvPr id="3" name="Text Placeholder 2"/>
          <p:cNvSpPr>
            <a:spLocks noGrp="1"/>
          </p:cNvSpPr>
          <p:nvPr>
            <p:ph type="body" idx="1"/>
          </p:nvPr>
        </p:nvSpPr>
        <p:spPr/>
        <p:txBody>
          <a:bodyPr wrap="square"/>
          <a:lstStyle/>
          <a:p>
            <a:r>
              <a:rPr sz="1300"/>
              <a:t>Purpose | Course implementation</a:t>
            </a:r>
          </a:p>
          <a:p>
            <a:r>
              <a:rPr sz="1300"/>
              <a:t>Overview | Grounded explanation from the course reference</a:t>
            </a:r>
          </a:p>
          <a:p>
            <a:r>
              <a:rPr sz="1300"/>
              <a:t>Practice | One authored teach-question-feedback topic</a:t>
            </a:r>
          </a:p>
          <a:p>
            <a:r>
              <a:rPr sz="1300"/>
              <a:t>Study plan | GetStudySession flow</a:t>
            </a:r>
          </a:p>
          <a:p>
            <a:r>
              <a:rPr sz="1300"/>
              <a:t>Fallback | Honest limitation and mentor referral</a:t>
            </a:r>
          </a:p>
          <a:p>
            <a:r>
              <a:rPr sz="1300"/>
              <a:t>Search | Knowledge retrieval with source inspection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shell and the first boundary</a:t>
            </a:r>
          </a:p>
        </p:txBody>
      </p:sp>
      <p:sp>
        <p:nvSpPr>
          <p:cNvPr id="3" name="Text Placeholder 2"/>
          <p:cNvSpPr>
            <a:spLocks noGrp="1"/>
          </p:cNvSpPr>
          <p:nvPr>
            <p:ph type="body" idx="1"/>
          </p:nvPr>
        </p:nvSpPr>
        <p:spPr/>
        <p:txBody>
          <a:bodyPr wrap="square"/>
          <a:lstStyle/>
          <a:p>
            <a:r>
              <a:rPr sz="1500"/>
              <a:t>Demo: blank agent, instructions, orchestration</a:t>
            </a:r>
          </a:p>
          <a:p>
            <a:r>
              <a:rPr sz="1500"/>
              <a:t>Test: “What is my exact exam appointment?”</a:t>
            </a:r>
          </a:p>
          <a:p>
            <a:r>
              <a:rPr sz="1500"/>
              <a:t>Your decision: one topic, one instruction, one metric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10-minute break</a:t>
            </a:r>
            <a:br/>
            <a:r>
              <a:rPr sz="1500"/>
              <a:t>Return at 10:00 AM Central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Segment 2</a:t>
            </a:r>
            <a:br/>
            <a:r>
              <a:rPr sz="1500"/>
              <a:t>Build: knowledge and grounded answers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source behind an answer</a:t>
            </a:r>
          </a:p>
        </p:txBody>
      </p:sp>
      <p:sp>
        <p:nvSpPr>
          <p:cNvPr id="3" name="Text Placeholder 2"/>
          <p:cNvSpPr>
            <a:spLocks noGrp="1"/>
          </p:cNvSpPr>
          <p:nvPr>
            <p:ph type="body" idx="1"/>
          </p:nvPr>
        </p:nvSpPr>
        <p:spPr/>
        <p:txBody>
          <a:bodyPr wrap="square"/>
          <a:lstStyle/>
          <a:p>
            <a:r>
              <a:rPr sz="1500"/>
              <a:t>Question</a:t>
            </a:r>
          </a:p>
          <a:p>
            <a:r>
              <a:rPr sz="1500"/>
              <a:t>Retrieve relevant passage</a:t>
            </a:r>
          </a:p>
          <a:p>
            <a:r>
              <a:rPr sz="1500"/>
              <a:t>Generate an answer</a:t>
            </a:r>
          </a:p>
          <a:p>
            <a:r>
              <a:rPr sz="1500"/>
              <a:t>Inspect answer and source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Knowledge scope and limits</a:t>
            </a:r>
          </a:p>
        </p:txBody>
      </p:sp>
      <p:sp>
        <p:nvSpPr>
          <p:cNvPr id="3" name="Text Placeholder 2"/>
          <p:cNvSpPr>
            <a:spLocks noGrp="1"/>
          </p:cNvSpPr>
          <p:nvPr>
            <p:ph type="body" idx="1"/>
          </p:nvPr>
        </p:nvSpPr>
        <p:spPr/>
        <p:txBody>
          <a:bodyPr wrap="square"/>
          <a:lstStyle/>
          <a:p>
            <a:r>
              <a:rPr sz="1300"/>
              <a:t>Choice | Consequence for this assistant</a:t>
            </a:r>
          </a:p>
          <a:p>
            <a:r>
              <a:rPr sz="1300"/>
              <a:t>Agent knowledge | A shared reference for general study questions</a:t>
            </a:r>
          </a:p>
          <a:p>
            <a:r>
              <a:rPr sz="1300"/>
              <a:t>Topic grounding | A selected source scope for a particular conversation</a:t>
            </a:r>
          </a:p>
          <a:p>
            <a:r>
              <a:rPr sz="1300"/>
              <a:t>Source order | No “first uploaded source wins” rule</a:t>
            </a:r>
          </a:p>
          <a:p>
            <a:r>
              <a:rPr sz="1300"/>
              <a:t>Limits and citations | Check source readiness, scope, and the supporting passage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Teach, wait, then give feedback</a:t>
            </a:r>
          </a:p>
        </p:txBody>
      </p:sp>
      <p:sp>
        <p:nvSpPr>
          <p:cNvPr id="3" name="Text Placeholder 2"/>
          <p:cNvSpPr>
            <a:spLocks noGrp="1"/>
          </p:cNvSpPr>
          <p:nvPr>
            <p:ph type="body" idx="1"/>
          </p:nvPr>
        </p:nvSpPr>
        <p:spPr/>
        <p:txBody>
          <a:bodyPr wrap="square"/>
          <a:lstStyle/>
          <a:p>
            <a:r>
              <a:rPr sz="1500"/>
              <a:t>Message: teach the concept</a:t>
            </a:r>
          </a:p>
          <a:p>
            <a:r>
              <a:rPr sz="1500"/>
              <a:t>Question: WAIT for a choice</a:t>
            </a:r>
          </a:p>
          <a:p>
            <a:r>
              <a:rPr sz="1500"/>
              <a:t>Correct choice: explain why</a:t>
            </a:r>
          </a:p>
          <a:p>
            <a:r>
              <a:rPr sz="1500"/>
              <a:t>Incorrect choice: explain misconception</a:t>
            </a:r>
          </a:p>
          <a:p>
            <a:r>
              <a:rPr sz="1500"/>
              <a:t>Unmatched twice: offer recovery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Context reuse or a new answer?</a:t>
            </a:r>
          </a:p>
        </p:txBody>
      </p:sp>
      <p:sp>
        <p:nvSpPr>
          <p:cNvPr id="3" name="Text Placeholder 2"/>
          <p:cNvSpPr>
            <a:spLocks noGrp="1"/>
          </p:cNvSpPr>
          <p:nvPr>
            <p:ph type="body" idx="1"/>
          </p:nvPr>
        </p:nvSpPr>
        <p:spPr/>
        <p:txBody>
          <a:bodyPr wrap="square"/>
          <a:lstStyle/>
          <a:p>
            <a:r>
              <a:rPr sz="1200"/>
              <a:t>Situation | Use</a:t>
            </a:r>
          </a:p>
          <a:p>
            <a:r>
              <a:rPr sz="1200"/>
              <a:t>“Give me a responsible-ai study session” | Dynamically fill the tool/topic input from context</a:t>
            </a:r>
          </a:p>
          <a:p>
            <a:r>
              <a:rPr sz="1200"/>
              <a:t>Assistant asks: “Which principle covers transparency?” | Question node; wait for the learner’s choice</a:t>
            </a:r>
          </a:p>
          <a:p>
            <a:r>
              <a:rPr sz="1200"/>
              <a:t>A required value is missing | Prompt for it; do not guess</a:t>
            </a:r>
          </a:p>
          <a:p>
            <a:r>
              <a:rPr sz="1200"/>
              <a:t>An answer doesn’t match | One reprompt, then a truthful recovery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practice topic, built together</a:t>
            </a:r>
          </a:p>
        </p:txBody>
      </p:sp>
      <p:sp>
        <p:nvSpPr>
          <p:cNvPr id="3" name="Text Placeholder 2"/>
          <p:cNvSpPr>
            <a:spLocks noGrp="1"/>
          </p:cNvSpPr>
          <p:nvPr>
            <p:ph type="body" idx="1"/>
          </p:nvPr>
        </p:nvSpPr>
        <p:spPr/>
        <p:txBody>
          <a:bodyPr wrap="square"/>
          <a:lstStyle/>
          <a:p>
            <a:r>
              <a:rPr sz="1500"/>
              <a:t>Watch: lesson → Question node → feedback</a:t>
            </a:r>
          </a:p>
          <a:p>
            <a:r>
              <a:rPr sz="1500"/>
              <a:t>Predict the next turn before I run it</a:t>
            </a:r>
          </a:p>
          <a:p>
            <a:r>
              <a:rPr sz="1500"/>
              <a:t>Identify the wait point and explain one wrong-answer branch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A useful failure response</a:t>
            </a:r>
          </a:p>
        </p:txBody>
      </p:sp>
      <p:sp>
        <p:nvSpPr>
          <p:cNvPr id="3" name="Text Placeholder 2"/>
          <p:cNvSpPr>
            <a:spLocks noGrp="1"/>
          </p:cNvSpPr>
          <p:nvPr>
            <p:ph type="body" idx="1"/>
          </p:nvPr>
        </p:nvSpPr>
        <p:spPr/>
        <p:txBody>
          <a:bodyPr wrap="square"/>
          <a:lstStyle/>
          <a:p>
            <a:r>
              <a:rPr sz="1500"/>
              <a:t>Unsupported: “I don’t have your exam appointment.”</a:t>
            </a:r>
          </a:p>
          <a:p>
            <a:r>
              <a:rPr sz="1500"/>
              <a:t>Recovery: “Check your booking confirmation.”</a:t>
            </a:r>
          </a:p>
          <a:p>
            <a:r>
              <a:rPr sz="1500"/>
              <a:t>Human boundary: “I can’t contact a mentor from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10-minute break</a:t>
            </a:r>
            <a:br/>
            <a:r>
              <a:rPr sz="1500"/>
              <a:t>Return at 11:00 AM Central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Segment 3</a:t>
            </a:r>
            <a:br/>
            <a:r>
              <a:rPr sz="1500"/>
              <a:t>Extend: actions, MCP, and handoff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next action</a:t>
            </a:r>
          </a:p>
        </p:txBody>
      </p:sp>
      <p:sp>
        <p:nvSpPr>
          <p:cNvPr id="3" name="Text Placeholder 2"/>
          <p:cNvSpPr>
            <a:spLocks noGrp="1"/>
          </p:cNvSpPr>
          <p:nvPr>
            <p:ph type="body" idx="1"/>
          </p:nvPr>
        </p:nvSpPr>
        <p:spPr/>
        <p:txBody>
          <a:bodyPr wrap="square"/>
          <a:lstStyle/>
          <a:p>
            <a:r>
              <a:rPr sz="1300"/>
              <a:t>User request | Appropriate next step</a:t>
            </a:r>
          </a:p>
          <a:p>
            <a:r>
              <a:rPr sz="1300"/>
              <a:t>Explain a responsible AI principle | Answer using knowledge</a:t>
            </a:r>
          </a:p>
          <a:p>
            <a:r>
              <a:rPr sz="1300"/>
              <a:t>Give me a study session; focus unspecified | Clarify the focus</a:t>
            </a:r>
          </a:p>
          <a:p>
            <a:r>
              <a:rPr sz="1300"/>
              <a:t>Give me the responsible-ai study session | Call GetStudySession</a:t>
            </a:r>
          </a:p>
          <a:p>
            <a:r>
              <a:rPr sz="1300"/>
              <a:t>Book my exam or decide an accommodation | Refer to an authorized human or service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GetStudySession: the contract</a:t>
            </a:r>
          </a:p>
        </p:txBody>
      </p:sp>
      <p:sp>
        <p:nvSpPr>
          <p:cNvPr id="3" name="Text Placeholder 2"/>
          <p:cNvSpPr>
            <a:spLocks noGrp="1"/>
          </p:cNvSpPr>
          <p:nvPr>
            <p:ph type="body" idx="1"/>
          </p:nvPr>
        </p:nvSpPr>
        <p:spPr/>
        <p:txBody>
          <a:bodyPr wrap="square"/>
          <a:lstStyle/>
          <a:p>
            <a:r>
              <a:rPr sz="1500"/>
              <a:t>Input: focus</a:t>
            </a:r>
          </a:p>
          <a:p>
            <a:r>
              <a:rPr sz="1500"/>
              <a:t>GetStudySession native agent flow</a:t>
            </a:r>
          </a:p>
          <a:p>
            <a:r>
              <a:rPr sz="1500"/>
              <a:t>Outputs: status and plan, both Text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flow behind the tool</a:t>
            </a:r>
          </a:p>
        </p:txBody>
      </p:sp>
      <p:sp>
        <p:nvSpPr>
          <p:cNvPr id="3" name="Text Placeholder 2"/>
          <p:cNvSpPr>
            <a:spLocks noGrp="1"/>
          </p:cNvSpPr>
          <p:nvPr>
            <p:ph type="body" idx="1"/>
          </p:nvPr>
        </p:nvSpPr>
        <p:spPr/>
        <p:txBody>
          <a:bodyPr wrap="square"/>
          <a:lstStyle/>
          <a:p>
            <a:r>
              <a:rPr sz="1500"/>
              <a:t>Agent calls flow</a:t>
            </a:r>
          </a:p>
          <a:p>
            <a:r>
              <a:rPr sz="1500"/>
              <a:t>Initialize status and plan</a:t>
            </a:r>
          </a:p>
          <a:p>
            <a:r>
              <a:rPr sz="1500"/>
              <a:t>If responsible-ai</a:t>
            </a:r>
          </a:p>
          <a:p>
            <a:r>
              <a:rPr sz="1500"/>
              <a:t>If workloads</a:t>
            </a:r>
          </a:p>
          <a:p>
            <a:r>
              <a:rPr sz="1500"/>
              <a:t>If foundry</a:t>
            </a:r>
          </a:p>
          <a:p>
            <a:r>
              <a:rPr sz="1500"/>
              <a:t>Respond once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evidence of a tool call</a:t>
            </a:r>
          </a:p>
        </p:txBody>
      </p:sp>
      <p:sp>
        <p:nvSpPr>
          <p:cNvPr id="3" name="Text Placeholder 2"/>
          <p:cNvSpPr>
            <a:spLocks noGrp="1"/>
          </p:cNvSpPr>
          <p:nvPr>
            <p:ph type="body" idx="1"/>
          </p:nvPr>
        </p:nvSpPr>
        <p:spPr/>
        <p:txBody>
          <a:bodyPr wrap="square"/>
          <a:lstStyle/>
          <a:p>
            <a:r>
              <a:rPr sz="1500"/>
              <a:t>Expected input: focus = responsible-ai</a:t>
            </a:r>
          </a:p>
          <a:p>
            <a:r>
              <a:rPr sz="1500"/>
              <a:t>Expected output: status = ok; plan describes 30 minutes</a:t>
            </a:r>
          </a:p>
          <a:p>
            <a:r>
              <a:rPr sz="1500"/>
              <a:t>No execution record? The response alone is insufficient.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HTTP and MCP</a:t>
            </a:r>
          </a:p>
        </p:txBody>
      </p:sp>
      <p:sp>
        <p:nvSpPr>
          <p:cNvPr id="3" name="Text Placeholder 2"/>
          <p:cNvSpPr>
            <a:spLocks noGrp="1"/>
          </p:cNvSpPr>
          <p:nvPr>
            <p:ph type="body" idx="1"/>
          </p:nvPr>
        </p:nvSpPr>
        <p:spPr/>
        <p:txBody>
          <a:bodyPr wrap="square"/>
          <a:lstStyle/>
          <a:p>
            <a:r>
              <a:rPr sz="1300"/>
              <a:t>Mechanism | What the maker needs to understand</a:t>
            </a:r>
          </a:p>
          <a:p>
            <a:r>
              <a:rPr sz="1300"/>
              <a:t>HTTP tool | A defined endpoint, request contract, and response</a:t>
            </a:r>
          </a:p>
          <a:p>
            <a:r>
              <a:rPr sz="1300"/>
              <a:t>MCP server | Available capabilities, their descriptions, and server access</a:t>
            </a:r>
          </a:p>
          <a:p>
            <a:r>
              <a:rPr sz="1300"/>
              <a:t>Both | Identity, permitted data, errors, and approval</a:t>
            </a:r>
          </a:p>
          <a:p>
            <a:r>
              <a:rPr sz="1300"/>
              <a:t>This workshop | One native agent flow; other mechanisms are comparisons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When another agent helps</a:t>
            </a:r>
          </a:p>
        </p:txBody>
      </p:sp>
      <p:sp>
        <p:nvSpPr>
          <p:cNvPr id="3" name="Text Placeholder 2"/>
          <p:cNvSpPr>
            <a:spLocks noGrp="1"/>
          </p:cNvSpPr>
          <p:nvPr>
            <p:ph type="body" idx="1"/>
          </p:nvPr>
        </p:nvSpPr>
        <p:spPr/>
        <p:txBody>
          <a:bodyPr wrap="square"/>
          <a:lstStyle/>
          <a:p>
            <a:r>
              <a:rPr sz="1500"/>
              <a:t>Parent agent</a:t>
            </a:r>
          </a:p>
          <a:p>
            <a:r>
              <a:rPr sz="1500"/>
              <a:t>Child agent: specialized work</a:t>
            </a:r>
          </a:p>
          <a:p>
            <a:r>
              <a:rPr sz="1500"/>
              <a:t>Connected agent: separately managed</a:t>
            </a:r>
          </a:p>
          <a:p>
            <a:r>
              <a:rPr sz="1500"/>
              <a:t>A2A: a protocol for agent communication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Authority and human handoff</a:t>
            </a:r>
          </a:p>
        </p:txBody>
      </p:sp>
      <p:sp>
        <p:nvSpPr>
          <p:cNvPr id="3" name="Text Placeholder 2"/>
          <p:cNvSpPr>
            <a:spLocks noGrp="1"/>
          </p:cNvSpPr>
          <p:nvPr>
            <p:ph type="body" idx="1"/>
          </p:nvPr>
        </p:nvSpPr>
        <p:spPr/>
        <p:txBody>
          <a:bodyPr wrap="square"/>
          <a:lstStyle/>
          <a:p>
            <a:r>
              <a:rPr sz="1300"/>
              <a:t>Claim | Evidence required</a:t>
            </a:r>
          </a:p>
          <a:p>
            <a:r>
              <a:rPr sz="1300"/>
              <a:t>“Contact your mentor” | A truthful route the user can take</a:t>
            </a:r>
          </a:p>
          <a:p>
            <a:r>
              <a:rPr sz="1300"/>
              <a:t>“I submitted your request” | A real authorized operation and returned receipt</a:t>
            </a:r>
          </a:p>
          <a:p>
            <a:r>
              <a:rPr sz="1300"/>
              <a:t>“You are connected to a person” | A supported handoff and accepted transfer</a:t>
            </a:r>
          </a:p>
          <a:p>
            <a:r>
              <a:rPr sz="1300"/>
              <a:t>“The tool can access this data” | The intended identity and policy allow that access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Your tool decision</a:t>
            </a:r>
          </a:p>
        </p:txBody>
      </p:sp>
      <p:sp>
        <p:nvSpPr>
          <p:cNvPr id="3" name="Text Placeholder 2"/>
          <p:cNvSpPr>
            <a:spLocks noGrp="1"/>
          </p:cNvSpPr>
          <p:nvPr>
            <p:ph type="body" idx="1"/>
          </p:nvPr>
        </p:nvSpPr>
        <p:spPr/>
        <p:txBody>
          <a:bodyPr wrap="square"/>
          <a:lstStyle/>
          <a:p>
            <a:r>
              <a:rPr sz="1500"/>
              <a:t>For Contoso: name the input and expected output</a:t>
            </a:r>
          </a:p>
          <a:p>
            <a:r>
              <a:rPr sz="1500"/>
              <a:t>Distinguish an unsupported focus from an unavailable tool</a:t>
            </a:r>
          </a:p>
          <a:p>
            <a:r>
              <a:rPr sz="1500"/>
              <a:t>Name one request that needs a human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10-minute break</a:t>
            </a:r>
            <a:br/>
            <a:r>
              <a:rPr sz="1500"/>
              <a:t>Return at noon Central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Segment 4</a:t>
            </a:r>
            <a:br/>
            <a:r>
              <a:rPr sz="1500"/>
              <a:t>Operate: evaluate, govern, publish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Two evaluation sets, two questions</a:t>
            </a:r>
          </a:p>
        </p:txBody>
      </p:sp>
      <p:sp>
        <p:nvSpPr>
          <p:cNvPr id="3" name="Text Placeholder 2"/>
          <p:cNvSpPr>
            <a:spLocks noGrp="1"/>
          </p:cNvSpPr>
          <p:nvPr>
            <p:ph type="body" idx="1"/>
          </p:nvPr>
        </p:nvSpPr>
        <p:spPr/>
        <p:txBody>
          <a:bodyPr wrap="square"/>
          <a:lstStyle/>
          <a:p>
            <a:r>
              <a:rPr sz="1300"/>
              <a:t>Prepared set | Question it answers</a:t>
            </a:r>
          </a:p>
          <a:p>
            <a:r>
              <a:rPr sz="1300"/>
              <a:t>AI901-live-three</a:t>
            </a:r>
            <a:br/>
            <a:r>
              <a:rPr sz="1300"/>
              <a:t>Compare meaning: E04, E05, E08 | Does the response match the expected meaning?</a:t>
            </a:r>
          </a:p>
          <a:p>
            <a:r>
              <a:rPr sz="1300"/>
              <a:t>AI901-tool-one</a:t>
            </a:r>
            <a:br/>
            <a:r>
              <a:rPr sz="1300"/>
              <a:t>Tool use: E08 only | Did it use the actual GetStudySession capability?</a:t>
            </a:r>
          </a:p>
          <a:p>
            <a:r>
              <a:rPr sz="1300"/>
              <a:t>Separate manual conversation | Did the topic wait, then give the correct feedback?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A score and an execution trace</a:t>
            </a:r>
          </a:p>
        </p:txBody>
      </p:sp>
      <p:sp>
        <p:nvSpPr>
          <p:cNvPr id="3" name="Text Placeholder 2"/>
          <p:cNvSpPr>
            <a:spLocks noGrp="1"/>
          </p:cNvSpPr>
          <p:nvPr>
            <p:ph type="body" idx="1"/>
          </p:nvPr>
        </p:nvSpPr>
        <p:spPr/>
        <p:txBody>
          <a:bodyPr wrap="square"/>
          <a:lstStyle/>
          <a:p>
            <a:r>
              <a:rPr sz="1500"/>
              <a:t>Same test set</a:t>
            </a:r>
          </a:p>
          <a:p>
            <a:r>
              <a:rPr sz="1500"/>
              <a:t>Run before</a:t>
            </a:r>
          </a:p>
          <a:p>
            <a:r>
              <a:rPr sz="1500"/>
              <a:t>One change</a:t>
            </a:r>
          </a:p>
          <a:p>
            <a:r>
              <a:rPr sz="1500"/>
              <a:t>Run after</a:t>
            </a:r>
          </a:p>
          <a:p>
            <a:r>
              <a:rPr sz="1500"/>
              <a:t>Compare individual cases</a:t>
            </a:r>
          </a:p>
          <a:p>
            <a:r>
              <a:rPr sz="1500"/>
              <a:t>Inspect source and tool trace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Usage signals need interpretation</a:t>
            </a:r>
          </a:p>
        </p:txBody>
      </p:sp>
      <p:sp>
        <p:nvSpPr>
          <p:cNvPr id="3" name="Text Placeholder 2"/>
          <p:cNvSpPr>
            <a:spLocks noGrp="1"/>
          </p:cNvSpPr>
          <p:nvPr>
            <p:ph type="body" idx="1"/>
          </p:nvPr>
        </p:nvSpPr>
        <p:spPr/>
        <p:txBody>
          <a:bodyPr wrap="square"/>
          <a:lstStyle/>
          <a:p>
            <a:r>
              <a:rPr sz="1200"/>
              <a:t>Signal | What it does and doesn’t tell us</a:t>
            </a:r>
          </a:p>
          <a:p>
            <a:r>
              <a:rPr sz="1200"/>
              <a:t>10 sessions: 9 did not escalate | 90% containment proxy</a:t>
            </a:r>
          </a:p>
          <a:p>
            <a:r>
              <a:rPr sz="1200"/>
              <a:t>6 resolved; 3 abandoned; 1 escalated | 60% resolution; 30% abandonment</a:t>
            </a:r>
          </a:p>
          <a:p>
            <a:r>
              <a:rPr sz="1200"/>
              <a:t>4 survey responses | The survey describes those 4 respondents</a:t>
            </a:r>
          </a:p>
          <a:p>
            <a:r>
              <a:rPr sz="1200"/>
              <a:t>High containment and wrong answers | Inspect outcomes, transcripts, and source evidence together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Five Well-Architected concerns</a:t>
            </a:r>
          </a:p>
        </p:txBody>
      </p:sp>
      <p:sp>
        <p:nvSpPr>
          <p:cNvPr id="3" name="Text Placeholder 2"/>
          <p:cNvSpPr>
            <a:spLocks noGrp="1"/>
          </p:cNvSpPr>
          <p:nvPr>
            <p:ph type="body" idx="1"/>
          </p:nvPr>
        </p:nvSpPr>
        <p:spPr/>
        <p:txBody>
          <a:bodyPr wrap="square"/>
          <a:lstStyle/>
          <a:p>
            <a:r>
              <a:rPr sz="1200"/>
              <a:t>Concern | Control for the study assistant</a:t>
            </a:r>
          </a:p>
          <a:p>
            <a:r>
              <a:rPr sz="1200"/>
              <a:t>Reliability | Tool failure has a clear recovery path.</a:t>
            </a:r>
          </a:p>
          <a:p>
            <a:r>
              <a:rPr sz="1200"/>
              <a:t>Security | Use the intended identity and approved sources.</a:t>
            </a:r>
          </a:p>
          <a:p>
            <a:r>
              <a:rPr sz="1200"/>
              <a:t>Operational Excellence | An owner reviews repeatable tests and incidents.</a:t>
            </a:r>
          </a:p>
          <a:p>
            <a:r>
              <a:rPr sz="1200"/>
              <a:t>Performance Efficiency | Measure response time and unnecessary tool work.</a:t>
            </a:r>
          </a:p>
          <a:p>
            <a:r>
              <a:rPr sz="1200"/>
              <a:t>Experience Optimization | Wait for the learner; give useful feedback and a next step.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Publishing and audience access</a:t>
            </a:r>
          </a:p>
        </p:txBody>
      </p:sp>
      <p:sp>
        <p:nvSpPr>
          <p:cNvPr id="3" name="Text Placeholder 2"/>
          <p:cNvSpPr>
            <a:spLocks noGrp="1"/>
          </p:cNvSpPr>
          <p:nvPr>
            <p:ph type="body" idx="1"/>
          </p:nvPr>
        </p:nvSpPr>
        <p:spPr/>
        <p:txBody>
          <a:bodyPr wrap="square"/>
          <a:lstStyle/>
          <a:p>
            <a:r>
              <a:rPr sz="1500"/>
              <a:t>Tested draft</a:t>
            </a:r>
          </a:p>
          <a:p>
            <a:r>
              <a:rPr sz="1500"/>
              <a:t>Publish configured version</a:t>
            </a:r>
          </a:p>
          <a:p>
            <a:r>
              <a:rPr sz="1500"/>
              <a:t>Scoped channel and access</a:t>
            </a:r>
          </a:p>
          <a:p>
            <a:r>
              <a:rPr sz="1500"/>
              <a:t>Fresh session with actual user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Channel choice changes the checks</a:t>
            </a:r>
          </a:p>
        </p:txBody>
      </p:sp>
      <p:sp>
        <p:nvSpPr>
          <p:cNvPr id="3" name="Text Placeholder 2"/>
          <p:cNvSpPr>
            <a:spLocks noGrp="1"/>
          </p:cNvSpPr>
          <p:nvPr>
            <p:ph type="body" idx="1"/>
          </p:nvPr>
        </p:nvSpPr>
        <p:spPr/>
        <p:txBody>
          <a:bodyPr wrap="square"/>
          <a:lstStyle/>
          <a:p>
            <a:r>
              <a:rPr sz="1300"/>
              <a:t>Channel | Preparation to verify</a:t>
            </a:r>
          </a:p>
          <a:p>
            <a:r>
              <a:rPr sz="1300"/>
              <a:t>Teams: course demonstration | Entitlement, scoped access, installation, fresh conversation</a:t>
            </a:r>
          </a:p>
          <a:p>
            <a:r>
              <a:rPr sz="1300"/>
              <a:t>SharePoint: comparison | Site permission, published agent, allowed deployment</a:t>
            </a:r>
          </a:p>
          <a:p>
            <a:r>
              <a:rPr sz="1300"/>
              <a:t>Microsoft 365 Copilot: comparison | Channel configuration and approved audience</a:t>
            </a:r>
          </a:p>
          <a:p>
            <a:r>
              <a:rPr sz="1300"/>
              <a:t>Every channel | Actual user access, source permissions, and behavior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Your pilot decision</a:t>
            </a:r>
          </a:p>
        </p:txBody>
      </p:sp>
      <p:sp>
        <p:nvSpPr>
          <p:cNvPr id="3" name="Text Placeholder 2"/>
          <p:cNvSpPr>
            <a:spLocks noGrp="1"/>
          </p:cNvSpPr>
          <p:nvPr>
            <p:ph type="body" idx="1"/>
          </p:nvPr>
        </p:nvSpPr>
        <p:spPr/>
        <p:txBody>
          <a:bodyPr wrap="square"/>
          <a:lstStyle/>
          <a:p>
            <a:r>
              <a:rPr sz="1500"/>
              <a:t>Name one agent worth piloting</a:t>
            </a:r>
          </a:p>
          <a:p>
            <a:r>
              <a:rPr sz="1500"/>
              <a:t>Choose its users, owner, data boundary, and stop condition</a:t>
            </a:r>
          </a:p>
          <a:p>
            <a:r>
              <a:rPr sz="1500"/>
              <a:t>Cite one result and label its evidence source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same pattern at work</a:t>
            </a:r>
          </a:p>
        </p:txBody>
      </p:sp>
      <p:sp>
        <p:nvSpPr>
          <p:cNvPr id="3" name="Text Placeholder 2"/>
          <p:cNvSpPr>
            <a:spLocks noGrp="1"/>
          </p:cNvSpPr>
          <p:nvPr>
            <p:ph type="body" idx="1"/>
          </p:nvPr>
        </p:nvSpPr>
        <p:spPr/>
        <p:txBody>
          <a:bodyPr wrap="square"/>
          <a:lstStyle/>
          <a:p>
            <a:r>
              <a:rPr sz="1300"/>
              <a:t>Course component | Workplace transfer</a:t>
            </a:r>
          </a:p>
          <a:p>
            <a:r>
              <a:rPr sz="1300"/>
              <a:t>AI-901 reference | Approved internal knowledge</a:t>
            </a:r>
          </a:p>
          <a:p>
            <a:r>
              <a:rPr sz="1300"/>
              <a:t>Practice topic | A controlled training or triage interaction</a:t>
            </a:r>
          </a:p>
          <a:p>
            <a:r>
              <a:rPr sz="1300"/>
              <a:t>Study-session tool | One bounded lookup or operation</a:t>
            </a:r>
          </a:p>
          <a:p>
            <a:r>
              <a:rPr sz="1300"/>
              <a:t>Pilot decision | Named audience, owner, evidence, and stop condition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The four outcomes in practice</a:t>
            </a:r>
          </a:p>
        </p:txBody>
      </p:sp>
      <p:sp>
        <p:nvSpPr>
          <p:cNvPr id="3" name="Text Placeholder 2"/>
          <p:cNvSpPr>
            <a:spLocks noGrp="1"/>
          </p:cNvSpPr>
          <p:nvPr>
            <p:ph type="body" idx="1"/>
          </p:nvPr>
        </p:nvSpPr>
        <p:spPr/>
        <p:txBody>
          <a:bodyPr wrap="square"/>
          <a:lstStyle/>
          <a:p>
            <a:r>
              <a:rPr sz="1500"/>
              <a:t>Plan: a brief with a testable boundary</a:t>
            </a:r>
          </a:p>
          <a:p>
            <a:r>
              <a:rPr sz="1500"/>
              <a:t>Build: source evidence and a topic that waits</a:t>
            </a:r>
          </a:p>
          <a:p>
            <a:r>
              <a:rPr sz="1500"/>
              <a:t>Extend: a tool contract and a human boundary</a:t>
            </a:r>
          </a:p>
          <a:p>
            <a:r>
              <a:rPr sz="1500"/>
              <a:t>Operate: test evidence and a defensible pilot decision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Warner's Laws of Agent Building</a:t>
            </a:r>
          </a:p>
        </p:txBody>
      </p:sp>
      <p:sp>
        <p:nvSpPr>
          <p:cNvPr id="3" name="Text Placeholder 2"/>
          <p:cNvSpPr>
            <a:spLocks noGrp="1"/>
          </p:cNvSpPr>
          <p:nvPr>
            <p:ph type="body" idx="1"/>
          </p:nvPr>
        </p:nvSpPr>
        <p:spPr/>
        <p:txBody>
          <a:bodyPr wrap="square"/>
          <a:lstStyle/>
          <a:p>
            <a:r>
              <a:rPr sz="1200"/>
              <a:t>1.  A fluent answer isn't proof that a tool ran. Go read the activity record.</a:t>
            </a:r>
          </a:p>
          <a:p>
            <a:r>
              <a:rPr sz="1200"/>
              <a:t>2.  Instructions steer behavior. They never grant permission.</a:t>
            </a:r>
          </a:p>
          <a:p>
            <a:r>
              <a:rPr sz="1200"/>
              <a:t>3.  If the agent doesn't wait, it isn't teaching. It's lecturing.</a:t>
            </a:r>
          </a:p>
          <a:p>
            <a:r>
              <a:rPr sz="1200"/>
              <a:t>4.  Ground it or don't claim it. A citation is something you inspect.</a:t>
            </a:r>
          </a:p>
          <a:p>
            <a:r>
              <a:rPr sz="1200"/>
              <a:t>5.  Name the boundary before you name the features.</a:t>
            </a:r>
          </a:p>
          <a:p>
            <a:r>
              <a:rPr sz="1200"/>
              <a:t>6.  A green score on the wrong test set is just a nicer way to be wrong.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500"/>
              <a:t>Thank you for attending</a:t>
            </a:r>
          </a:p>
        </p:txBody>
      </p:sp>
      <p:sp>
        <p:nvSpPr>
          <p:cNvPr id="3" name="Text Placeholder 2"/>
          <p:cNvSpPr>
            <a:spLocks noGrp="1"/>
          </p:cNvSpPr>
          <p:nvPr>
            <p:ph type="body" idx="1"/>
          </p:nvPr>
        </p:nvSpPr>
        <p:spPr/>
        <p:txBody>
          <a:bodyPr wrap="square"/>
          <a:lstStyle/>
          <a:p>
            <a:r>
              <a:rPr sz="1300"/>
              <a:t>Please complete the course evaluation</a:t>
            </a:r>
          </a:p>
          <a:p/>
          <a:p>
            <a:r>
              <a:rPr sz="1300"/>
              <a:t>Session materials:  github.com/timothywarner-org/oreilly-copilot-studio-agents</a:t>
            </a:r>
          </a:p>
          <a:p>
            <a:r>
              <a:rPr sz="1300"/>
              <a:t>Tim Warner  |  timw.info  |  techtrainertim.com</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882</Words>
  <Application>Microsoft Macintosh PowerPoint</Application>
  <PresentationFormat>On-screen Show (16:9)</PresentationFormat>
  <Paragraphs>105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Poppins</vt:lpstr>
      <vt:lpstr>Poppins SemiBold</vt:lpstr>
      <vt:lpstr>Simple Light</vt:lpstr>
      <vt:lpstr>O’Reilly Slides Template</vt:lpstr>
      <vt:lpstr>O’Reilly Slides Template </vt:lpstr>
      <vt:lpstr>Content Slide Insert subtitle here...</vt:lpstr>
      <vt:lpstr>Your learning partner An ecosystem of learning and training, all in one place</vt:lpstr>
      <vt:lpstr>Our customers innovate When the going gets tough, the tough get learning</vt:lpstr>
      <vt:lpstr>3 Items Insert subtitle here...</vt:lpstr>
      <vt:lpstr>Table Slide Insert subtitle here...</vt:lpstr>
      <vt:lpstr>Image Slide Placeholder  Insert subtitle here...</vt:lpstr>
      <vt:lpstr>Image Slide Insert subtitle here...</vt:lpstr>
      <vt:lpstr>Screenshot Slide Insert subtitle here...</vt:lpstr>
      <vt:lpstr>Screenshot Slide Insert subtitle here...</vt:lpstr>
      <vt:lpstr>Logo Slide 1 Insert subtitle here...</vt:lpstr>
      <vt:lpstr>Logo Slide 2 Insert subtitle here...</vt:lpstr>
      <vt:lpstr>Logo Slide 3 Insert subtitle here...</vt:lpstr>
      <vt:lpstr>Transition Slide for Long Titles Insert subtitle here...</vt:lpstr>
      <vt:lpstr>Major Transition Insert subtitle here...</vt:lpstr>
      <vt:lpstr>Transition Slide for Long Titles Insert subtitle here...</vt:lpstr>
      <vt:lpstr>Major Transition Insert subtitle here...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O’Reilly Slides Template</dc:title>
  <cp:lastModifiedBy>jbaker</cp:lastModifiedBy>
  <cp:revision>2</cp:revision>
  <dcterms:modified xsi:type="dcterms:W3CDTF">2026-08-30T22:43:12Z</dcterms:modified>
</cp:coreProperties>
</file>