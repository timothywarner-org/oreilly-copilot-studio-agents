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78" r:id="rId1"/>
  </p:sldMasterIdLst>
  <p:notesMasterIdLst>
    <p:notesMasterId r:id="rId6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sldSz cx="9144000" cy="5143500" type="screen16x9"/>
  <p:notesSz cx="6858000" cy="9144000"/>
  <p:embeddedFontLst>
    <p:embeddedFont>
      <p:font typeface="Poppins" panose="00000500000000000000" pitchFamily="2" charset="0"/>
      <p:regular r:id="rId69"/>
      <p:bold r:id="rId70"/>
      <p:italic r:id="rId71"/>
      <p:boldItalic r:id="rId72"/>
    </p:embeddedFont>
    <p:embeddedFont>
      <p:font typeface="Poppins SemiBold" panose="00000700000000000000" pitchFamily="2" charset="0"/>
      <p:regular r:id="rId73"/>
      <p:bold r:id="rId74"/>
      <p:italic r:id="rId75"/>
      <p:boldItalic r:id="rId7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BC36E57-C8FC-42D9-9C08-652FC2493DDB}">
  <a:tblStyle styleId="{2BC36E57-C8FC-42D9-9C08-652FC2493DD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0"/>
    <p:restoredTop sz="94688"/>
  </p:normalViewPr>
  <p:slideViewPr>
    <p:cSldViewPr snapToGrid="0" snapToObjects="1">
      <p:cViewPr varScale="1">
        <p:scale>
          <a:sx n="165" d="100"/>
          <a:sy n="165" d="100"/>
        </p:scale>
        <p:origin x="112" y="10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font" Target="fonts/font6.fntdata"/><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1.fntdata"/><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4.fntdata"/><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2.fntdata"/><Relationship Id="rId75"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5.fntdata"/><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8.fntdata"/><Relationship Id="rId7" Type="http://schemas.openxmlformats.org/officeDocument/2006/relationships/slide" Target="slides/slide6.xml"/><Relationship Id="rId71" Type="http://schemas.openxmlformats.org/officeDocument/2006/relationships/font" Target="fonts/font3.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Hello there, and welcome to Build AI Agents to Automate Your Workflows. Tim Warner here, and over the next four hours I'm gonna teach you to build a Copilot Studio agent that earns its keep. We're building the Contoso AI Fundamentals Coach, an agent that helps a colleague prepare for Azure AI Fundamentals, which is exam AI-901. We'll grow that same agent all morning. First it gets a clear job, then a trusted source, then a conversation that actually waits for an answer, then a bounded tool, and finally a pilot decision you can defend. The exam is just our subject matter. The design skill transfers straight to your help desk, your onboarding, and your internal knowledge work, and you won't write a line of code to get there.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Here's our shape for the morning, all times Central. Four segments, three ten-minute breaks, and a wrap-up at the end. I'll build one agent straight through all four, and you'll never need an account to take part. If you have to step away, the breaks land on the hour, so you can plan around them.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Everything I use today lives in one public-facing repo, and I'd rather you had the link now than hunt for it later. You'll find the agent kit, the four labs, the worksheets, and a verified link register with every Microsoft Learn page behind this course. Grab it now, because the demos move quickly and I want you following along rather than transcribing.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Segment one. Before anybody touches a control, we decide what this agent is for and what it must refuse. A brief you can't test is just a wish, so we'll write one that ends in a measurable boundary.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These four outcomes are what you signed up for, so let's be straight about how we'll hit them. I'll build one agent across four segments and show you the evidence behind every change, not just the happy-path chat. You don't need a tenant to take part, because every exercise is a prediction, a diagnosis, or a design decision you can make on paper. If your account's ready, follow along, and the full recipes are in the repo for later.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Read this diagram from the user's message toward the capabilities. A channel carries the conversation in, and a trigger starts the work. With generative orchestration turned on, the agent reads your descriptions and picks what to use: knowledge, topics, tools, or several at once. Knowledge contributes reference material, topics hold the dialogue you authored, and tools run a defined operation. Instructions steer behavior, but here's the part people skip past: instructions don't grant data access and they don't guarantee a correct answer. A conversational trigger and an event trigger are different front doors, and today we're using the conversational one. Treat this as a conceptual map, not a guaranteed execution order.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Contoso's a fictional company and this is a fictional enablement program, so nothing here is a real customer. Our user has twenty or thirty minutes to study and keeps tripping over unfamiliar AI concepts. You're the maker, which means the quality of that experience sits with you. The agent explains one narrow concept, asks an original practice question, waits for the answer, and then gives feedback. It can hand back a reviewed study session. It can't book an exam, it doesn't know anyone's personal calendar, and it won't promise a passing score. Hold onto that last part, because most of today's interesting decisions sit right on that boundary.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Read the persona and the job together, because a brief you can't test is just a wish. Ask yourself what evidence would separate a genuinely helpful answer from a confident invention, and write that down as your metric. Ours is zero invented policy answers across the boundary cases we actually run. Notice the hedge in that sentence, because it covers the cases we run and it isn't a guarantee about every future response. Save the brief before you open a single authoring control. A small topic and tool inventory pays you back later, because when something odd happens you can tell which capability got selected.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 purpose on your topic map doesn't automatically need its own authored topic, and that's worth internalizing early. Overview and search can both ride on grounded answers. Practice is different, because we need the agent to stop and wait for new thinking from the learner, and that takes a controlled dialogue. Study planning goes to the tool we build in segment three. Fallback explains what the agent couldn't do and offers a next step that's actually true. We'll author the practice sequence explicitly and inspect the fallback path. Write descriptions that genuinely distinguish these purposes, because that's exactly what orchestration reads when it chooses.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Let me show you the official trial route, straight from the current Get access article on Microsoft Learn. You enter a work or school email, select Next, and follow whatever prompts that account gets. Now I won't pretend there's one universal screen sequence here, because tenant configuration and existing entitlement change what appears. I'm using an instructor-controlled account for this, and you can watch the whole route without creating anything today. And if the account's already licensed, I'll say so and explain what we're actually looking at rather than dressing it up as a fresh trial. That kind of honesty about your own demo environment is worth more than a polished lie.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Here's the honest shape of trial access. You can author and you can test, but you can't publish. A personal email address or an organizational self-service restriction can stop sign-up cold, and the fix is the documented administrator route, not a policy you change on the fly during a class. Watch the two expiry clocks as well, because the trial license and the trial environment aren't the same thing. Read the actual notices in your own tenant instead of trusting a sixty-day number you half-remember. Save your work through the documented process before anything expires. Nothing today depends on you finishing sign-up.</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Now we're cooking with gas. I'll create a blank agent in the documented standard experience, check the orchestration setting and the approved model, and save the instructions. Then I'll run the exam appointment prompt in a fresh conversation. Watch what happens, because the source can't know a personal fact like that, and this is our first honest boundary test. Inspect the response rather than assuming the instruction did its job. That's the habit I want you carrying out of this room. While I demo, you write one instruction, one topic purpose, and one metric. No account needed, and we aren't spending this whole segment on sign-up screens.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Take the scheduled ten minutes. The teaching clock stops here.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Segment two. Now we give the agent something true to say and a conversation that genuinely waits for the learner. Grounding and a real wait point are what separate a study assistant from a chatbot with opinions.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Grounding means the agent pulls evidence from a reference at response time instead of leaning on whatever the model already absorbed. We'll use the small Contoso AI concepts file so we can inspect a source we actually know. That file's course-authored teaching material grounded in Microsoft Learn, and it isn't a Microsoft publication or a complete exam syllabus. I'll ask which responsible AI principle covers telling somebody they're talking to a bot, then compare the generated answer against the passage behind it. A citation's something you inspect, not an accuracy certificate. We'll test the unsupported appointment question separately. This diagram explains retrieval conceptually, and it isn't a promise that every answer takes this path.</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Agent-level knowledge is available broadly across the conversation. A generative answers node can narrow to a selected source scope, and you'll want to inspect its Search only selected sources setting rather than guessing at it. Don't teach upload order as source priority, because there's no first-uploaded-wins rule in there. Names and descriptions are what drive selection. For this controlled build I'm turning off broad web search and ungrounded responses, and then testing. Those settings have limits and they don't guarantee every claim is correct. The guide records current size and source-count limits with the docs. One small text file is a teaching choice that keeps setup quick, not a product ceiling.</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Here's a trap worth naming out loud. A question mark inside a Message node doesn't make the agent wait for anything at all. You need a Question node with real multiple-choice options and a saved response variable. Set it to ask every time, because a practice answer has to come from the learner right now, not from something they said earlier in the conversation. The correct branch and the incorrect branches should explain genuinely different things. An unmatched answer needs an honest recovery. I'll test the first turn to prove the answer key stays hidden, then reply to check the feedback.</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Automatic input filling earns its place when the conversation already tells us which focus the learner wants. It's the wrong tool for collecting a fresh quiz answer, and that distinction matters more than it looks. The proposal uses the term AutomaticTaskInput. What's documented in the authoring experience today is Dynamically fill with the best option, with a separate Should prompt user control. So we'll teach the documented controls, and I won't claim the proposal term is a current interface label or invent YAML for it. I'll show you the difference on a tool input and on a Question node, then get back to the build.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 good failure response names what's missing and gives a next step that genuinely exists. We'll inspect both the authored topic's recovery and the system fallback route, because instructions alone won't change a system fallback message. And a topic named Escalate doesn't prove a single human was contacted. Use the fallback and escalation guidance so you don't promise a transfer you can't deliver. Then we'll debrief what we saw: the source passage, the wait point, the branch-specific feedback, and the limitation. Ask yourself which of those you'd have missed if you'd only watched a polished final chat transcript.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Take the scheduled ten minutes. The teaching clock stops here.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Segment three, and this is where it gets fun. We hand the agent one bounded tool, then spend most of our time on the harder question: where its authority stops and a human's begins.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right next step depends entirely on the job in front of the agent. Use these four requests to separate generating a supported answer from collecting information and from running an operation. Our tool returns a fixed, reviewed session, which gives us an unambiguous capability boundary to look at, and it doesn't write to any external system. Now ask yourself why a booking request belongs outside this agent's authority, because that's the real lesson on this slide. I'd rather keep the tool demo focused on input, execution, and evidence than bolt on a connector just to make the thing look impressive.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input's one Text value: responsible-ai, workloads, or foundry. Those are Contoso teaching shortcuts, and I want to be precise here, because they aren't the official AI-901 skill area names. The outputs are status and plan, both Text. A supported focus returns ok plus a reviewed thirty-minute session. An unsupported value like quantum returns unsupported and a reminder of the choices. A runtime failure's a different animal from an unsupported value, and we'll test those separately. The flow never books, mails, or updates a record. This becomes a real tool pattern once the flow's built and bound, because the fixture on its own isn't a deployed flow.</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Let's get the vocabulary straight, because this trips people up constantly. The tool is the capability the agent can call. The agent flow implements that capability, and the designer's actions are steps inside it. Follow the native recipe: when an agent calls the flow, initialize String variables for status and plan at the top level, evaluate three conditions, and respond exactly once after the branches. Keep the default unsupported response unless a supported focus matches. That native response is synchronous, so it has to meet the documented timeout. We don't need loops, arrays, or a hosted API to teach this first boundary.</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my favorite few minutes of the whole morning. I'll run the direct flow test first, then request the responsible-ai session through the agent. Then we inspect the actual input and the returned status and plan in the activity view. Count the allocation with me: ten minutes reading, ten minutes working an example, five minutes recalling without notes, and five minutes checking against Microsoft Learn. We'll test unsupported input and tool unavailability as two separate conditions. These slide values describe the expected contract, and they aren't results we observed while writing the course. If I play a rehearsal recording, I'll tell you it's a recording first.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An HTTP tool calls one defined web operation. Model Context Protocol gives you a way to expose discoverable tools and resources through a server, and the reviewed Copilot Studio integration for it requires generative orchestration. Neither mechanism grants permission just by being connected, and that's the sentence I'd underline twice. For Contoso, a future approved learning catalog might expose one web operation, or a server with several described tools. We aren't building either integration in this first tool lesson. What you need to explain is which boundary each one introduces and which identity does the calling. Keep authentication, endpoint restrictions, and data policy inside that decision.</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Now you might be thinking, hang on Tim, everybody's shipping multi-agent systems right now, so why are we staying with one? Because you add specialization when another agent has a genuinely distinct job or a different owner, not because multi-agent sounds impressive on a slide. A child agent's organized inside a parent. A connected agent can be managed separately. Agent-to-agent describes an interoperability protocol rather than a third ownership model. Current Microsoft guidance also lists connections involving Microsoft Foundry, Fabric, and the Microsoft 365 Agents SDK, and their prerequisites differ. Those are extension awareness today, not working course integrations. So what new responsibility would justify a second agent?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Don't confuse a friendly sentence with a completed business operation. That's the whole slide, honestly. A referral tells the user where to go. Submitting a request requires a real authorized connector and a returned receipt proving it went through. A live transfer requires a supported integration and an accepted handoff on the other end. Our course agent only offers a mentor referral, and it says so plainly. The same logic applies to authentication, because instructions can't grant permissions. Check the execution identity, the connector policy, and the allowed data before you add a tool or an external model, and use synthetic content for the exercise.</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Three minutes, everybody, on the same Contoso contract. No account and no flow attachment needed. Give me the input, the two output fields, and one request the tool should refuse as unsupported. Then I'll use the prepared agent and flow to inspect real execution evidence, and we'll revisit the failures together. Keep your predictions labeled as predictions until we've actually observed something, because that discipline is most of what separates a working agent from a demo that fooled everybody. The independent tool lab stays available after class for anyone who wants to build it themselves.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Take the scheduled ten minutes. The teaching clock stops here.</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Segment four. Everything so far was building. This is the part that decides whether anyone else should be allowed to use the thing, and we'll answer it with evidence rather than enthusiasm.</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start from prepared native sets so we spend our time interpreting results instead of typing test cases. AI901-live-three uses Compare meaning across E04, E05, and E08, each with an expected response. AI901-tool-one uses Tool use only for E08 and selects the actual GetStudySession capability. Remove the default General quality method when you're building deliberately focused sets like these. Methods get configured on the set, so leaving expected tools blank on the other two cases produces Invalid results for that method rather than a clean skip. The eighty-percent meaning threshold's our course choice, not a Microsoft recommendation. And single-response grading never simulates answering the quiz.</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Run the same prepared set before your change and after it. One change, not five. Open a failed case, read the expected response against the actual one, then inspect the activity map for the knowledge passage or the tool call behind it. A generated grading rationale can be wrong, so verify the underlying evidence rather than trusting the score on its face. Compare the same set, not different questions that happen to produce a friendlier number. If you change the agent model, record the approved configuration and rerun the same cases. Export genuine results with the documented control, and never pass authored expectations off as an executed report.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Everything on this slide is synthetic discussion data rather than tenant telemetry, and I'll say that again before we leave it. In the guide's ten-session example, nine sessions didn't escalate, but only six actually resolved. Three were abandoned and one escalated. So a ninety-percent containment proxy sits right next to a sixty-percent resolution rate, and that gap is the entire lesson. The survey describes its four respondents, not your user base. Test-panel traffic's excluded from Monitor, and channel data can arrive late. Read resolution, abandonment, transcripts, feedback, and response time together, because any one of them alone will mislead you.</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Use the Power Platform framework as a thinking tool rather than reciting five labels back at people. Reliability means a useful recovery when the tool's unavailable. Security means an approved identity and permitted data. Operational excellence means repeatable tests and an owner who can actually respond when something breaks. Performance efficiency means measuring response time and unnecessary tool work instead of assuming a longer answer's a better one. Experience optimization means the learner gets useful feedback, understands the limitation, and can reach a real next step. These are course examples of the framework applied, not a Microsoft certification of our agent.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Publishing makes the configured version available to connected channels. It doesn't by itself establish who can use the thing, and that distinction catches people out constantly. I'll use an entitled instructor environment, a prepared scoped Teams channel, and a fresh conversation, then run one publish operation and two short checks, with the second-user access check prepared separately. I won't ask trial-only learners to publish, because current licensing guidance permits creation and testing but not publication. Environment separation, data policy, and an approved audience all belong in rollout planning. An installation link isn't evidence that anyone was actually granted access.</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Teams is our live channel today. SharePoint and Microsoft 365 Copilot are scoped comparisons, and each route carries its own setup, permissions, and availability. For SharePoint the maker needs the documented site access and deployment prerequisites. For Microsoft 365 Copilot, inspect the channel configuration and the approved audience rather than assuming your Teams setup lights up every surface. Test the fresh conversation behavior with the actual intended user. And here's a hard line from me: never use a public channel as a workaround for a private pilot that got blocked. That isn't a shortcut, that's a governance incident waiting to happen.</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Protect seven minutes for the Operate worksheet. A good candidate might be a small internal enablement pilot with approved content and a named owner. I want you to name what would stop the pilot, not just what would start it, because that's the part everybody skips. Use the synthetic case if you don't have real observations, and label the evidence for exactly what it is. A worksheet's evidence of your reasoning, and it isn't evidence that publishing or evaluation executed. Then I'd like one of you to challenge somebody else's pilot boundary using the five concerns.</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Transfer the architecture, not the exam subject. A help-desk agent could ground in approved support articles, use a topic for triage, and call one approved lookup. An onboarding assistant could ground in approved guidance and refer a sensitive case to a person. Every new scenario needs its own access review and its own evaluation cases. For follow-up, inspect a genuine topic capture in the native code editor or in VS Code. That YAML represents authored structure, and it isn't a magic portable deployment. The export guide walks the procedure, and the sanitized capture has to come from the teaching tenant before anybody distributes it.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Let's bring it home with the four outcomes. You planned a brief with a testable boundary. You grounded answers in a real source and built a topic that genuinely waits. You gave the agent a bounded tool and drew a human boundary around it. And you produced test evidence plus a pilot decision you can defend in a room full of stakeholders. Your brief, your prediction, your tool decision, and your pilot decision are real artifacts even without a tenant. A blocked operation stays unrun, and a prediction never counts as a passing test. I hope you found this session helpful, and I'll see you next time.</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 close every course with a short list of laws, because principles survive a product rename and screenshots don't. These six are the whole morning compressed. If you forget every click I showed you, keep these. Number one is the one I'd tattoo on the inside of your eyelids: a fluent answer isn't proof that a tool ran, and the only cure is to go and look at the execution record yourself.</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That's our four hours. Thank you for spending your morning with me, and please do fill in the course evaluation, because O'Reilly reads every one and it genuinely shapes what I get to teach next. All the materials stay in the repo, so nothing you saw today disappears when this window closes. I hope you found this session helpful, and I'll see you next time.</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_Blue Option 1">
  <p:cSld name="TITLE_2">
    <p:spTree>
      <p:nvGrpSpPr>
        <p:cNvPr id="1" name="Shape 12"/>
        <p:cNvGrpSpPr/>
        <p:nvPr/>
      </p:nvGrpSpPr>
      <p:grpSpPr>
        <a:xfrm>
          <a:off x="0" y="0"/>
          <a:ext cx="0" cy="0"/>
          <a:chOff x="0" y="0"/>
          <a:chExt cx="0" cy="0"/>
        </a:xfrm>
      </p:grpSpPr>
      <p:pic>
        <p:nvPicPr>
          <p:cNvPr id="13" name="Google Shape;13;p3"/>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497"/>
          </a:xfrm>
          <a:prstGeom prst="rect">
            <a:avLst/>
          </a:prstGeom>
          <a:noFill/>
          <a:ln>
            <a:noFill/>
          </a:ln>
        </p:spPr>
      </p:pic>
      <p:pic>
        <p:nvPicPr>
          <p:cNvPr id="14" name="Google Shape;14;p3"/>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506876" y="342900"/>
            <a:ext cx="1290750" cy="245250"/>
          </a:xfrm>
          <a:prstGeom prst="rect">
            <a:avLst/>
          </a:prstGeom>
          <a:noFill/>
          <a:ln>
            <a:noFill/>
          </a:ln>
        </p:spPr>
      </p:pic>
      <p:sp>
        <p:nvSpPr>
          <p:cNvPr id="15" name="Google Shape;15;p3"/>
          <p:cNvSpPr txBox="1">
            <a:spLocks noGrp="1"/>
          </p:cNvSpPr>
          <p:nvPr>
            <p:ph type="title"/>
          </p:nvPr>
        </p:nvSpPr>
        <p:spPr>
          <a:xfrm>
            <a:off x="506875" y="1200300"/>
            <a:ext cx="2888400" cy="1845000"/>
          </a:xfrm>
          <a:prstGeom prst="rect">
            <a:avLst/>
          </a:prstGeom>
          <a:noFill/>
          <a:ln>
            <a:noFill/>
          </a:ln>
        </p:spPr>
        <p:txBody>
          <a:bodyPr spcFirstLastPara="1" wrap="square" lIns="0" tIns="0" rIns="0" bIns="0" anchor="t" anchorCtr="0">
            <a:noAutofit/>
          </a:bodyPr>
          <a:lstStyle>
            <a:lvl1pPr lvl="0"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1pPr>
            <a:lvl2pPr lvl="1"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2pPr>
            <a:lvl3pPr lvl="2"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3pPr>
            <a:lvl4pPr lvl="3"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4pPr>
            <a:lvl5pPr lvl="4"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5pPr>
            <a:lvl6pPr lvl="5"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6pPr>
            <a:lvl7pPr lvl="6"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7pPr>
            <a:lvl8pPr lvl="7"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8pPr>
            <a:lvl9pPr lvl="8" rtl="0">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sym typeface="Poppins SemiBold"/>
              </a:defRPr>
            </a:lvl9pPr>
          </a:lstStyle>
          <a:p>
            <a:endParaRPr/>
          </a:p>
        </p:txBody>
      </p:sp>
      <p:sp>
        <p:nvSpPr>
          <p:cNvPr id="16" name="Google Shape;16;p3"/>
          <p:cNvSpPr txBox="1">
            <a:spLocks noGrp="1"/>
          </p:cNvSpPr>
          <p:nvPr>
            <p:ph type="subTitle" idx="1"/>
          </p:nvPr>
        </p:nvSpPr>
        <p:spPr>
          <a:xfrm>
            <a:off x="506875" y="3362325"/>
            <a:ext cx="2703300" cy="1438200"/>
          </a:xfrm>
          <a:prstGeom prst="rect">
            <a:avLst/>
          </a:prstGeom>
          <a:noFill/>
          <a:ln>
            <a:noFill/>
          </a:ln>
        </p:spPr>
        <p:txBody>
          <a:bodyPr spcFirstLastPara="1" wrap="square" lIns="0" tIns="0" rIns="0" bIns="0" anchor="b" anchorCtr="0">
            <a:noAutofit/>
          </a:bodyPr>
          <a:lstStyle>
            <a:lvl1pPr lvl="0"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1pPr>
            <a:lvl2pPr lvl="1"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2pPr>
            <a:lvl3pPr lvl="2"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3pPr>
            <a:lvl4pPr lvl="3"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4pPr>
            <a:lvl5pPr lvl="4"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5pPr>
            <a:lvl6pPr lvl="5"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6pPr>
            <a:lvl7pPr lvl="6"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7pPr>
            <a:lvl8pPr lvl="7"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8pPr>
            <a:lvl9pPr lvl="8"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_Blue Option 2">
  <p:cSld name="TITLE_1_1">
    <p:spTree>
      <p:nvGrpSpPr>
        <p:cNvPr id="1" name="Shape 22"/>
        <p:cNvGrpSpPr/>
        <p:nvPr/>
      </p:nvGrpSpPr>
      <p:grpSpPr>
        <a:xfrm>
          <a:off x="0" y="0"/>
          <a:ext cx="0" cy="0"/>
          <a:chOff x="0" y="0"/>
          <a:chExt cx="0" cy="0"/>
        </a:xfrm>
      </p:grpSpPr>
      <p:pic>
        <p:nvPicPr>
          <p:cNvPr id="23" name="Google Shape;23;p5"/>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497"/>
          </a:xfrm>
          <a:prstGeom prst="rect">
            <a:avLst/>
          </a:prstGeom>
          <a:noFill/>
          <a:ln>
            <a:noFill/>
          </a:ln>
        </p:spPr>
      </p:pic>
      <p:sp>
        <p:nvSpPr>
          <p:cNvPr id="24" name="Google Shape;24;p5"/>
          <p:cNvSpPr txBox="1">
            <a:spLocks noGrp="1"/>
          </p:cNvSpPr>
          <p:nvPr>
            <p:ph type="subTitle" idx="1"/>
          </p:nvPr>
        </p:nvSpPr>
        <p:spPr>
          <a:xfrm>
            <a:off x="506875" y="3362325"/>
            <a:ext cx="2739000" cy="1438200"/>
          </a:xfrm>
          <a:prstGeom prst="rect">
            <a:avLst/>
          </a:prstGeom>
          <a:noFill/>
          <a:ln>
            <a:noFill/>
          </a:ln>
        </p:spPr>
        <p:txBody>
          <a:bodyPr spcFirstLastPara="1" wrap="square" lIns="0" tIns="0" rIns="0" bIns="0" anchor="b" anchorCtr="0">
            <a:noAutofit/>
          </a:bodyPr>
          <a:lstStyle>
            <a:lvl1pPr lvl="0"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1pPr>
            <a:lvl2pPr lvl="1"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2pPr>
            <a:lvl3pPr lvl="2"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3pPr>
            <a:lvl4pPr lvl="3"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4pPr>
            <a:lvl5pPr lvl="4"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5pPr>
            <a:lvl6pPr lvl="5"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6pPr>
            <a:lvl7pPr lvl="6"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7pPr>
            <a:lvl8pPr lvl="7"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8pPr>
            <a:lvl9pPr lvl="8" rtl="0">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sym typeface="Poppins"/>
              </a:defRPr>
            </a:lvl9pPr>
          </a:lstStyle>
          <a:p>
            <a:endParaRPr/>
          </a:p>
        </p:txBody>
      </p:sp>
      <p:sp>
        <p:nvSpPr>
          <p:cNvPr id="25" name="Google Shape;25;p5"/>
          <p:cNvSpPr txBox="1">
            <a:spLocks noGrp="1"/>
          </p:cNvSpPr>
          <p:nvPr>
            <p:ph type="title"/>
          </p:nvPr>
        </p:nvSpPr>
        <p:spPr>
          <a:xfrm>
            <a:off x="506875" y="1878975"/>
            <a:ext cx="2703300" cy="1217400"/>
          </a:xfrm>
          <a:prstGeom prst="rect">
            <a:avLst/>
          </a:prstGeom>
          <a:noFill/>
          <a:ln>
            <a:noFill/>
          </a:ln>
        </p:spPr>
        <p:txBody>
          <a:bodyPr spcFirstLastPara="1" wrap="square" lIns="0" tIns="0" rIns="0" bIns="0" anchor="t" anchorCtr="0">
            <a:noAutofit/>
          </a:bodyPr>
          <a:lstStyle>
            <a:lvl1pPr lvl="0"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1pPr>
            <a:lvl2pPr lvl="1"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2pPr>
            <a:lvl3pPr lvl="2"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3pPr>
            <a:lvl4pPr lvl="3"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4pPr>
            <a:lvl5pPr lvl="4"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5pPr>
            <a:lvl6pPr lvl="5"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6pPr>
            <a:lvl7pPr lvl="6"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7pPr>
            <a:lvl8pPr lvl="7"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8pPr>
            <a:lvl9pPr lvl="8" rtl="0">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sym typeface="Poppins"/>
              </a:defRPr>
            </a:lvl9pPr>
          </a:lstStyle>
          <a:p>
            <a:endParaRPr/>
          </a:p>
        </p:txBody>
      </p:sp>
      <p:pic>
        <p:nvPicPr>
          <p:cNvPr id="26" name="Google Shape;26;p5"/>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506875" y="1200300"/>
            <a:ext cx="2810625" cy="5340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Option 1">
  <p:cSld name="CUSTOM">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
        <p:nvSpPr>
          <p:cNvPr id="29" name="Google Shape;29;p6"/>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6"/>
          <p:cNvSpPr txBox="1">
            <a:spLocks noGrp="1"/>
          </p:cNvSpPr>
          <p:nvPr>
            <p:ph type="body" idx="1"/>
          </p:nvPr>
        </p:nvSpPr>
        <p:spPr>
          <a:xfrm>
            <a:off x="506875" y="1878975"/>
            <a:ext cx="82326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sp>
        <p:nvSpPr>
          <p:cNvPr id="31" name="Google Shape;31;p6"/>
          <p:cNvSpPr txBox="1">
            <a:spLocks noGrp="1"/>
          </p:cNvSpPr>
          <p:nvPr>
            <p:ph type="body" idx="2"/>
          </p:nvPr>
        </p:nvSpPr>
        <p:spPr>
          <a:xfrm>
            <a:off x="506875" y="4800600"/>
            <a:ext cx="81303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pic>
        <p:nvPicPr>
          <p:cNvPr id="32" name="Google Shape;32;p6"/>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33" name="Google Shape;33;p6"/>
          <p:cNvSpPr txBox="1">
            <a:spLocks noGrp="1"/>
          </p:cNvSpPr>
          <p:nvPr>
            <p:ph type="sldNum" idx="12"/>
          </p:nvPr>
        </p:nvSpPr>
        <p:spPr>
          <a:xfrm>
            <a:off x="8739525" y="4930375"/>
            <a:ext cx="404400" cy="213000"/>
          </a:xfrm>
          <a:prstGeom prst="rect">
            <a:avLst/>
          </a:prstGeom>
        </p:spPr>
        <p:txBody>
          <a:bodyPr spcFirstLastPara="1" wrap="square" lIns="0" tIns="0" rIns="0" bIns="0" anchor="t" anchorCtr="0">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Option 2">
  <p:cSld name="CUSTOM_1">
    <p:spTree>
      <p:nvGrpSpPr>
        <p:cNvPr id="1" name="Shape 34"/>
        <p:cNvGrpSpPr/>
        <p:nvPr/>
      </p:nvGrpSpPr>
      <p:grpSpPr>
        <a:xfrm>
          <a:off x="0" y="0"/>
          <a:ext cx="0" cy="0"/>
          <a:chOff x="0" y="0"/>
          <a:chExt cx="0" cy="0"/>
        </a:xfrm>
      </p:grpSpPr>
      <p:sp>
        <p:nvSpPr>
          <p:cNvPr id="35" name="Google Shape;35;p7"/>
          <p:cNvSpPr txBox="1">
            <a:spLocks noGrp="1"/>
          </p:cNvSpPr>
          <p:nvPr>
            <p:ph type="body" idx="1"/>
          </p:nvPr>
        </p:nvSpPr>
        <p:spPr>
          <a:xfrm>
            <a:off x="506875" y="1878975"/>
            <a:ext cx="26520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sp>
        <p:nvSpPr>
          <p:cNvPr id="36" name="Google Shape;36;p7"/>
          <p:cNvSpPr txBox="1">
            <a:spLocks noGrp="1"/>
          </p:cNvSpPr>
          <p:nvPr>
            <p:ph type="body" idx="2"/>
          </p:nvPr>
        </p:nvSpPr>
        <p:spPr>
          <a:xfrm>
            <a:off x="3245975" y="1878975"/>
            <a:ext cx="26520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sp>
        <p:nvSpPr>
          <p:cNvPr id="37" name="Google Shape;37;p7"/>
          <p:cNvSpPr txBox="1">
            <a:spLocks noGrp="1"/>
          </p:cNvSpPr>
          <p:nvPr>
            <p:ph type="body" idx="3"/>
          </p:nvPr>
        </p:nvSpPr>
        <p:spPr>
          <a:xfrm>
            <a:off x="5985000" y="1878975"/>
            <a:ext cx="26520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sp>
        <p:nvSpPr>
          <p:cNvPr id="38" name="Google Shape;38;p7"/>
          <p:cNvSpPr txBox="1">
            <a:spLocks noGrp="1"/>
          </p:cNvSpPr>
          <p:nvPr>
            <p:ph type="body" idx="4"/>
          </p:nvPr>
        </p:nvSpPr>
        <p:spPr>
          <a:xfrm>
            <a:off x="506875" y="4800600"/>
            <a:ext cx="81303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pic>
        <p:nvPicPr>
          <p:cNvPr id="39" name="Google Shape;39;p7"/>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40" name="Google Shape;40;p7"/>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7"/>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
        <p:nvSpPr>
          <p:cNvPr id="42" name="Google Shape;42;p7"/>
          <p:cNvSpPr txBox="1">
            <a:spLocks noGrp="1"/>
          </p:cNvSpPr>
          <p:nvPr>
            <p:ph type="sldNum" idx="12"/>
          </p:nvPr>
        </p:nvSpPr>
        <p:spPr>
          <a:xfrm>
            <a:off x="8739525" y="4930375"/>
            <a:ext cx="404400" cy="213000"/>
          </a:xfrm>
          <a:prstGeom prst="rect">
            <a:avLst/>
          </a:prstGeom>
        </p:spPr>
        <p:txBody>
          <a:bodyPr spcFirstLastPara="1" wrap="square" lIns="0" tIns="0" rIns="0" bIns="0" anchor="t" anchorCtr="0">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Slide">
  <p:cSld name="CUSTOM_1_1">
    <p:spTree>
      <p:nvGrpSpPr>
        <p:cNvPr id="1" name="Shape 43"/>
        <p:cNvGrpSpPr/>
        <p:nvPr/>
      </p:nvGrpSpPr>
      <p:grpSpPr>
        <a:xfrm>
          <a:off x="0" y="0"/>
          <a:ext cx="0" cy="0"/>
          <a:chOff x="0" y="0"/>
          <a:chExt cx="0" cy="0"/>
        </a:xfrm>
      </p:grpSpPr>
      <p:sp>
        <p:nvSpPr>
          <p:cNvPr id="44" name="Google Shape;44;p8"/>
          <p:cNvSpPr txBox="1">
            <a:spLocks noGrp="1"/>
          </p:cNvSpPr>
          <p:nvPr>
            <p:ph type="sldNum" idx="12"/>
          </p:nvPr>
        </p:nvSpPr>
        <p:spPr>
          <a:xfrm>
            <a:off x="8739525" y="4930375"/>
            <a:ext cx="404400" cy="2130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Laptop Option">
  <p:cSld name="CUSTOM_1_1_1">
    <p:spTree>
      <p:nvGrpSpPr>
        <p:cNvPr id="1" name="Shape 45"/>
        <p:cNvGrpSpPr/>
        <p:nvPr/>
      </p:nvGrpSpPr>
      <p:grpSpPr>
        <a:xfrm>
          <a:off x="0" y="0"/>
          <a:ext cx="0" cy="0"/>
          <a:chOff x="0" y="0"/>
          <a:chExt cx="0" cy="0"/>
        </a:xfrm>
      </p:grpSpPr>
      <p:pic>
        <p:nvPicPr>
          <p:cNvPr id="46" name="Google Shape;46;p9"/>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007284" y="1878975"/>
            <a:ext cx="4141616" cy="2924549"/>
          </a:xfrm>
          <a:prstGeom prst="rect">
            <a:avLst/>
          </a:prstGeom>
          <a:noFill/>
          <a:ln>
            <a:noFill/>
          </a:ln>
        </p:spPr>
      </p:pic>
      <p:sp>
        <p:nvSpPr>
          <p:cNvPr id="47" name="Google Shape;47;p9"/>
          <p:cNvSpPr/>
          <p:nvPr/>
        </p:nvSpPr>
        <p:spPr>
          <a:xfrm>
            <a:off x="5636925" y="2027450"/>
            <a:ext cx="3507300" cy="2447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2"/>
                </a:solidFill>
              </a:rPr>
              <a:t>Image Placeholder</a:t>
            </a:r>
            <a:endParaRPr/>
          </a:p>
        </p:txBody>
      </p:sp>
      <p:sp>
        <p:nvSpPr>
          <p:cNvPr id="48" name="Google Shape;48;p9"/>
          <p:cNvSpPr txBox="1">
            <a:spLocks noGrp="1"/>
          </p:cNvSpPr>
          <p:nvPr>
            <p:ph type="body" idx="1"/>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sp>
        <p:nvSpPr>
          <p:cNvPr id="49" name="Google Shape;49;p9"/>
          <p:cNvSpPr txBox="1">
            <a:spLocks noGrp="1"/>
          </p:cNvSpPr>
          <p:nvPr>
            <p:ph type="body" idx="2"/>
          </p:nvPr>
        </p:nvSpPr>
        <p:spPr>
          <a:xfrm>
            <a:off x="506875" y="4800600"/>
            <a:ext cx="81303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pic>
        <p:nvPicPr>
          <p:cNvPr id="50" name="Google Shape;50;p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51" name="Google Shape;51;p9"/>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9"/>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
        <p:nvSpPr>
          <p:cNvPr id="53" name="Google Shape;53;p9"/>
          <p:cNvSpPr txBox="1">
            <a:spLocks noGrp="1"/>
          </p:cNvSpPr>
          <p:nvPr>
            <p:ph type="sldNum" idx="12"/>
          </p:nvPr>
        </p:nvSpPr>
        <p:spPr>
          <a:xfrm>
            <a:off x="8739525" y="4930375"/>
            <a:ext cx="404400" cy="213000"/>
          </a:xfrm>
          <a:prstGeom prst="rect">
            <a:avLst/>
          </a:prstGeom>
        </p:spPr>
        <p:txBody>
          <a:bodyPr spcFirstLastPara="1" wrap="square" lIns="0" tIns="0" rIns="0" bIns="0" anchor="t" anchorCtr="0">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mage Option 2">
  <p:cSld name="CUSTOM_1_1_1_1">
    <p:spTree>
      <p:nvGrpSpPr>
        <p:cNvPr id="1" name="Shape 54"/>
        <p:cNvGrpSpPr/>
        <p:nvPr/>
      </p:nvGrpSpPr>
      <p:grpSpPr>
        <a:xfrm>
          <a:off x="0" y="0"/>
          <a:ext cx="0" cy="0"/>
          <a:chOff x="0" y="0"/>
          <a:chExt cx="0" cy="0"/>
        </a:xfrm>
      </p:grpSpPr>
      <p:pic>
        <p:nvPicPr>
          <p:cNvPr id="55" name="Google Shape;55;p10"/>
          <p:cNvPicPr preferRelativeResize="0"/>
          <p:nvPr/>
        </p:nvPicPr>
        <p:blipFill rotWithShape="1">
          <a:blip r:embed="rId2" cstate="screen">
            <a:alphaModFix/>
            <a:extLst>
              <a:ext uri="{28A0092B-C50C-407E-A947-70E740481C1C}">
                <a14:useLocalDpi xmlns:a14="http://schemas.microsoft.com/office/drawing/2010/main"/>
              </a:ext>
            </a:extLst>
          </a:blip>
          <a:srcRect t="-7227"/>
          <a:stretch/>
        </p:blipFill>
        <p:spPr>
          <a:xfrm>
            <a:off x="5753100" y="1743075"/>
            <a:ext cx="3390900" cy="3400500"/>
          </a:xfrm>
          <a:prstGeom prst="rect">
            <a:avLst/>
          </a:prstGeom>
          <a:noFill/>
          <a:ln>
            <a:noFill/>
          </a:ln>
        </p:spPr>
      </p:pic>
      <p:sp>
        <p:nvSpPr>
          <p:cNvPr id="56" name="Google Shape;56;p10"/>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0"/>
          <p:cNvSpPr txBox="1">
            <a:spLocks noGrp="1"/>
          </p:cNvSpPr>
          <p:nvPr>
            <p:ph type="body" idx="1"/>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sp>
        <p:nvSpPr>
          <p:cNvPr id="58" name="Google Shape;58;p10"/>
          <p:cNvSpPr txBox="1">
            <a:spLocks noGrp="1"/>
          </p:cNvSpPr>
          <p:nvPr>
            <p:ph type="body" idx="2"/>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pic>
        <p:nvPicPr>
          <p:cNvPr id="59" name="Google Shape;59;p10"/>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60" name="Google Shape;60;p10"/>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0"/>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mage Option 3">
  <p:cSld name="CUSTOM_1_1_1_1_2">
    <p:spTree>
      <p:nvGrpSpPr>
        <p:cNvPr id="1" name="Shape 62"/>
        <p:cNvGrpSpPr/>
        <p:nvPr/>
      </p:nvGrpSpPr>
      <p:grpSpPr>
        <a:xfrm>
          <a:off x="0" y="0"/>
          <a:ext cx="0" cy="0"/>
          <a:chOff x="0" y="0"/>
          <a:chExt cx="0" cy="0"/>
        </a:xfrm>
      </p:grpSpPr>
      <p:pic>
        <p:nvPicPr>
          <p:cNvPr id="63" name="Google Shape;63;p11"/>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2347000"/>
            <a:ext cx="3390900" cy="2796600"/>
          </a:xfrm>
          <a:prstGeom prst="rect">
            <a:avLst/>
          </a:prstGeom>
          <a:noFill/>
          <a:ln>
            <a:noFill/>
          </a:ln>
        </p:spPr>
      </p:pic>
      <p:sp>
        <p:nvSpPr>
          <p:cNvPr id="64" name="Google Shape;64;p11"/>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1"/>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66" name="Google Shape;66;p11"/>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67" name="Google Shape;67;p11"/>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68" name="Google Shape;68;p11"/>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1"/>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 Option 4">
  <p:cSld name="CUSTOM_1_1_1_1_2_1">
    <p:spTree>
      <p:nvGrpSpPr>
        <p:cNvPr id="1" name="Shape 70"/>
        <p:cNvGrpSpPr/>
        <p:nvPr/>
      </p:nvGrpSpPr>
      <p:grpSpPr>
        <a:xfrm>
          <a:off x="0" y="0"/>
          <a:ext cx="0" cy="0"/>
          <a:chOff x="0" y="0"/>
          <a:chExt cx="0" cy="0"/>
        </a:xfrm>
      </p:grpSpPr>
      <p:pic>
        <p:nvPicPr>
          <p:cNvPr id="71" name="Google Shape;71;p12"/>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1743075"/>
            <a:ext cx="3390900" cy="3400500"/>
          </a:xfrm>
          <a:prstGeom prst="rect">
            <a:avLst/>
          </a:prstGeom>
          <a:noFill/>
          <a:ln>
            <a:noFill/>
          </a:ln>
        </p:spPr>
      </p:pic>
      <p:sp>
        <p:nvSpPr>
          <p:cNvPr id="72" name="Google Shape;72;p12"/>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2"/>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74" name="Google Shape;74;p12"/>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75" name="Google Shape;75;p12"/>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76" name="Google Shape;76;p12"/>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2"/>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age Option 5">
  <p:cSld name="CUSTOM_1_1_1_1_2_1_1">
    <p:spTree>
      <p:nvGrpSpPr>
        <p:cNvPr id="1" name="Shape 78"/>
        <p:cNvGrpSpPr/>
        <p:nvPr/>
      </p:nvGrpSpPr>
      <p:grpSpPr>
        <a:xfrm>
          <a:off x="0" y="0"/>
          <a:ext cx="0" cy="0"/>
          <a:chOff x="0" y="0"/>
          <a:chExt cx="0" cy="0"/>
        </a:xfrm>
      </p:grpSpPr>
      <p:pic>
        <p:nvPicPr>
          <p:cNvPr id="79" name="Google Shape;79;p13"/>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2123925"/>
            <a:ext cx="3390900" cy="3019800"/>
          </a:xfrm>
          <a:prstGeom prst="rect">
            <a:avLst/>
          </a:prstGeom>
          <a:noFill/>
          <a:ln>
            <a:noFill/>
          </a:ln>
        </p:spPr>
      </p:pic>
      <p:sp>
        <p:nvSpPr>
          <p:cNvPr id="80" name="Google Shape;80;p13"/>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3"/>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82" name="Google Shape;82;p13"/>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83" name="Google Shape;83;p13"/>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84" name="Google Shape;84;p13"/>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3"/>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mage Option 6">
  <p:cSld name="CUSTOM_1_1_1_1_2_1_1_1">
    <p:spTree>
      <p:nvGrpSpPr>
        <p:cNvPr id="1" name="Shape 86"/>
        <p:cNvGrpSpPr/>
        <p:nvPr/>
      </p:nvGrpSpPr>
      <p:grpSpPr>
        <a:xfrm>
          <a:off x="0" y="0"/>
          <a:ext cx="0" cy="0"/>
          <a:chOff x="0" y="0"/>
          <a:chExt cx="0" cy="0"/>
        </a:xfrm>
      </p:grpSpPr>
      <p:pic>
        <p:nvPicPr>
          <p:cNvPr id="87" name="Google Shape;87;p14"/>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1743075"/>
            <a:ext cx="3390900" cy="3400500"/>
          </a:xfrm>
          <a:prstGeom prst="rect">
            <a:avLst/>
          </a:prstGeom>
          <a:noFill/>
          <a:ln>
            <a:noFill/>
          </a:ln>
        </p:spPr>
      </p:pic>
      <p:sp>
        <p:nvSpPr>
          <p:cNvPr id="88" name="Google Shape;88;p14"/>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4"/>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90" name="Google Shape;90;p14"/>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91" name="Google Shape;91;p14"/>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92" name="Google Shape;92;p14"/>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4"/>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Image Option 7">
  <p:cSld name="CUSTOM_1_1_1_1_2_1_1_1_1">
    <p:spTree>
      <p:nvGrpSpPr>
        <p:cNvPr id="1" name="Shape 94"/>
        <p:cNvGrpSpPr/>
        <p:nvPr/>
      </p:nvGrpSpPr>
      <p:grpSpPr>
        <a:xfrm>
          <a:off x="0" y="0"/>
          <a:ext cx="0" cy="0"/>
          <a:chOff x="0" y="0"/>
          <a:chExt cx="0" cy="0"/>
        </a:xfrm>
      </p:grpSpPr>
      <p:pic>
        <p:nvPicPr>
          <p:cNvPr id="95" name="Google Shape;95;p15"/>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2238200"/>
            <a:ext cx="3390900" cy="2905500"/>
          </a:xfrm>
          <a:prstGeom prst="rect">
            <a:avLst/>
          </a:prstGeom>
          <a:noFill/>
          <a:ln>
            <a:noFill/>
          </a:ln>
        </p:spPr>
      </p:pic>
      <p:sp>
        <p:nvSpPr>
          <p:cNvPr id="96" name="Google Shape;96;p15"/>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5"/>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98" name="Google Shape;98;p15"/>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99" name="Google Shape;99;p15"/>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00" name="Google Shape;100;p15"/>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5"/>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mage Option 8">
  <p:cSld name="CUSTOM_1_1_1_1_2_1_1_1_1_1">
    <p:spTree>
      <p:nvGrpSpPr>
        <p:cNvPr id="1" name="Shape 102"/>
        <p:cNvGrpSpPr/>
        <p:nvPr/>
      </p:nvGrpSpPr>
      <p:grpSpPr>
        <a:xfrm>
          <a:off x="0" y="0"/>
          <a:ext cx="0" cy="0"/>
          <a:chOff x="0" y="0"/>
          <a:chExt cx="0" cy="0"/>
        </a:xfrm>
      </p:grpSpPr>
      <p:pic>
        <p:nvPicPr>
          <p:cNvPr id="103" name="Google Shape;103;p16"/>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2278200"/>
            <a:ext cx="3390900" cy="2865600"/>
          </a:xfrm>
          <a:prstGeom prst="rect">
            <a:avLst/>
          </a:prstGeom>
          <a:noFill/>
          <a:ln>
            <a:noFill/>
          </a:ln>
        </p:spPr>
      </p:pic>
      <p:sp>
        <p:nvSpPr>
          <p:cNvPr id="104" name="Google Shape;104;p16"/>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6"/>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106" name="Google Shape;106;p16"/>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107" name="Google Shape;107;p16"/>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08" name="Google Shape;108;p16"/>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6"/>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Image Option 9">
  <p:cSld name="CUSTOM_1_1_1_1_2_1_1_1_1_1_1">
    <p:spTree>
      <p:nvGrpSpPr>
        <p:cNvPr id="1" name="Shape 110"/>
        <p:cNvGrpSpPr/>
        <p:nvPr/>
      </p:nvGrpSpPr>
      <p:grpSpPr>
        <a:xfrm>
          <a:off x="0" y="0"/>
          <a:ext cx="0" cy="0"/>
          <a:chOff x="0" y="0"/>
          <a:chExt cx="0" cy="0"/>
        </a:xfrm>
      </p:grpSpPr>
      <p:pic>
        <p:nvPicPr>
          <p:cNvPr id="111" name="Google Shape;111;p17"/>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2341900"/>
            <a:ext cx="3390900" cy="2801700"/>
          </a:xfrm>
          <a:prstGeom prst="rect">
            <a:avLst/>
          </a:prstGeom>
          <a:noFill/>
          <a:ln>
            <a:noFill/>
          </a:ln>
        </p:spPr>
      </p:pic>
      <p:sp>
        <p:nvSpPr>
          <p:cNvPr id="112" name="Google Shape;112;p17"/>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7"/>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114" name="Google Shape;114;p17"/>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115" name="Google Shape;115;p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16" name="Google Shape;116;p17"/>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7"/>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Image Option 10">
  <p:cSld name="CUSTOM_1_1_1_1_2_1_1_1_1_1_1_1">
    <p:spTree>
      <p:nvGrpSpPr>
        <p:cNvPr id="1" name="Shape 118"/>
        <p:cNvGrpSpPr/>
        <p:nvPr/>
      </p:nvGrpSpPr>
      <p:grpSpPr>
        <a:xfrm>
          <a:off x="0" y="0"/>
          <a:ext cx="0" cy="0"/>
          <a:chOff x="0" y="0"/>
          <a:chExt cx="0" cy="0"/>
        </a:xfrm>
      </p:grpSpPr>
      <p:pic>
        <p:nvPicPr>
          <p:cNvPr id="119" name="Google Shape;119;p18"/>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2433025"/>
            <a:ext cx="3390900" cy="2710500"/>
          </a:xfrm>
          <a:prstGeom prst="rect">
            <a:avLst/>
          </a:prstGeom>
          <a:noFill/>
          <a:ln>
            <a:noFill/>
          </a:ln>
        </p:spPr>
      </p:pic>
      <p:sp>
        <p:nvSpPr>
          <p:cNvPr id="120" name="Google Shape;120;p18"/>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8"/>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122" name="Google Shape;122;p18"/>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123" name="Google Shape;123;p18"/>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24" name="Google Shape;124;p18"/>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8"/>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Image Option 11">
  <p:cSld name="CUSTOM_1_1_1_1_2_1_1_1_1_1_1_1_1">
    <p:spTree>
      <p:nvGrpSpPr>
        <p:cNvPr id="1" name="Shape 126"/>
        <p:cNvGrpSpPr/>
        <p:nvPr/>
      </p:nvGrpSpPr>
      <p:grpSpPr>
        <a:xfrm>
          <a:off x="0" y="0"/>
          <a:ext cx="0" cy="0"/>
          <a:chOff x="0" y="0"/>
          <a:chExt cx="0" cy="0"/>
        </a:xfrm>
      </p:grpSpPr>
      <p:pic>
        <p:nvPicPr>
          <p:cNvPr id="127" name="Google Shape;127;p19"/>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1807675"/>
            <a:ext cx="3390900" cy="3336000"/>
          </a:xfrm>
          <a:prstGeom prst="rect">
            <a:avLst/>
          </a:prstGeom>
          <a:noFill/>
          <a:ln>
            <a:noFill/>
          </a:ln>
        </p:spPr>
      </p:pic>
      <p:sp>
        <p:nvSpPr>
          <p:cNvPr id="128" name="Google Shape;128;p19"/>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9"/>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130" name="Google Shape;130;p19"/>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131" name="Google Shape;131;p1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32" name="Google Shape;132;p19"/>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9"/>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Image Option 12">
  <p:cSld name="CUSTOM_1_1_1_1_2_1_1_1_1_1_1_1_1_1">
    <p:spTree>
      <p:nvGrpSpPr>
        <p:cNvPr id="1" name="Shape 134"/>
        <p:cNvGrpSpPr/>
        <p:nvPr/>
      </p:nvGrpSpPr>
      <p:grpSpPr>
        <a:xfrm>
          <a:off x="0" y="0"/>
          <a:ext cx="0" cy="0"/>
          <a:chOff x="0" y="0"/>
          <a:chExt cx="0" cy="0"/>
        </a:xfrm>
      </p:grpSpPr>
      <p:pic>
        <p:nvPicPr>
          <p:cNvPr id="135" name="Google Shape;135;p20"/>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1911750"/>
            <a:ext cx="3390900" cy="3231900"/>
          </a:xfrm>
          <a:prstGeom prst="rect">
            <a:avLst/>
          </a:prstGeom>
          <a:noFill/>
          <a:ln>
            <a:noFill/>
          </a:ln>
        </p:spPr>
      </p:pic>
      <p:sp>
        <p:nvSpPr>
          <p:cNvPr id="136" name="Google Shape;136;p20"/>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0"/>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138" name="Google Shape;138;p20"/>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139" name="Google Shape;139;p20"/>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40" name="Google Shape;140;p20"/>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0"/>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Image Option 13">
  <p:cSld name="CUSTOM_1_1_1_1_2_1_1_1_1_1_1_1_1_1_1">
    <p:spTree>
      <p:nvGrpSpPr>
        <p:cNvPr id="1" name="Shape 142"/>
        <p:cNvGrpSpPr/>
        <p:nvPr/>
      </p:nvGrpSpPr>
      <p:grpSpPr>
        <a:xfrm>
          <a:off x="0" y="0"/>
          <a:ext cx="0" cy="0"/>
          <a:chOff x="0" y="0"/>
          <a:chExt cx="0" cy="0"/>
        </a:xfrm>
      </p:grpSpPr>
      <p:pic>
        <p:nvPicPr>
          <p:cNvPr id="143" name="Google Shape;143;p21"/>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2469075"/>
            <a:ext cx="3390900" cy="2674500"/>
          </a:xfrm>
          <a:prstGeom prst="rect">
            <a:avLst/>
          </a:prstGeom>
          <a:noFill/>
          <a:ln>
            <a:noFill/>
          </a:ln>
        </p:spPr>
      </p:pic>
      <p:sp>
        <p:nvSpPr>
          <p:cNvPr id="144" name="Google Shape;144;p21"/>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1"/>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146" name="Google Shape;146;p21"/>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147" name="Google Shape;147;p21"/>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48" name="Google Shape;148;p21"/>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1"/>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Image Option 14">
  <p:cSld name="CUSTOM_1_1_1_1_2_1_1_1_1_1_1_1_1_1_1_1">
    <p:spTree>
      <p:nvGrpSpPr>
        <p:cNvPr id="1" name="Shape 150"/>
        <p:cNvGrpSpPr/>
        <p:nvPr/>
      </p:nvGrpSpPr>
      <p:grpSpPr>
        <a:xfrm>
          <a:off x="0" y="0"/>
          <a:ext cx="0" cy="0"/>
          <a:chOff x="0" y="0"/>
          <a:chExt cx="0" cy="0"/>
        </a:xfrm>
      </p:grpSpPr>
      <p:pic>
        <p:nvPicPr>
          <p:cNvPr id="151" name="Google Shape;151;p22"/>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5753100" y="2428625"/>
            <a:ext cx="3390900" cy="2715000"/>
          </a:xfrm>
          <a:prstGeom prst="rect">
            <a:avLst/>
          </a:prstGeom>
          <a:noFill/>
          <a:ln>
            <a:noFill/>
          </a:ln>
        </p:spPr>
      </p:pic>
      <p:sp>
        <p:nvSpPr>
          <p:cNvPr id="152" name="Google Shape;152;p22"/>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2"/>
          <p:cNvSpPr txBox="1">
            <a:spLocks noGrp="1"/>
          </p:cNvSpPr>
          <p:nvPr>
            <p:ph type="body" idx="1"/>
          </p:nvPr>
        </p:nvSpPr>
        <p:spPr>
          <a:xfrm>
            <a:off x="506875" y="4800600"/>
            <a:ext cx="49986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154" name="Google Shape;154;p22"/>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155" name="Google Shape;155;p22"/>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56" name="Google Shape;156;p22"/>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2"/>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mage Option 2_Placeholder">
  <p:cSld name="CUSTOM_1_1_1_1_1">
    <p:spTree>
      <p:nvGrpSpPr>
        <p:cNvPr id="1" name="Shape 158"/>
        <p:cNvGrpSpPr/>
        <p:nvPr/>
      </p:nvGrpSpPr>
      <p:grpSpPr>
        <a:xfrm>
          <a:off x="0" y="0"/>
          <a:ext cx="0" cy="0"/>
          <a:chOff x="0" y="0"/>
          <a:chExt cx="0" cy="0"/>
        </a:xfrm>
      </p:grpSpPr>
      <p:sp>
        <p:nvSpPr>
          <p:cNvPr id="159" name="Google Shape;159;p23"/>
          <p:cNvSpPr/>
          <p:nvPr/>
        </p:nvSpPr>
        <p:spPr>
          <a:xfrm>
            <a:off x="5898025" y="2544550"/>
            <a:ext cx="3246000" cy="2598900"/>
          </a:xfrm>
          <a:prstGeom prst="rect">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2"/>
                </a:solidFill>
              </a:rPr>
              <a:t>Image Placeholder</a:t>
            </a:r>
            <a:endParaRPr sz="1200">
              <a:solidFill>
                <a:schemeClr val="lt2"/>
              </a:solidFill>
            </a:endParaRPr>
          </a:p>
        </p:txBody>
      </p:sp>
      <p:sp>
        <p:nvSpPr>
          <p:cNvPr id="160" name="Google Shape;160;p23"/>
          <p:cNvSpPr/>
          <p:nvPr/>
        </p:nvSpPr>
        <p:spPr>
          <a:xfrm>
            <a:off x="0" y="0"/>
            <a:ext cx="9144054" cy="5143502"/>
          </a:xfrm>
          <a:custGeom>
            <a:avLst/>
            <a:gdLst/>
            <a:ahLst/>
            <a:cxnLst/>
            <a:rect l="l" t="t" r="r" b="b"/>
            <a:pathLst>
              <a:path w="285774" h="160747" extrusionOk="0">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3"/>
          <p:cNvSpPr txBox="1">
            <a:spLocks noGrp="1"/>
          </p:cNvSpPr>
          <p:nvPr>
            <p:ph type="body" idx="1"/>
          </p:nvPr>
        </p:nvSpPr>
        <p:spPr>
          <a:xfrm>
            <a:off x="506875" y="4800600"/>
            <a:ext cx="4998600" cy="3426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sp>
        <p:nvSpPr>
          <p:cNvPr id="162" name="Google Shape;162;p23"/>
          <p:cNvSpPr txBox="1">
            <a:spLocks noGrp="1"/>
          </p:cNvSpPr>
          <p:nvPr>
            <p:ph type="body" idx="2"/>
          </p:nvPr>
        </p:nvSpPr>
        <p:spPr>
          <a:xfrm>
            <a:off x="506875" y="1878975"/>
            <a:ext cx="4021500" cy="2921700"/>
          </a:xfrm>
          <a:prstGeom prst="rect">
            <a:avLst/>
          </a:prstGeom>
          <a:noFill/>
          <a:ln>
            <a:noFill/>
          </a:ln>
        </p:spPr>
        <p:txBody>
          <a:bodyPr spcFirstLastPara="1" wrap="square" lIns="0" tIns="0" rIns="182875"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pic>
        <p:nvPicPr>
          <p:cNvPr id="163" name="Google Shape;163;p23"/>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64" name="Google Shape;164;p23"/>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3"/>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Logo Option 1">
  <p:cSld name="CUSTOM_1_1_1_1_1_1">
    <p:spTree>
      <p:nvGrpSpPr>
        <p:cNvPr id="1" name="Shape 166"/>
        <p:cNvGrpSpPr/>
        <p:nvPr/>
      </p:nvGrpSpPr>
      <p:grpSpPr>
        <a:xfrm>
          <a:off x="0" y="0"/>
          <a:ext cx="0" cy="0"/>
          <a:chOff x="0" y="0"/>
          <a:chExt cx="0" cy="0"/>
        </a:xfrm>
      </p:grpSpPr>
      <p:sp>
        <p:nvSpPr>
          <p:cNvPr id="167" name="Google Shape;167;p24"/>
          <p:cNvSpPr txBox="1">
            <a:spLocks noGrp="1"/>
          </p:cNvSpPr>
          <p:nvPr>
            <p:ph type="body" idx="1"/>
          </p:nvPr>
        </p:nvSpPr>
        <p:spPr>
          <a:xfrm>
            <a:off x="4615525" y="1878975"/>
            <a:ext cx="4021500" cy="2921700"/>
          </a:xfrm>
          <a:prstGeom prst="rect">
            <a:avLst/>
          </a:prstGeom>
          <a:noFill/>
          <a:ln>
            <a:noFill/>
          </a:ln>
        </p:spPr>
        <p:txBody>
          <a:bodyPr spcFirstLastPara="1" wrap="square" lIns="91425" tIns="0" rIns="0" bIns="0" anchor="t" anchorCtr="0">
            <a:noAutofit/>
          </a:bodyPr>
          <a:lstStyle>
            <a:lvl1pPr marL="457200" lvl="0" indent="-317500" rtl="0">
              <a:lnSpc>
                <a:spcPct val="115000"/>
              </a:lnSpc>
              <a:spcBef>
                <a:spcPts val="0"/>
              </a:spcBef>
              <a:spcAft>
                <a:spcPts val="0"/>
              </a:spcAft>
              <a:buClr>
                <a:schemeClr val="dk2"/>
              </a:buClr>
              <a:buSzPts val="1400"/>
              <a:buChar char="●"/>
              <a:defRPr/>
            </a:lvl1pPr>
            <a:lvl2pPr marL="914400" lvl="1" indent="-317500" rtl="0">
              <a:lnSpc>
                <a:spcPct val="115000"/>
              </a:lnSpc>
              <a:spcBef>
                <a:spcPts val="1000"/>
              </a:spcBef>
              <a:spcAft>
                <a:spcPts val="0"/>
              </a:spcAft>
              <a:buClr>
                <a:schemeClr val="dk2"/>
              </a:buClr>
              <a:buSzPts val="1400"/>
              <a:buChar char="○"/>
              <a:defRPr/>
            </a:lvl2pPr>
            <a:lvl3pPr marL="1371600" lvl="2" indent="-317500" rtl="0">
              <a:lnSpc>
                <a:spcPct val="115000"/>
              </a:lnSpc>
              <a:spcBef>
                <a:spcPts val="1000"/>
              </a:spcBef>
              <a:spcAft>
                <a:spcPts val="0"/>
              </a:spcAft>
              <a:buClr>
                <a:schemeClr val="dk2"/>
              </a:buClr>
              <a:buSzPts val="1400"/>
              <a:buChar char="■"/>
              <a:defRPr/>
            </a:lvl3pPr>
            <a:lvl4pPr marL="1828800" lvl="3" indent="-317500" rtl="0">
              <a:lnSpc>
                <a:spcPct val="115000"/>
              </a:lnSpc>
              <a:spcBef>
                <a:spcPts val="1000"/>
              </a:spcBef>
              <a:spcAft>
                <a:spcPts val="0"/>
              </a:spcAft>
              <a:buClr>
                <a:schemeClr val="dk2"/>
              </a:buClr>
              <a:buSzPts val="1400"/>
              <a:buChar char="●"/>
              <a:defRPr/>
            </a:lvl4pPr>
            <a:lvl5pPr marL="2286000" lvl="4" indent="-317500" rtl="0">
              <a:lnSpc>
                <a:spcPct val="115000"/>
              </a:lnSpc>
              <a:spcBef>
                <a:spcPts val="1000"/>
              </a:spcBef>
              <a:spcAft>
                <a:spcPts val="0"/>
              </a:spcAft>
              <a:buClr>
                <a:schemeClr val="dk2"/>
              </a:buClr>
              <a:buSzPts val="1400"/>
              <a:buChar char="○"/>
              <a:defRPr/>
            </a:lvl5pPr>
            <a:lvl6pPr marL="2743200" lvl="5" indent="-317500" rtl="0">
              <a:lnSpc>
                <a:spcPct val="115000"/>
              </a:lnSpc>
              <a:spcBef>
                <a:spcPts val="1000"/>
              </a:spcBef>
              <a:spcAft>
                <a:spcPts val="0"/>
              </a:spcAft>
              <a:buClr>
                <a:schemeClr val="dk2"/>
              </a:buClr>
              <a:buSzPts val="1400"/>
              <a:buChar char="■"/>
              <a:defRPr/>
            </a:lvl6pPr>
            <a:lvl7pPr marL="3200400" lvl="6" indent="-317500" rtl="0">
              <a:lnSpc>
                <a:spcPct val="115000"/>
              </a:lnSpc>
              <a:spcBef>
                <a:spcPts val="1000"/>
              </a:spcBef>
              <a:spcAft>
                <a:spcPts val="0"/>
              </a:spcAft>
              <a:buClr>
                <a:schemeClr val="dk2"/>
              </a:buClr>
              <a:buSzPts val="1400"/>
              <a:buChar char="●"/>
              <a:defRPr/>
            </a:lvl7pPr>
            <a:lvl8pPr marL="3657600" lvl="7" indent="-317500" rtl="0">
              <a:lnSpc>
                <a:spcPct val="115000"/>
              </a:lnSpc>
              <a:spcBef>
                <a:spcPts val="1000"/>
              </a:spcBef>
              <a:spcAft>
                <a:spcPts val="0"/>
              </a:spcAft>
              <a:buClr>
                <a:schemeClr val="dk2"/>
              </a:buClr>
              <a:buSzPts val="1400"/>
              <a:buChar char="○"/>
              <a:defRPr/>
            </a:lvl8pPr>
            <a:lvl9pPr marL="4114800" lvl="8" indent="-317500" rtl="0">
              <a:lnSpc>
                <a:spcPct val="115000"/>
              </a:lnSpc>
              <a:spcBef>
                <a:spcPts val="1000"/>
              </a:spcBef>
              <a:spcAft>
                <a:spcPts val="1000"/>
              </a:spcAft>
              <a:buClr>
                <a:schemeClr val="dk2"/>
              </a:buClr>
              <a:buSzPts val="1400"/>
              <a:buChar char="■"/>
              <a:defRPr/>
            </a:lvl9pPr>
          </a:lstStyle>
          <a:p>
            <a:endParaRPr/>
          </a:p>
        </p:txBody>
      </p:sp>
      <p:cxnSp>
        <p:nvCxnSpPr>
          <p:cNvPr id="168" name="Google Shape;168;p24"/>
          <p:cNvCxnSpPr/>
          <p:nvPr/>
        </p:nvCxnSpPr>
        <p:spPr>
          <a:xfrm>
            <a:off x="4528475" y="1884100"/>
            <a:ext cx="0" cy="2918400"/>
          </a:xfrm>
          <a:prstGeom prst="straightConnector1">
            <a:avLst/>
          </a:prstGeom>
          <a:noFill/>
          <a:ln w="9525" cap="flat" cmpd="sng">
            <a:solidFill>
              <a:schemeClr val="dk2"/>
            </a:solidFill>
            <a:prstDash val="solid"/>
            <a:round/>
            <a:headEnd type="none" w="med" len="med"/>
            <a:tailEnd type="none" w="med" len="med"/>
          </a:ln>
        </p:spPr>
      </p:cxnSp>
      <p:sp>
        <p:nvSpPr>
          <p:cNvPr id="169" name="Google Shape;169;p24"/>
          <p:cNvSpPr txBox="1">
            <a:spLocks noGrp="1"/>
          </p:cNvSpPr>
          <p:nvPr>
            <p:ph type="body" idx="2"/>
          </p:nvPr>
        </p:nvSpPr>
        <p:spPr>
          <a:xfrm>
            <a:off x="506875" y="4800600"/>
            <a:ext cx="8130000" cy="342900"/>
          </a:xfrm>
          <a:prstGeom prst="rect">
            <a:avLst/>
          </a:prstGeom>
          <a:noFill/>
          <a:ln>
            <a:noFill/>
          </a:ln>
        </p:spPr>
        <p:txBody>
          <a:bodyPr spcFirstLastPara="1" wrap="square" lIns="0" tIns="0" rIns="0" bIns="0" anchor="t" anchorCtr="0">
            <a:noAutofit/>
          </a:bodyPr>
          <a:lstStyle>
            <a:lvl1pPr marL="457200" lvl="0" indent="-279400" rtl="0">
              <a:spcBef>
                <a:spcPts val="0"/>
              </a:spcBef>
              <a:spcAft>
                <a:spcPts val="0"/>
              </a:spcAft>
              <a:buClr>
                <a:schemeClr val="lt2"/>
              </a:buClr>
              <a:buSzPts val="800"/>
              <a:buChar char="●"/>
              <a:defRPr sz="800">
                <a:solidFill>
                  <a:schemeClr val="lt2"/>
                </a:solidFill>
              </a:defRPr>
            </a:lvl1pPr>
            <a:lvl2pPr marL="914400" lvl="1" indent="-279400" rtl="0">
              <a:spcBef>
                <a:spcPts val="0"/>
              </a:spcBef>
              <a:spcAft>
                <a:spcPts val="0"/>
              </a:spcAft>
              <a:buClr>
                <a:schemeClr val="lt2"/>
              </a:buClr>
              <a:buSzPts val="800"/>
              <a:buChar char="○"/>
              <a:defRPr sz="800">
                <a:solidFill>
                  <a:schemeClr val="lt2"/>
                </a:solidFill>
              </a:defRPr>
            </a:lvl2pPr>
            <a:lvl3pPr marL="1371600" lvl="2" indent="-279400" rtl="0">
              <a:spcBef>
                <a:spcPts val="0"/>
              </a:spcBef>
              <a:spcAft>
                <a:spcPts val="0"/>
              </a:spcAft>
              <a:buClr>
                <a:schemeClr val="lt2"/>
              </a:buClr>
              <a:buSzPts val="800"/>
              <a:buChar char="■"/>
              <a:defRPr sz="800">
                <a:solidFill>
                  <a:schemeClr val="lt2"/>
                </a:solidFill>
              </a:defRPr>
            </a:lvl3pPr>
            <a:lvl4pPr marL="1828800" lvl="3" indent="-279400" rtl="0">
              <a:spcBef>
                <a:spcPts val="0"/>
              </a:spcBef>
              <a:spcAft>
                <a:spcPts val="0"/>
              </a:spcAft>
              <a:buClr>
                <a:schemeClr val="lt2"/>
              </a:buClr>
              <a:buSzPts val="800"/>
              <a:buChar char="●"/>
              <a:defRPr sz="800">
                <a:solidFill>
                  <a:schemeClr val="lt2"/>
                </a:solidFill>
              </a:defRPr>
            </a:lvl4pPr>
            <a:lvl5pPr marL="2286000" lvl="4" indent="-279400" rtl="0">
              <a:spcBef>
                <a:spcPts val="0"/>
              </a:spcBef>
              <a:spcAft>
                <a:spcPts val="0"/>
              </a:spcAft>
              <a:buClr>
                <a:schemeClr val="lt2"/>
              </a:buClr>
              <a:buSzPts val="800"/>
              <a:buChar char="○"/>
              <a:defRPr sz="800">
                <a:solidFill>
                  <a:schemeClr val="lt2"/>
                </a:solidFill>
              </a:defRPr>
            </a:lvl5pPr>
            <a:lvl6pPr marL="2743200" lvl="5" indent="-279400" rtl="0">
              <a:spcBef>
                <a:spcPts val="0"/>
              </a:spcBef>
              <a:spcAft>
                <a:spcPts val="0"/>
              </a:spcAft>
              <a:buClr>
                <a:schemeClr val="lt2"/>
              </a:buClr>
              <a:buSzPts val="800"/>
              <a:buChar char="■"/>
              <a:defRPr sz="800">
                <a:solidFill>
                  <a:schemeClr val="lt2"/>
                </a:solidFill>
              </a:defRPr>
            </a:lvl6pPr>
            <a:lvl7pPr marL="3200400" lvl="6" indent="-279400" rtl="0">
              <a:spcBef>
                <a:spcPts val="0"/>
              </a:spcBef>
              <a:spcAft>
                <a:spcPts val="0"/>
              </a:spcAft>
              <a:buClr>
                <a:schemeClr val="lt2"/>
              </a:buClr>
              <a:buSzPts val="800"/>
              <a:buChar char="●"/>
              <a:defRPr sz="800">
                <a:solidFill>
                  <a:schemeClr val="lt2"/>
                </a:solidFill>
              </a:defRPr>
            </a:lvl7pPr>
            <a:lvl8pPr marL="3657600" lvl="7" indent="-279400" rtl="0">
              <a:spcBef>
                <a:spcPts val="0"/>
              </a:spcBef>
              <a:spcAft>
                <a:spcPts val="0"/>
              </a:spcAft>
              <a:buClr>
                <a:schemeClr val="lt2"/>
              </a:buClr>
              <a:buSzPts val="800"/>
              <a:buChar char="○"/>
              <a:defRPr sz="800">
                <a:solidFill>
                  <a:schemeClr val="lt2"/>
                </a:solidFill>
              </a:defRPr>
            </a:lvl8pPr>
            <a:lvl9pPr marL="4114800" lvl="8" indent="-279400" rtl="0">
              <a:spcBef>
                <a:spcPts val="0"/>
              </a:spcBef>
              <a:spcAft>
                <a:spcPts val="0"/>
              </a:spcAft>
              <a:buClr>
                <a:schemeClr val="lt2"/>
              </a:buClr>
              <a:buSzPts val="800"/>
              <a:buChar char="■"/>
              <a:defRPr sz="800">
                <a:solidFill>
                  <a:schemeClr val="lt2"/>
                </a:solidFill>
              </a:defRPr>
            </a:lvl9pPr>
          </a:lstStyle>
          <a:p>
            <a:endParaRPr/>
          </a:p>
        </p:txBody>
      </p:sp>
      <p:pic>
        <p:nvPicPr>
          <p:cNvPr id="170" name="Google Shape;170;p24"/>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71" name="Google Shape;171;p24"/>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4"/>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
        <p:nvSpPr>
          <p:cNvPr id="173" name="Google Shape;173;p24"/>
          <p:cNvSpPr txBox="1">
            <a:spLocks noGrp="1"/>
          </p:cNvSpPr>
          <p:nvPr>
            <p:ph type="sldNum" idx="12"/>
          </p:nvPr>
        </p:nvSpPr>
        <p:spPr>
          <a:xfrm>
            <a:off x="8739525" y="4930375"/>
            <a:ext cx="404400" cy="213000"/>
          </a:xfrm>
          <a:prstGeom prst="rect">
            <a:avLst/>
          </a:prstGeom>
        </p:spPr>
        <p:txBody>
          <a:bodyPr spcFirstLastPara="1" wrap="square" lIns="0" tIns="0" rIns="0" bIns="0" anchor="t" anchorCtr="0">
            <a:no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p:cSld name="CUSTOM_1_1_1_1_1_1_1">
    <p:spTree>
      <p:nvGrpSpPr>
        <p:cNvPr id="1" name="Shape 174"/>
        <p:cNvGrpSpPr/>
        <p:nvPr/>
      </p:nvGrpSpPr>
      <p:grpSpPr>
        <a:xfrm>
          <a:off x="0" y="0"/>
          <a:ext cx="0" cy="0"/>
          <a:chOff x="0" y="0"/>
          <a:chExt cx="0" cy="0"/>
        </a:xfrm>
      </p:grpSpPr>
      <p:sp>
        <p:nvSpPr>
          <p:cNvPr id="175" name="Google Shape;175;p25"/>
          <p:cNvSpPr txBox="1">
            <a:spLocks noGrp="1"/>
          </p:cNvSpPr>
          <p:nvPr>
            <p:ph type="body" idx="1"/>
          </p:nvPr>
        </p:nvSpPr>
        <p:spPr>
          <a:xfrm>
            <a:off x="506875" y="4800600"/>
            <a:ext cx="8130300" cy="342900"/>
          </a:xfrm>
          <a:prstGeom prst="rect">
            <a:avLst/>
          </a:prstGeom>
          <a:noFill/>
          <a:ln>
            <a:noFill/>
          </a:ln>
        </p:spPr>
        <p:txBody>
          <a:bodyPr spcFirstLastPara="1" wrap="square" lIns="0" tIns="0" rIns="0" bIns="0" anchor="t" anchorCtr="0">
            <a:noAutofit/>
          </a:bodyPr>
          <a:lstStyle>
            <a:lvl1pPr marL="457200" lvl="0" indent="-279400">
              <a:spcBef>
                <a:spcPts val="0"/>
              </a:spcBef>
              <a:spcAft>
                <a:spcPts val="0"/>
              </a:spcAft>
              <a:buClr>
                <a:schemeClr val="lt2"/>
              </a:buClr>
              <a:buSzPts val="800"/>
              <a:buChar char="●"/>
              <a:defRPr sz="800">
                <a:solidFill>
                  <a:schemeClr val="lt2"/>
                </a:solidFill>
              </a:defRPr>
            </a:lvl1pPr>
            <a:lvl2pPr marL="914400" lvl="1" indent="-279400">
              <a:spcBef>
                <a:spcPts val="0"/>
              </a:spcBef>
              <a:spcAft>
                <a:spcPts val="0"/>
              </a:spcAft>
              <a:buClr>
                <a:schemeClr val="lt2"/>
              </a:buClr>
              <a:buSzPts val="800"/>
              <a:buChar char="○"/>
              <a:defRPr sz="800">
                <a:solidFill>
                  <a:schemeClr val="lt2"/>
                </a:solidFill>
              </a:defRPr>
            </a:lvl2pPr>
            <a:lvl3pPr marL="1371600" lvl="2" indent="-279400">
              <a:spcBef>
                <a:spcPts val="0"/>
              </a:spcBef>
              <a:spcAft>
                <a:spcPts val="0"/>
              </a:spcAft>
              <a:buClr>
                <a:schemeClr val="lt2"/>
              </a:buClr>
              <a:buSzPts val="800"/>
              <a:buChar char="■"/>
              <a:defRPr sz="800">
                <a:solidFill>
                  <a:schemeClr val="lt2"/>
                </a:solidFill>
              </a:defRPr>
            </a:lvl3pPr>
            <a:lvl4pPr marL="1828800" lvl="3" indent="-279400">
              <a:spcBef>
                <a:spcPts val="0"/>
              </a:spcBef>
              <a:spcAft>
                <a:spcPts val="0"/>
              </a:spcAft>
              <a:buClr>
                <a:schemeClr val="lt2"/>
              </a:buClr>
              <a:buSzPts val="800"/>
              <a:buChar char="●"/>
              <a:defRPr sz="800">
                <a:solidFill>
                  <a:schemeClr val="lt2"/>
                </a:solidFill>
              </a:defRPr>
            </a:lvl4pPr>
            <a:lvl5pPr marL="2286000" lvl="4" indent="-279400">
              <a:spcBef>
                <a:spcPts val="0"/>
              </a:spcBef>
              <a:spcAft>
                <a:spcPts val="0"/>
              </a:spcAft>
              <a:buClr>
                <a:schemeClr val="lt2"/>
              </a:buClr>
              <a:buSzPts val="800"/>
              <a:buChar char="○"/>
              <a:defRPr sz="800">
                <a:solidFill>
                  <a:schemeClr val="lt2"/>
                </a:solidFill>
              </a:defRPr>
            </a:lvl5pPr>
            <a:lvl6pPr marL="2743200" lvl="5" indent="-279400">
              <a:spcBef>
                <a:spcPts val="0"/>
              </a:spcBef>
              <a:spcAft>
                <a:spcPts val="0"/>
              </a:spcAft>
              <a:buClr>
                <a:schemeClr val="lt2"/>
              </a:buClr>
              <a:buSzPts val="800"/>
              <a:buChar char="■"/>
              <a:defRPr sz="800">
                <a:solidFill>
                  <a:schemeClr val="lt2"/>
                </a:solidFill>
              </a:defRPr>
            </a:lvl6pPr>
            <a:lvl7pPr marL="3200400" lvl="6" indent="-279400">
              <a:spcBef>
                <a:spcPts val="0"/>
              </a:spcBef>
              <a:spcAft>
                <a:spcPts val="0"/>
              </a:spcAft>
              <a:buClr>
                <a:schemeClr val="lt2"/>
              </a:buClr>
              <a:buSzPts val="800"/>
              <a:buChar char="●"/>
              <a:defRPr sz="800">
                <a:solidFill>
                  <a:schemeClr val="lt2"/>
                </a:solidFill>
              </a:defRPr>
            </a:lvl7pPr>
            <a:lvl8pPr marL="3657600" lvl="7" indent="-279400">
              <a:spcBef>
                <a:spcPts val="0"/>
              </a:spcBef>
              <a:spcAft>
                <a:spcPts val="0"/>
              </a:spcAft>
              <a:buClr>
                <a:schemeClr val="lt2"/>
              </a:buClr>
              <a:buSzPts val="800"/>
              <a:buChar char="○"/>
              <a:defRPr sz="800">
                <a:solidFill>
                  <a:schemeClr val="lt2"/>
                </a:solidFill>
              </a:defRPr>
            </a:lvl8pPr>
            <a:lvl9pPr marL="4114800" lvl="8" indent="-279400">
              <a:spcBef>
                <a:spcPts val="0"/>
              </a:spcBef>
              <a:spcAft>
                <a:spcPts val="0"/>
              </a:spcAft>
              <a:buClr>
                <a:schemeClr val="lt2"/>
              </a:buClr>
              <a:buSzPts val="800"/>
              <a:buChar char="■"/>
              <a:defRPr sz="800">
                <a:solidFill>
                  <a:schemeClr val="lt2"/>
                </a:solidFill>
              </a:defRPr>
            </a:lvl9pPr>
          </a:lstStyle>
          <a:p>
            <a:endParaRPr/>
          </a:p>
        </p:txBody>
      </p:sp>
      <p:pic>
        <p:nvPicPr>
          <p:cNvPr id="176" name="Google Shape;176;p25"/>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77" name="Google Shape;177;p25"/>
          <p:cNvSpPr/>
          <p:nvPr/>
        </p:nvSpPr>
        <p:spPr>
          <a:xfrm rot="-5400000">
            <a:off x="1111400" y="-329700"/>
            <a:ext cx="72300" cy="1272900"/>
          </a:xfrm>
          <a:prstGeom prst="rect">
            <a:avLst/>
          </a:prstGeom>
          <a:gradFill>
            <a:gsLst>
              <a:gs pos="0">
                <a:srgbClr val="D3002D"/>
              </a:gs>
              <a:gs pos="100000">
                <a:srgbClr val="F189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5"/>
          <p:cNvSpPr txBox="1">
            <a:spLocks noGrp="1"/>
          </p:cNvSpPr>
          <p:nvPr>
            <p:ph type="title"/>
          </p:nvPr>
        </p:nvSpPr>
        <p:spPr>
          <a:xfrm>
            <a:off x="506875" y="310896"/>
            <a:ext cx="8130300" cy="857400"/>
          </a:xfrm>
          <a:prstGeom prst="rect">
            <a:avLst/>
          </a:prstGeom>
          <a:noFill/>
          <a:ln>
            <a:noFill/>
          </a:ln>
        </p:spPr>
        <p:txBody>
          <a:bodyPr spcFirstLastPara="1" wrap="square" lIns="0" tIns="91425" rIns="0" bIns="0" anchor="t" anchorCtr="0">
            <a:noAutofit/>
          </a:bodyPr>
          <a:lstStyle>
            <a:lvl1pPr lvl="0" rtl="0">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9pPr>
          </a:lstStyle>
          <a:p>
            <a:endParaRPr/>
          </a:p>
        </p:txBody>
      </p:sp>
      <p:sp>
        <p:nvSpPr>
          <p:cNvPr id="179" name="Google Shape;179;p25"/>
          <p:cNvSpPr txBox="1">
            <a:spLocks noGrp="1"/>
          </p:cNvSpPr>
          <p:nvPr>
            <p:ph type="sldNum" idx="12"/>
          </p:nvPr>
        </p:nvSpPr>
        <p:spPr>
          <a:xfrm>
            <a:off x="8739525" y="4930375"/>
            <a:ext cx="404400" cy="2130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ransition Slide 1">
  <p:cSld name="CUSTOM_2">
    <p:spTree>
      <p:nvGrpSpPr>
        <p:cNvPr id="1" name="Shape 180"/>
        <p:cNvGrpSpPr/>
        <p:nvPr/>
      </p:nvGrpSpPr>
      <p:grpSpPr>
        <a:xfrm>
          <a:off x="0" y="0"/>
          <a:ext cx="0" cy="0"/>
          <a:chOff x="0" y="0"/>
          <a:chExt cx="0" cy="0"/>
        </a:xfrm>
      </p:grpSpPr>
      <p:pic>
        <p:nvPicPr>
          <p:cNvPr id="181" name="Google Shape;181;p26"/>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19" cy="5143500"/>
          </a:xfrm>
          <a:prstGeom prst="rect">
            <a:avLst/>
          </a:prstGeom>
          <a:noFill/>
          <a:ln>
            <a:noFill/>
          </a:ln>
        </p:spPr>
      </p:pic>
      <p:sp>
        <p:nvSpPr>
          <p:cNvPr id="182" name="Google Shape;182;p26"/>
          <p:cNvSpPr txBox="1">
            <a:spLocks noGrp="1"/>
          </p:cNvSpPr>
          <p:nvPr>
            <p:ph type="title"/>
          </p:nvPr>
        </p:nvSpPr>
        <p:spPr>
          <a:xfrm>
            <a:off x="506875" y="1878975"/>
            <a:ext cx="8130300" cy="1385700"/>
          </a:xfrm>
          <a:prstGeom prst="rect">
            <a:avLst/>
          </a:prstGeom>
          <a:noFill/>
          <a:ln>
            <a:noFill/>
          </a:ln>
        </p:spPr>
        <p:txBody>
          <a:bodyPr spcFirstLastPara="1" wrap="square" lIns="0" tIns="0" rIns="0" bIns="0" anchor="t" anchorCtr="0">
            <a:noAutofit/>
          </a:bodyPr>
          <a:lstStyle>
            <a:lvl1pPr lvl="0"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1pPr>
            <a:lvl2pPr lvl="1"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2pPr>
            <a:lvl3pPr lvl="2"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3pPr>
            <a:lvl4pPr lvl="3"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4pPr>
            <a:lvl5pPr lvl="4"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5pPr>
            <a:lvl6pPr lvl="5"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6pPr>
            <a:lvl7pPr lvl="6"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7pPr>
            <a:lvl8pPr lvl="7"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8pPr>
            <a:lvl9pPr lvl="8"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9pPr>
          </a:lstStyle>
          <a:p>
            <a:endParaRPr/>
          </a:p>
        </p:txBody>
      </p:sp>
      <p:pic>
        <p:nvPicPr>
          <p:cNvPr id="183" name="Google Shape;183;p26"/>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ransition Slide 2">
  <p:cSld name="CUSTOM_2_1">
    <p:spTree>
      <p:nvGrpSpPr>
        <p:cNvPr id="1" name="Shape 184"/>
        <p:cNvGrpSpPr/>
        <p:nvPr/>
      </p:nvGrpSpPr>
      <p:grpSpPr>
        <a:xfrm>
          <a:off x="0" y="0"/>
          <a:ext cx="0" cy="0"/>
          <a:chOff x="0" y="0"/>
          <a:chExt cx="0" cy="0"/>
        </a:xfrm>
      </p:grpSpPr>
      <p:pic>
        <p:nvPicPr>
          <p:cNvPr id="185" name="Google Shape;185;p27"/>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19" cy="5143500"/>
          </a:xfrm>
          <a:prstGeom prst="rect">
            <a:avLst/>
          </a:prstGeom>
          <a:noFill/>
          <a:ln>
            <a:noFill/>
          </a:ln>
        </p:spPr>
      </p:pic>
      <p:sp>
        <p:nvSpPr>
          <p:cNvPr id="186" name="Google Shape;186;p27"/>
          <p:cNvSpPr txBox="1">
            <a:spLocks noGrp="1"/>
          </p:cNvSpPr>
          <p:nvPr>
            <p:ph type="title"/>
          </p:nvPr>
        </p:nvSpPr>
        <p:spPr>
          <a:xfrm>
            <a:off x="506875" y="1878975"/>
            <a:ext cx="8130300" cy="1385700"/>
          </a:xfrm>
          <a:prstGeom prst="rect">
            <a:avLst/>
          </a:prstGeom>
          <a:noFill/>
          <a:ln>
            <a:noFill/>
          </a:ln>
        </p:spPr>
        <p:txBody>
          <a:bodyPr spcFirstLastPara="1" wrap="square" lIns="0" tIns="0" rIns="0" bIns="0" anchor="t" anchorCtr="0">
            <a:noAutofit/>
          </a:bodyPr>
          <a:lstStyle>
            <a:lvl1pPr lvl="0"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1pPr>
            <a:lvl2pPr lvl="1"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2pPr>
            <a:lvl3pPr lvl="2"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3pPr>
            <a:lvl4pPr lvl="3"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4pPr>
            <a:lvl5pPr lvl="4"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5pPr>
            <a:lvl6pPr lvl="5"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6pPr>
            <a:lvl7pPr lvl="6"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7pPr>
            <a:lvl8pPr lvl="7"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8pPr>
            <a:lvl9pPr lvl="8"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9pPr>
          </a:lstStyle>
          <a:p>
            <a:endParaRPr/>
          </a:p>
        </p:txBody>
      </p:sp>
      <p:pic>
        <p:nvPicPr>
          <p:cNvPr id="187" name="Google Shape;187;p2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ransition Slide 3">
  <p:cSld name="CUSTOM_2_1_1">
    <p:spTree>
      <p:nvGrpSpPr>
        <p:cNvPr id="1" name="Shape 188"/>
        <p:cNvGrpSpPr/>
        <p:nvPr/>
      </p:nvGrpSpPr>
      <p:grpSpPr>
        <a:xfrm>
          <a:off x="0" y="0"/>
          <a:ext cx="0" cy="0"/>
          <a:chOff x="0" y="0"/>
          <a:chExt cx="0" cy="0"/>
        </a:xfrm>
      </p:grpSpPr>
      <p:pic>
        <p:nvPicPr>
          <p:cNvPr id="189" name="Google Shape;189;p28"/>
          <p:cNvPicPr preferRelativeResize="0"/>
          <p:nvPr/>
        </p:nvPicPr>
        <p:blipFill rotWithShape="1">
          <a:blip r:embed="rId2" cstate="screen">
            <a:alphaModFix amt="74000"/>
            <a:extLst>
              <a:ext uri="{28A0092B-C50C-407E-A947-70E740481C1C}">
                <a14:useLocalDpi xmlns:a14="http://schemas.microsoft.com/office/drawing/2010/main"/>
              </a:ext>
            </a:extLst>
          </a:blip>
          <a:srcRect/>
          <a:stretch/>
        </p:blipFill>
        <p:spPr>
          <a:xfrm>
            <a:off x="0" y="0"/>
            <a:ext cx="9144019" cy="5143500"/>
          </a:xfrm>
          <a:prstGeom prst="rect">
            <a:avLst/>
          </a:prstGeom>
          <a:noFill/>
          <a:ln>
            <a:noFill/>
          </a:ln>
        </p:spPr>
      </p:pic>
      <p:sp>
        <p:nvSpPr>
          <p:cNvPr id="190" name="Google Shape;190;p28"/>
          <p:cNvSpPr txBox="1">
            <a:spLocks noGrp="1"/>
          </p:cNvSpPr>
          <p:nvPr>
            <p:ph type="title"/>
          </p:nvPr>
        </p:nvSpPr>
        <p:spPr>
          <a:xfrm>
            <a:off x="506875" y="1878975"/>
            <a:ext cx="8130300" cy="1385700"/>
          </a:xfrm>
          <a:prstGeom prst="rect">
            <a:avLst/>
          </a:prstGeom>
          <a:noFill/>
          <a:ln>
            <a:noFill/>
          </a:ln>
        </p:spPr>
        <p:txBody>
          <a:bodyPr spcFirstLastPara="1" wrap="square" lIns="0" tIns="0" rIns="0" bIns="0" anchor="t" anchorCtr="0">
            <a:noAutofit/>
          </a:bodyPr>
          <a:lstStyle>
            <a:lvl1pPr lvl="0"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1pPr>
            <a:lvl2pPr lvl="1"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2pPr>
            <a:lvl3pPr lvl="2"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3pPr>
            <a:lvl4pPr lvl="3"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4pPr>
            <a:lvl5pPr lvl="4"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5pPr>
            <a:lvl6pPr lvl="5"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6pPr>
            <a:lvl7pPr lvl="6"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7pPr>
            <a:lvl8pPr lvl="7"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8pPr>
            <a:lvl9pPr lvl="8" rtl="0">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sym typeface="Poppins SemiBold"/>
              </a:defRPr>
            </a:lvl9pPr>
          </a:lstStyle>
          <a:p>
            <a:endParaRPr/>
          </a:p>
        </p:txBody>
      </p:sp>
      <p:pic>
        <p:nvPicPr>
          <p:cNvPr id="191" name="Google Shape;191;p28"/>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ransition Slide 4">
  <p:cSld name="CUSTOM_2_1_1_1">
    <p:spTree>
      <p:nvGrpSpPr>
        <p:cNvPr id="1" name="Shape 192"/>
        <p:cNvGrpSpPr/>
        <p:nvPr/>
      </p:nvGrpSpPr>
      <p:grpSpPr>
        <a:xfrm>
          <a:off x="0" y="0"/>
          <a:ext cx="0" cy="0"/>
          <a:chOff x="0" y="0"/>
          <a:chExt cx="0" cy="0"/>
        </a:xfrm>
      </p:grpSpPr>
      <p:pic>
        <p:nvPicPr>
          <p:cNvPr id="193" name="Google Shape;193;p29"/>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1" y="0"/>
            <a:ext cx="9144019" cy="5143497"/>
          </a:xfrm>
          <a:prstGeom prst="rect">
            <a:avLst/>
          </a:prstGeom>
          <a:noFill/>
          <a:ln>
            <a:noFill/>
          </a:ln>
        </p:spPr>
      </p:pic>
      <p:sp>
        <p:nvSpPr>
          <p:cNvPr id="194" name="Google Shape;194;p29"/>
          <p:cNvSpPr txBox="1">
            <a:spLocks noGrp="1"/>
          </p:cNvSpPr>
          <p:nvPr>
            <p:ph type="title"/>
          </p:nvPr>
        </p:nvSpPr>
        <p:spPr>
          <a:xfrm>
            <a:off x="506875" y="1878975"/>
            <a:ext cx="4072800" cy="1385700"/>
          </a:xfrm>
          <a:prstGeom prst="rect">
            <a:avLst/>
          </a:prstGeom>
          <a:noFill/>
          <a:ln>
            <a:noFill/>
          </a:ln>
        </p:spPr>
        <p:txBody>
          <a:bodyPr spcFirstLastPara="1" wrap="square" lIns="0" tIns="0" rIns="0" bIns="0" anchor="t" anchorCtr="0">
            <a:noAutofit/>
          </a:bodyPr>
          <a:lstStyle>
            <a:lvl1pPr lvl="0"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1pPr>
            <a:lvl2pPr lvl="1"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2pPr>
            <a:lvl3pPr lvl="2"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3pPr>
            <a:lvl4pPr lvl="3"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4pPr>
            <a:lvl5pPr lvl="4"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5pPr>
            <a:lvl6pPr lvl="5"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6pPr>
            <a:lvl7pPr lvl="6"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7pPr>
            <a:lvl8pPr lvl="7"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8pPr>
            <a:lvl9pPr lvl="8"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9pPr>
          </a:lstStyle>
          <a:p>
            <a:endParaRPr/>
          </a:p>
        </p:txBody>
      </p:sp>
      <p:pic>
        <p:nvPicPr>
          <p:cNvPr id="195" name="Google Shape;195;p2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ransition Slide 5">
  <p:cSld name="CUSTOM_2_1_1_1_1">
    <p:spTree>
      <p:nvGrpSpPr>
        <p:cNvPr id="1" name="Shape 196"/>
        <p:cNvGrpSpPr/>
        <p:nvPr/>
      </p:nvGrpSpPr>
      <p:grpSpPr>
        <a:xfrm>
          <a:off x="0" y="0"/>
          <a:ext cx="0" cy="0"/>
          <a:chOff x="0" y="0"/>
          <a:chExt cx="0" cy="0"/>
        </a:xfrm>
      </p:grpSpPr>
      <p:pic>
        <p:nvPicPr>
          <p:cNvPr id="197" name="Google Shape;197;p30"/>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1" y="0"/>
            <a:ext cx="9144019" cy="5143497"/>
          </a:xfrm>
          <a:prstGeom prst="rect">
            <a:avLst/>
          </a:prstGeom>
          <a:noFill/>
          <a:ln>
            <a:noFill/>
          </a:ln>
        </p:spPr>
      </p:pic>
      <p:pic>
        <p:nvPicPr>
          <p:cNvPr id="198" name="Google Shape;198;p30"/>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465677" y="160315"/>
            <a:ext cx="445057" cy="365175"/>
          </a:xfrm>
          <a:prstGeom prst="rect">
            <a:avLst/>
          </a:prstGeom>
          <a:noFill/>
          <a:ln>
            <a:noFill/>
          </a:ln>
        </p:spPr>
      </p:pic>
      <p:sp>
        <p:nvSpPr>
          <p:cNvPr id="199" name="Google Shape;199;p30"/>
          <p:cNvSpPr txBox="1">
            <a:spLocks noGrp="1"/>
          </p:cNvSpPr>
          <p:nvPr>
            <p:ph type="title"/>
          </p:nvPr>
        </p:nvSpPr>
        <p:spPr>
          <a:xfrm>
            <a:off x="506875" y="1878975"/>
            <a:ext cx="4072800" cy="1385700"/>
          </a:xfrm>
          <a:prstGeom prst="rect">
            <a:avLst/>
          </a:prstGeom>
          <a:noFill/>
          <a:ln>
            <a:noFill/>
          </a:ln>
        </p:spPr>
        <p:txBody>
          <a:bodyPr spcFirstLastPara="1" wrap="square" lIns="0" tIns="0" rIns="0" bIns="0" anchor="t" anchorCtr="0">
            <a:noAutofit/>
          </a:bodyPr>
          <a:lstStyle>
            <a:lvl1pPr lvl="0"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1pPr>
            <a:lvl2pPr lvl="1"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2pPr>
            <a:lvl3pPr lvl="2"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3pPr>
            <a:lvl4pPr lvl="3"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4pPr>
            <a:lvl5pPr lvl="4"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5pPr>
            <a:lvl6pPr lvl="5"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6pPr>
            <a:lvl7pPr lvl="6"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7pPr>
            <a:lvl8pPr lvl="7"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8pPr>
            <a:lvl9pPr lvl="8" rtl="0">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sym typeface="Poppins SemiBold"/>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losing Slide Colour">
  <p:cSld name="CUSTOM_3_1">
    <p:spTree>
      <p:nvGrpSpPr>
        <p:cNvPr id="1" name="Shape 200"/>
        <p:cNvGrpSpPr/>
        <p:nvPr/>
      </p:nvGrpSpPr>
      <p:grpSpPr>
        <a:xfrm>
          <a:off x="0" y="0"/>
          <a:ext cx="0" cy="0"/>
          <a:chOff x="0" y="0"/>
          <a:chExt cx="0" cy="0"/>
        </a:xfrm>
      </p:grpSpPr>
      <p:pic>
        <p:nvPicPr>
          <p:cNvPr id="201" name="Google Shape;201;p31"/>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19" cy="5143500"/>
          </a:xfrm>
          <a:prstGeom prst="rect">
            <a:avLst/>
          </a:prstGeom>
          <a:noFill/>
          <a:ln>
            <a:noFill/>
          </a:ln>
        </p:spPr>
      </p:pic>
      <p:pic>
        <p:nvPicPr>
          <p:cNvPr id="202" name="Google Shape;202;p3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963693" y="2293838"/>
            <a:ext cx="3216560" cy="55582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739525" y="4930375"/>
            <a:ext cx="404400" cy="213000"/>
          </a:xfrm>
          <a:prstGeom prst="rect">
            <a:avLst/>
          </a:prstGeom>
          <a:noFill/>
          <a:ln>
            <a:noFill/>
          </a:ln>
        </p:spPr>
        <p:txBody>
          <a:bodyPr spcFirstLastPara="1" wrap="square" lIns="0" tIns="0" rIns="0" bIns="0" anchor="t" anchorCtr="0">
            <a:noAutofit/>
          </a:bodyPr>
          <a:lstStyle>
            <a:lvl1pPr lvl="0">
              <a:buNone/>
              <a:defRPr sz="800">
                <a:latin typeface="Poppins"/>
                <a:ea typeface="Poppins"/>
                <a:cs typeface="Poppins"/>
                <a:sym typeface="Poppins"/>
              </a:defRPr>
            </a:lvl1pPr>
            <a:lvl2pPr lvl="1">
              <a:buNone/>
              <a:defRPr sz="800">
                <a:latin typeface="Poppins"/>
                <a:ea typeface="Poppins"/>
                <a:cs typeface="Poppins"/>
                <a:sym typeface="Poppins"/>
              </a:defRPr>
            </a:lvl2pPr>
            <a:lvl3pPr lvl="2">
              <a:buNone/>
              <a:defRPr sz="800">
                <a:latin typeface="Poppins"/>
                <a:ea typeface="Poppins"/>
                <a:cs typeface="Poppins"/>
                <a:sym typeface="Poppins"/>
              </a:defRPr>
            </a:lvl3pPr>
            <a:lvl4pPr lvl="3">
              <a:buNone/>
              <a:defRPr sz="800">
                <a:latin typeface="Poppins"/>
                <a:ea typeface="Poppins"/>
                <a:cs typeface="Poppins"/>
                <a:sym typeface="Poppins"/>
              </a:defRPr>
            </a:lvl4pPr>
            <a:lvl5pPr lvl="4">
              <a:buNone/>
              <a:defRPr sz="800">
                <a:latin typeface="Poppins"/>
                <a:ea typeface="Poppins"/>
                <a:cs typeface="Poppins"/>
                <a:sym typeface="Poppins"/>
              </a:defRPr>
            </a:lvl5pPr>
            <a:lvl6pPr lvl="5">
              <a:buNone/>
              <a:defRPr sz="800">
                <a:latin typeface="Poppins"/>
                <a:ea typeface="Poppins"/>
                <a:cs typeface="Poppins"/>
                <a:sym typeface="Poppins"/>
              </a:defRPr>
            </a:lvl6pPr>
            <a:lvl7pPr lvl="6">
              <a:buNone/>
              <a:defRPr sz="800">
                <a:latin typeface="Poppins"/>
                <a:ea typeface="Poppins"/>
                <a:cs typeface="Poppins"/>
                <a:sym typeface="Poppins"/>
              </a:defRPr>
            </a:lvl7pPr>
            <a:lvl8pPr lvl="7">
              <a:buNone/>
              <a:defRPr sz="800">
                <a:latin typeface="Poppins"/>
                <a:ea typeface="Poppins"/>
                <a:cs typeface="Poppins"/>
                <a:sym typeface="Poppins"/>
              </a:defRPr>
            </a:lvl8pPr>
            <a:lvl9pPr lvl="8">
              <a:buNone/>
              <a:defRPr sz="800">
                <a:latin typeface="Poppins"/>
                <a:ea typeface="Poppins"/>
                <a:cs typeface="Poppins"/>
                <a:sym typeface="Poppins"/>
              </a:defRPr>
            </a:lvl9pPr>
          </a:lstStyle>
          <a:p>
            <a:pPr marL="0" lvl="0" indent="0" algn="l"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
          <p15:clr>
            <a:srgbClr val="EA4335"/>
          </p15:clr>
        </p15:guide>
        <p15:guide id="2" pos="319">
          <p15:clr>
            <a:srgbClr val="EA4335"/>
          </p15:clr>
        </p15:guide>
        <p15:guide id="3" pos="1990">
          <p15:clr>
            <a:srgbClr val="EA4335"/>
          </p15:clr>
        </p15:guide>
        <p15:guide id="4" pos="3715">
          <p15:clr>
            <a:srgbClr val="EA4335"/>
          </p15:clr>
        </p15:guide>
        <p15:guide id="5" pos="5441">
          <p15:clr>
            <a:srgbClr val="EA4335"/>
          </p15:clr>
        </p15:guide>
        <p15:guide id="6" pos="2045">
          <p15:clr>
            <a:srgbClr val="EA4335"/>
          </p15:clr>
        </p15:guide>
        <p15:guide id="7" pos="3770">
          <p15:clr>
            <a:srgbClr val="EA4335"/>
          </p15:clr>
        </p15:guide>
        <p15:guide id="8" orient="horz" pos="3024">
          <p15:clr>
            <a:srgbClr val="EA4335"/>
          </p15:clr>
        </p15:guide>
        <p15:guide id="9" pos="1122">
          <p15:clr>
            <a:srgbClr val="EA4335"/>
          </p15:clr>
        </p15:guide>
        <p15:guide id="10" pos="2907">
          <p15:clr>
            <a:srgbClr val="EA4335"/>
          </p15:clr>
        </p15:guide>
        <p15:guide id="11" pos="4638">
          <p15:clr>
            <a:srgbClr val="EA4335"/>
          </p15:clr>
        </p15:guide>
        <p15:guide id="12" pos="1184">
          <p15:clr>
            <a:srgbClr val="EA4335"/>
          </p15:clr>
        </p15:guide>
        <p15:guide id="13" pos="2853">
          <p15:clr>
            <a:srgbClr val="EA4335"/>
          </p15:clr>
        </p15:guide>
        <p15:guide id="14" pos="4576">
          <p15:clr>
            <a:srgbClr val="EA4335"/>
          </p15:clr>
        </p15:guide>
        <p15:guide id="15" orient="horz" pos="1122">
          <p15:clr>
            <a:srgbClr val="EA4335"/>
          </p15:clr>
        </p15:guide>
        <p15:guide id="16" orient="horz" pos="1184">
          <p15:clr>
            <a:srgbClr val="EA4335"/>
          </p15:clr>
        </p15:guide>
        <p15:guide id="17" orient="horz" pos="2118">
          <p15:clr>
            <a:srgbClr val="EA4335"/>
          </p15:clr>
        </p15:guide>
        <p15:guide id="18" orient="horz" pos="2056">
          <p15:clr>
            <a:srgbClr val="EA4335"/>
          </p15:clr>
        </p15:guide>
        <p15:guide id="19" orient="horz" pos="756">
          <p15:clr>
            <a:schemeClr val="lt2"/>
          </p15:clr>
        </p15:guide>
        <p15:guide id="20" pos="264">
          <p15:clr>
            <a:srgbClr val="EA4335"/>
          </p15:clr>
        </p15:guide>
        <p15:guide id="21" pos="5505">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1051560"/>
            <a:ext cx="5120640" cy="2103120"/>
          </a:xfrm>
        </p:spPr>
        <p:txBody>
          <a:bodyPr wrap="square"/>
          <a:lstStyle/>
          <a:p>
            <a:r>
              <a:rPr sz="3000" b="1">
                <a:latin typeface="Arial"/>
              </a:rPr>
              <a:t>Build AI Agents to</a:t>
            </a:r>
          </a:p>
          <a:p>
            <a:r>
              <a:rPr sz="2200" b="1">
                <a:latin typeface="Arial"/>
              </a:rPr>
              <a:t>Automate Your Workflows</a:t>
            </a:r>
          </a:p>
        </p:txBody>
      </p:sp>
      <p:sp>
        <p:nvSpPr>
          <p:cNvPr id="3" name="Subtitle 2"/>
          <p:cNvSpPr>
            <a:spLocks noGrp="1"/>
          </p:cNvSpPr>
          <p:nvPr>
            <p:ph type="subTitle" idx="1"/>
          </p:nvPr>
        </p:nvSpPr>
        <p:spPr>
          <a:xfrm>
            <a:off x="502920" y="3291840"/>
            <a:ext cx="4754880" cy="1463040"/>
          </a:xfrm>
        </p:spPr>
        <p:txBody>
          <a:bodyPr wrap="square"/>
          <a:lstStyle/>
          <a:p>
            <a:r>
              <a:rPr sz="1600" b="0" dirty="0">
                <a:latin typeface="Arial"/>
              </a:rPr>
              <a:t>Tim Warner  |  </a:t>
            </a:r>
            <a:r>
              <a:rPr sz="1600" b="1" dirty="0">
                <a:latin typeface="Arial"/>
              </a:rPr>
              <a:t>TechTrainerTim.com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Course flow (Central Time)</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700" b="0">
                <a:latin typeface="Arial"/>
              </a:rPr>
              <a:t>09:00   Segment 1 - Inception: design the agent</a:t>
            </a:r>
          </a:p>
          <a:p>
            <a:pPr>
              <a:spcAft>
                <a:spcPts val="800"/>
              </a:spcAft>
            </a:pPr>
            <a:r>
              <a:rPr sz="1700" b="0">
                <a:latin typeface="Arial"/>
              </a:rPr>
              <a:t>10:00   Segment 2 - Build: knowledge and grounded answers</a:t>
            </a:r>
          </a:p>
          <a:p>
            <a:pPr>
              <a:spcAft>
                <a:spcPts val="800"/>
              </a:spcAft>
            </a:pPr>
            <a:r>
              <a:rPr sz="1700" b="0">
                <a:latin typeface="Arial"/>
              </a:rPr>
              <a:t>11:00   Segment 3 - Extend: actions, MCP, handoff</a:t>
            </a:r>
          </a:p>
          <a:p>
            <a:pPr>
              <a:spcAft>
                <a:spcPts val="800"/>
              </a:spcAft>
            </a:pPr>
            <a:r>
              <a:rPr sz="1700" b="0">
                <a:latin typeface="Arial"/>
              </a:rPr>
              <a:t>12:00   Segment 4 - Operate: evaluate, govern, publish</a:t>
            </a:r>
          </a:p>
          <a:p>
            <a:pPr>
              <a:spcAft>
                <a:spcPts val="800"/>
              </a:spcAft>
            </a:pPr>
            <a:r>
              <a:rPr sz="1700" b="0">
                <a:latin typeface="Arial"/>
              </a:rPr>
              <a:t>12:50   Wrap-up, next steps, and Q&amp;A</a:t>
            </a:r>
          </a:p>
          <a:p>
            <a:pPr>
              <a:spcAft>
                <a:spcPts val="800"/>
              </a:spcAft>
            </a:pPr>
            <a:r>
              <a:rPr sz="1700" b="0">
                <a:latin typeface="Arial"/>
              </a:rPr>
              <a:t>Breaks at 09:50, 10:50, and 11:50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Recording and replay</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700" b="0">
                <a:latin typeface="Arial"/>
              </a:rPr>
              <a:t>The recording posts 24 to 48 hours after class ends</a:t>
            </a:r>
          </a:p>
          <a:p>
            <a:pPr>
              <a:spcAft>
                <a:spcPts val="800"/>
              </a:spcAft>
            </a:pPr>
            <a:r>
              <a:rPr sz="1700" b="0">
                <a:latin typeface="Arial"/>
              </a:rPr>
              <a:t>Watch it at learning.oreilly.com while signed in to your O'Reilly account</a:t>
            </a:r>
          </a:p>
          <a:p>
            <a:pPr>
              <a:spcAft>
                <a:spcPts val="800"/>
              </a:spcAft>
            </a:pPr>
            <a:r>
              <a:rPr sz="1700" b="0">
                <a:latin typeface="Arial"/>
              </a:rPr>
              <a:t>Open this event from your account and the replay appears on the same page</a:t>
            </a:r>
          </a:p>
          <a:p>
            <a:pPr>
              <a:spcAft>
                <a:spcPts val="800"/>
              </a:spcAft>
            </a:pPr>
            <a:r>
              <a:rPr sz="1700" b="0">
                <a:latin typeface="Arial"/>
              </a:rPr>
              <a:t>Playback stays available for as long as your O'Reilly access is active</a:t>
            </a:r>
          </a:p>
          <a:p>
            <a:pPr>
              <a:spcAft>
                <a:spcPts val="800"/>
              </a:spcAft>
            </a:pPr>
            <a:r>
              <a:rPr sz="1700" b="0">
                <a:latin typeface="Arial"/>
              </a:rPr>
              <a:t>Slides, labs, and the link register live in the GitHub repo, outside O'Reilly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dirty="0">
                <a:latin typeface="Arial"/>
              </a:rPr>
              <a:t>Session materials</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700" b="1" dirty="0">
                <a:solidFill>
                  <a:schemeClr val="accent6"/>
                </a:solidFill>
                <a:latin typeface="Arial"/>
              </a:rPr>
              <a:t>github.com/</a:t>
            </a:r>
            <a:r>
              <a:rPr sz="1700" b="1" dirty="0" err="1">
                <a:solidFill>
                  <a:schemeClr val="accent6"/>
                </a:solidFill>
                <a:latin typeface="Arial"/>
              </a:rPr>
              <a:t>timothywarner</a:t>
            </a:r>
            <a:r>
              <a:rPr sz="1700" b="1" dirty="0">
                <a:solidFill>
                  <a:schemeClr val="accent6"/>
                </a:solidFill>
                <a:latin typeface="Arial"/>
              </a:rPr>
              <a:t>-org/</a:t>
            </a:r>
            <a:r>
              <a:rPr sz="1700" b="1" dirty="0" err="1">
                <a:solidFill>
                  <a:schemeClr val="accent6"/>
                </a:solidFill>
                <a:latin typeface="Arial"/>
              </a:rPr>
              <a:t>oreilly</a:t>
            </a:r>
            <a:r>
              <a:rPr sz="1700" b="1" dirty="0">
                <a:solidFill>
                  <a:schemeClr val="accent6"/>
                </a:solidFill>
                <a:latin typeface="Arial"/>
              </a:rPr>
              <a:t>-copilot-studio-agents</a:t>
            </a:r>
          </a:p>
          <a:p>
            <a:pPr>
              <a:spcAft>
                <a:spcPts val="800"/>
              </a:spcAft>
            </a:pPr>
            <a:r>
              <a:rPr sz="1700" b="0" dirty="0">
                <a:latin typeface="Arial"/>
              </a:rPr>
              <a:t>Agent kit: brief, instructions, knowledge, topics, tool contracts, runbook</a:t>
            </a:r>
          </a:p>
          <a:p>
            <a:pPr>
              <a:spcAft>
                <a:spcPts val="800"/>
              </a:spcAft>
            </a:pPr>
            <a:r>
              <a:rPr sz="1700" b="0" dirty="0">
                <a:latin typeface="Arial"/>
              </a:rPr>
              <a:t>Four labs and worksheets, with worked answers</a:t>
            </a:r>
          </a:p>
          <a:p>
            <a:pPr>
              <a:spcAft>
                <a:spcPts val="800"/>
              </a:spcAft>
            </a:pPr>
            <a:r>
              <a:rPr sz="1700" b="0" dirty="0">
                <a:latin typeface="Arial"/>
              </a:rPr>
              <a:t>sources/link-register.md: every Microsoft Learn page used today</a:t>
            </a:r>
          </a:p>
          <a:p>
            <a:pPr>
              <a:spcAft>
                <a:spcPts val="800"/>
              </a:spcAft>
            </a:pPr>
            <a:r>
              <a:rPr sz="1700" b="0" dirty="0">
                <a:latin typeface="Arial"/>
              </a:rPr>
              <a:t>TechTrainerTim.com for the slides and follow-up material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Questions</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900" b="0">
                <a:latin typeface="Arial"/>
              </a:rPr>
              <a:t>Use the Q&amp;A window, not chat, so nothing scrolls away</a:t>
            </a:r>
          </a:p>
          <a:p>
            <a:pPr>
              <a:spcAft>
                <a:spcPts val="800"/>
              </a:spcAft>
            </a:pPr>
            <a:r>
              <a:rPr sz="1900" b="0">
                <a:latin typeface="Arial"/>
              </a:rPr>
              <a:t>Only the O'Reilly team and I can read the Q&amp;A window</a:t>
            </a:r>
          </a:p>
          <a:p>
            <a:pPr>
              <a:spcAft>
                <a:spcPts val="800"/>
              </a:spcAft>
            </a:pPr>
            <a:r>
              <a:rPr sz="1900" b="0">
                <a:latin typeface="Arial"/>
              </a:rPr>
              <a:t>Questions get answered inside each segment, not only at the end</a:t>
            </a:r>
          </a:p>
          <a:p>
            <a:pPr>
              <a:spcAft>
                <a:spcPts val="800"/>
              </a:spcAft>
            </a:pPr>
            <a:r>
              <a:rPr sz="1900" b="0">
                <a:latin typeface="Arial"/>
              </a:rPr>
              <a:t>Follow-ups after class: TechTrainerTim.com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1783080"/>
            <a:ext cx="8129016" cy="1554480"/>
          </a:xfrm>
        </p:spPr>
        <p:txBody>
          <a:bodyPr wrap="square"/>
          <a:lstStyle/>
          <a:p>
            <a:r>
              <a:rPr sz="3000" b="1">
                <a:latin typeface="Arial"/>
              </a:rPr>
              <a:t>Segment 1</a:t>
            </a:r>
          </a:p>
          <a:p>
            <a:r>
              <a:rPr sz="2200" b="1">
                <a:latin typeface="Arial"/>
              </a:rPr>
              <a:t>Inception: design the agent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What you'll be able to do</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700" b="0">
                <a:latin typeface="Arial"/>
              </a:rPr>
              <a:t>Plan an agent from persona, job, instructions, topic map, guardrails, and metrics</a:t>
            </a:r>
          </a:p>
          <a:p>
            <a:pPr>
              <a:spcAft>
                <a:spcPts val="800"/>
              </a:spcAft>
            </a:pPr>
            <a:r>
              <a:rPr sz="1700" b="0">
                <a:latin typeface="Arial"/>
              </a:rPr>
              <a:t>Build a grounded study assistant from knowledge sources, topics, and test prompts</a:t>
            </a:r>
          </a:p>
          <a:p>
            <a:pPr>
              <a:spcAft>
                <a:spcPts val="800"/>
              </a:spcAft>
            </a:pPr>
            <a:r>
              <a:rPr sz="1700" b="0">
                <a:latin typeface="Arial"/>
              </a:rPr>
              <a:t>Extend it with tools, agent flows, MCP, subagents, and human handoff</a:t>
            </a:r>
          </a:p>
          <a:p>
            <a:pPr>
              <a:spcAft>
                <a:spcPts val="800"/>
              </a:spcAft>
            </a:pPr>
            <a:r>
              <a:rPr sz="1700" b="0">
                <a:latin typeface="Arial"/>
              </a:rPr>
              <a:t>Evaluate, publish, observe, and govern it with analytics and Well-Architected guidance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What Copilot Studio builds</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learn.microsoft.com/microsoft-copilot-studio/fundamentals-what-is-copilot-studio</a:t>
            </a:r>
          </a:p>
        </p:txBody>
      </p:sp>
      <p:graphicFrame>
        <p:nvGraphicFramePr>
          <p:cNvPr id="5" name="Table 4"/>
          <p:cNvGraphicFramePr>
            <a:graphicFrameLocks noGrp="1"/>
          </p:cNvGraphicFramePr>
          <p:nvPr/>
        </p:nvGraphicFramePr>
        <p:xfrm>
          <a:off x="502920" y="1335024"/>
          <a:ext cx="8138159" cy="3346704"/>
        </p:xfrm>
        <a:graphic>
          <a:graphicData uri="http://schemas.openxmlformats.org/drawingml/2006/table">
            <a:tbl>
              <a:tblPr>
                <a:tableStyleId>{2D5ABB26-0587-4C30-8999-92F81FD0307C}</a:tableStyleId>
              </a:tblPr>
              <a:tblGrid>
                <a:gridCol w="1627632">
                  <a:extLst>
                    <a:ext uri="{9D8B030D-6E8A-4147-A177-3AD203B41FA5}">
                      <a16:colId xmlns:a16="http://schemas.microsoft.com/office/drawing/2014/main" val="20000"/>
                    </a:ext>
                  </a:extLst>
                </a:gridCol>
                <a:gridCol w="3580790">
                  <a:extLst>
                    <a:ext uri="{9D8B030D-6E8A-4147-A177-3AD203B41FA5}">
                      <a16:colId xmlns:a16="http://schemas.microsoft.com/office/drawing/2014/main" val="20001"/>
                    </a:ext>
                  </a:extLst>
                </a:gridCol>
                <a:gridCol w="2929737">
                  <a:extLst>
                    <a:ext uri="{9D8B030D-6E8A-4147-A177-3AD203B41FA5}">
                      <a16:colId xmlns:a16="http://schemas.microsoft.com/office/drawing/2014/main" val="20002"/>
                    </a:ext>
                  </a:extLst>
                </a:gridCol>
              </a:tblGrid>
              <a:tr h="365760">
                <a:tc>
                  <a:txBody>
                    <a:bodyPr/>
                    <a:lstStyle/>
                    <a:p>
                      <a:r>
                        <a:rPr sz="1400" b="1">
                          <a:solidFill>
                            <a:srgbClr val="FFFFFF"/>
                          </a:solidFill>
                          <a:latin typeface="Arial"/>
                        </a:rPr>
                        <a:t>Building block</a:t>
                      </a:r>
                    </a:p>
                  </a:txBody>
                  <a:tcPr marR="73152" marT="36576" marB="36576" anchor="ctr">
                    <a:solidFill>
                      <a:srgbClr val="1B2A41"/>
                    </a:solidFill>
                  </a:tcPr>
                </a:tc>
                <a:tc>
                  <a:txBody>
                    <a:bodyPr/>
                    <a:lstStyle/>
                    <a:p>
                      <a:r>
                        <a:rPr sz="1400" b="1">
                          <a:solidFill>
                            <a:srgbClr val="FFFFFF"/>
                          </a:solidFill>
                          <a:latin typeface="Arial"/>
                        </a:rPr>
                        <a:t>What it is</a:t>
                      </a:r>
                    </a:p>
                  </a:txBody>
                  <a:tcPr marR="73152" marT="36576" marB="36576" anchor="ctr">
                    <a:solidFill>
                      <a:srgbClr val="1B2A41"/>
                    </a:solidFill>
                  </a:tcPr>
                </a:tc>
                <a:tc>
                  <a:txBody>
                    <a:bodyPr/>
                    <a:lstStyle/>
                    <a:p>
                      <a:r>
                        <a:rPr sz="1400" b="1">
                          <a:solidFill>
                            <a:srgbClr val="FFFFFF"/>
                          </a:solidFill>
                          <a:latin typeface="Arial"/>
                        </a:rPr>
                        <a:t>Where it runs</a:t>
                      </a:r>
                    </a:p>
                  </a:txBody>
                  <a:tcPr marR="73152" marT="36576" marB="36576" anchor="ctr">
                    <a:solidFill>
                      <a:srgbClr val="1B2A41"/>
                    </a:solidFill>
                  </a:tcPr>
                </a:tc>
                <a:extLst>
                  <a:ext uri="{0D108BD9-81ED-4DB2-BD59-A6C34878D82A}">
                    <a16:rowId xmlns:a16="http://schemas.microsoft.com/office/drawing/2014/main" val="10000"/>
                  </a:ext>
                </a:extLst>
              </a:tr>
              <a:tr h="745236">
                <a:tc>
                  <a:txBody>
                    <a:bodyPr/>
                    <a:lstStyle/>
                    <a:p>
                      <a:r>
                        <a:rPr sz="1400" b="1">
                          <a:solidFill>
                            <a:srgbClr val="1B2A41"/>
                          </a:solidFill>
                          <a:latin typeface="Arial"/>
                        </a:rPr>
                        <a:t>Agent</a:t>
                      </a:r>
                    </a:p>
                  </a:txBody>
                  <a:tcPr marR="73152" marT="36576" marB="36576" anchor="ctr">
                    <a:solidFill>
                      <a:srgbClr val="FFFFFF"/>
                    </a:solidFill>
                  </a:tcPr>
                </a:tc>
                <a:tc>
                  <a:txBody>
                    <a:bodyPr/>
                    <a:lstStyle/>
                    <a:p>
                      <a:r>
                        <a:rPr sz="1400" b="0">
                          <a:solidFill>
                            <a:srgbClr val="1B2A41"/>
                          </a:solidFill>
                          <a:latin typeface="Arial"/>
                        </a:rPr>
                        <a:t>Instructions, knowledge, and tools; reasons about the next step</a:t>
                      </a:r>
                    </a:p>
                  </a:txBody>
                  <a:tcPr marR="73152" marT="36576" marB="36576" anchor="ctr">
                    <a:solidFill>
                      <a:srgbClr val="FFFFFF"/>
                    </a:solidFill>
                  </a:tcPr>
                </a:tc>
                <a:tc>
                  <a:txBody>
                    <a:bodyPr/>
                    <a:lstStyle/>
                    <a:p>
                      <a:r>
                        <a:rPr sz="1400" b="0">
                          <a:solidFill>
                            <a:srgbClr val="1B2A41"/>
                          </a:solidFill>
                          <a:latin typeface="Arial"/>
                        </a:rPr>
                        <a:t>Teams, Microsoft 365 Copilot, web, mobile, custom channels</a:t>
                      </a:r>
                    </a:p>
                  </a:txBody>
                  <a:tcPr marR="73152" marT="36576" marB="36576" anchor="ctr">
                    <a:solidFill>
                      <a:srgbClr val="FFFFFF"/>
                    </a:solidFill>
                  </a:tcPr>
                </a:tc>
                <a:extLst>
                  <a:ext uri="{0D108BD9-81ED-4DB2-BD59-A6C34878D82A}">
                    <a16:rowId xmlns:a16="http://schemas.microsoft.com/office/drawing/2014/main" val="10001"/>
                  </a:ext>
                </a:extLst>
              </a:tr>
              <a:tr h="745236">
                <a:tc>
                  <a:txBody>
                    <a:bodyPr/>
                    <a:lstStyle/>
                    <a:p>
                      <a:r>
                        <a:rPr sz="1400" b="1">
                          <a:solidFill>
                            <a:srgbClr val="1B2A41"/>
                          </a:solidFill>
                          <a:latin typeface="Arial"/>
                        </a:rPr>
                        <a:t>Workflow</a:t>
                      </a:r>
                    </a:p>
                  </a:txBody>
                  <a:tcPr marR="73152" marT="36576" marB="36576" anchor="ctr">
                    <a:solidFill>
                      <a:srgbClr val="EEF1F4"/>
                    </a:solidFill>
                  </a:tcPr>
                </a:tc>
                <a:tc>
                  <a:txBody>
                    <a:bodyPr/>
                    <a:lstStyle/>
                    <a:p>
                      <a:r>
                        <a:rPr sz="1400" b="0">
                          <a:solidFill>
                            <a:srgbClr val="1B2A41"/>
                          </a:solidFill>
                          <a:latin typeface="Arial"/>
                        </a:rPr>
                        <a:t>Drag-and-drop automation whose steps can reason and act</a:t>
                      </a:r>
                    </a:p>
                  </a:txBody>
                  <a:tcPr marR="73152" marT="36576" marB="36576" anchor="ctr">
                    <a:solidFill>
                      <a:srgbClr val="EEF1F4"/>
                    </a:solidFill>
                  </a:tcPr>
                </a:tc>
                <a:tc>
                  <a:txBody>
                    <a:bodyPr/>
                    <a:lstStyle/>
                    <a:p>
                      <a:r>
                        <a:rPr sz="1400" b="0">
                          <a:solidFill>
                            <a:srgbClr val="1B2A41"/>
                          </a:solidFill>
                          <a:latin typeface="Arial"/>
                        </a:rPr>
                        <a:t>Standalone, or called by an agent</a:t>
                      </a:r>
                    </a:p>
                  </a:txBody>
                  <a:tcPr marR="73152" marT="36576" marB="36576" anchor="ctr">
                    <a:solidFill>
                      <a:srgbClr val="EEF1F4"/>
                    </a:solidFill>
                  </a:tcPr>
                </a:tc>
                <a:extLst>
                  <a:ext uri="{0D108BD9-81ED-4DB2-BD59-A6C34878D82A}">
                    <a16:rowId xmlns:a16="http://schemas.microsoft.com/office/drawing/2014/main" val="10002"/>
                  </a:ext>
                </a:extLst>
              </a:tr>
              <a:tr h="745236">
                <a:tc>
                  <a:txBody>
                    <a:bodyPr/>
                    <a:lstStyle/>
                    <a:p>
                      <a:r>
                        <a:rPr sz="1400" b="1">
                          <a:solidFill>
                            <a:srgbClr val="1B2A41"/>
                          </a:solidFill>
                          <a:latin typeface="Arial"/>
                        </a:rPr>
                        <a:t>Agent flow</a:t>
                      </a:r>
                    </a:p>
                  </a:txBody>
                  <a:tcPr marR="73152" marT="36576" marB="36576" anchor="ctr">
                    <a:solidFill>
                      <a:srgbClr val="FFFFFF"/>
                    </a:solidFill>
                  </a:tcPr>
                </a:tc>
                <a:tc>
                  <a:txBody>
                    <a:bodyPr/>
                    <a:lstStyle/>
                    <a:p>
                      <a:r>
                        <a:rPr sz="1400" b="0">
                          <a:solidFill>
                            <a:srgbClr val="1B2A41"/>
                          </a:solidFill>
                          <a:latin typeface="Arial"/>
                        </a:rPr>
                        <a:t>Deterministic action sequence, native to Copilot Studio</a:t>
                      </a:r>
                    </a:p>
                  </a:txBody>
                  <a:tcPr marR="73152" marT="36576" marB="36576" anchor="ctr">
                    <a:solidFill>
                      <a:srgbClr val="FFFFFF"/>
                    </a:solidFill>
                  </a:tcPr>
                </a:tc>
                <a:tc>
                  <a:txBody>
                    <a:bodyPr/>
                    <a:lstStyle/>
                    <a:p>
                      <a:r>
                        <a:rPr sz="1400" b="0">
                          <a:solidFill>
                            <a:srgbClr val="1B2A41"/>
                          </a:solidFill>
                          <a:latin typeface="Arial"/>
                        </a:rPr>
                        <a:t>Attached to an agent as a tool, or standalone</a:t>
                      </a:r>
                    </a:p>
                  </a:txBody>
                  <a:tcPr marR="73152" marT="36576" marB="36576" anchor="ctr">
                    <a:solidFill>
                      <a:srgbClr val="FFFFFF"/>
                    </a:solidFill>
                  </a:tcPr>
                </a:tc>
                <a:extLst>
                  <a:ext uri="{0D108BD9-81ED-4DB2-BD59-A6C34878D82A}">
                    <a16:rowId xmlns:a16="http://schemas.microsoft.com/office/drawing/2014/main" val="10003"/>
                  </a:ext>
                </a:extLst>
              </a:tr>
              <a:tr h="745236">
                <a:tc>
                  <a:txBody>
                    <a:bodyPr/>
                    <a:lstStyle/>
                    <a:p>
                      <a:r>
                        <a:rPr sz="1400" b="1">
                          <a:solidFill>
                            <a:srgbClr val="1B2A41"/>
                          </a:solidFill>
                          <a:latin typeface="Arial"/>
                        </a:rPr>
                        <a:t>Topic</a:t>
                      </a:r>
                    </a:p>
                  </a:txBody>
                  <a:tcPr marR="73152" marT="36576" marB="36576" anchor="ctr">
                    <a:solidFill>
                      <a:srgbClr val="EEF1F4"/>
                    </a:solidFill>
                  </a:tcPr>
                </a:tc>
                <a:tc>
                  <a:txBody>
                    <a:bodyPr/>
                    <a:lstStyle/>
                    <a:p>
                      <a:r>
                        <a:rPr sz="1400" b="0">
                          <a:solidFill>
                            <a:srgbClr val="1B2A41"/>
                          </a:solidFill>
                          <a:latin typeface="Arial"/>
                        </a:rPr>
                        <a:t>Authored conversation with explicit nodes and branches</a:t>
                      </a:r>
                    </a:p>
                  </a:txBody>
                  <a:tcPr marR="73152" marT="36576" marB="36576" anchor="ctr">
                    <a:solidFill>
                      <a:srgbClr val="EEF1F4"/>
                    </a:solidFill>
                  </a:tcPr>
                </a:tc>
                <a:tc>
                  <a:txBody>
                    <a:bodyPr/>
                    <a:lstStyle/>
                    <a:p>
                      <a:r>
                        <a:rPr sz="1400" b="0">
                          <a:solidFill>
                            <a:srgbClr val="1B2A41"/>
                          </a:solidFill>
                          <a:latin typeface="Arial"/>
                        </a:rPr>
                        <a:t>Inside the agent, chosen by description or trigger phrase</a:t>
                      </a:r>
                    </a:p>
                  </a:txBody>
                  <a:tcPr marR="73152" marT="36576" marB="36576" anchor="ctr">
                    <a:solidFill>
                      <a:srgbClr val="EEF1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Anatomy of an agent</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learn.microsoft.com/microsoft-copilot-studio/guidance/generative-orchestration</a:t>
            </a:r>
          </a:p>
        </p:txBody>
      </p:sp>
      <p:sp>
        <p:nvSpPr>
          <p:cNvPr id="5" name="Rounded Rectangle 4"/>
          <p:cNvSpPr/>
          <p:nvPr/>
        </p:nvSpPr>
        <p:spPr>
          <a:xfrm>
            <a:off x="502920" y="1481328"/>
            <a:ext cx="1417320" cy="731520"/>
          </a:xfrm>
          <a:prstGeom prst="roundRect">
            <a:avLst/>
          </a:prstGeom>
          <a:solidFill>
            <a:srgbClr val="EEF1F4"/>
          </a:solidFill>
          <a:ln w="15875">
            <a:solidFill>
              <a:srgbClr val="4A60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Channel</a:t>
            </a:r>
          </a:p>
          <a:p>
            <a:pPr algn="ctr"/>
            <a:r>
              <a:rPr sz="1100" b="0">
                <a:solidFill>
                  <a:srgbClr val="1B2A41"/>
                </a:solidFill>
                <a:latin typeface="Arial"/>
              </a:rPr>
              <a:t>Teams, web, app</a:t>
            </a:r>
          </a:p>
        </p:txBody>
      </p:sp>
      <p:sp>
        <p:nvSpPr>
          <p:cNvPr id="6" name="Right Arrow 5"/>
          <p:cNvSpPr/>
          <p:nvPr/>
        </p:nvSpPr>
        <p:spPr>
          <a:xfrm>
            <a:off x="1993392" y="1764792"/>
            <a:ext cx="274320"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340864" y="1417320"/>
            <a:ext cx="1874519" cy="868680"/>
          </a:xfrm>
          <a:prstGeom prst="roundRect">
            <a:avLst/>
          </a:prstGeom>
          <a:solidFill>
            <a:srgbClr val="1B2A41"/>
          </a:solidFill>
          <a:ln w="15875">
            <a:solidFill>
              <a:srgbClr val="1B2A41"/>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FFFFFF"/>
                </a:solidFill>
                <a:latin typeface="Arial"/>
              </a:rPr>
              <a:t>Orchestrator</a:t>
            </a:r>
          </a:p>
          <a:p>
            <a:pPr algn="ctr"/>
            <a:r>
              <a:rPr sz="1200" b="0">
                <a:solidFill>
                  <a:srgbClr val="FFFFFF"/>
                </a:solidFill>
                <a:latin typeface="Arial"/>
              </a:rPr>
              <a:t>plans the turn</a:t>
            </a:r>
          </a:p>
        </p:txBody>
      </p:sp>
      <p:sp>
        <p:nvSpPr>
          <p:cNvPr id="8" name="Right Arrow 7"/>
          <p:cNvSpPr/>
          <p:nvPr/>
        </p:nvSpPr>
        <p:spPr>
          <a:xfrm>
            <a:off x="4288536" y="1764792"/>
            <a:ext cx="274320"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636008" y="1371600"/>
            <a:ext cx="960120" cy="960120"/>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a:solidFill>
                  <a:srgbClr val="1B2A41"/>
                </a:solidFill>
                <a:latin typeface="Arial"/>
              </a:rPr>
              <a:t>Knowledge</a:t>
            </a:r>
          </a:p>
          <a:p>
            <a:pPr algn="ctr"/>
            <a:r>
              <a:rPr sz="1100" b="0">
                <a:solidFill>
                  <a:srgbClr val="1B2A41"/>
                </a:solidFill>
                <a:latin typeface="Arial"/>
              </a:rPr>
              <a:t>read-only</a:t>
            </a:r>
          </a:p>
          <a:p>
            <a:pPr algn="ctr"/>
            <a:r>
              <a:rPr sz="1100" b="0">
                <a:solidFill>
                  <a:srgbClr val="1B2A41"/>
                </a:solidFill>
                <a:latin typeface="Arial"/>
              </a:rPr>
              <a:t>evidence</a:t>
            </a:r>
          </a:p>
        </p:txBody>
      </p:sp>
      <p:sp>
        <p:nvSpPr>
          <p:cNvPr id="10" name="Rounded Rectangle 9"/>
          <p:cNvSpPr/>
          <p:nvPr/>
        </p:nvSpPr>
        <p:spPr>
          <a:xfrm>
            <a:off x="5669280" y="1371600"/>
            <a:ext cx="960120" cy="960120"/>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a:solidFill>
                  <a:srgbClr val="1B2A41"/>
                </a:solidFill>
                <a:latin typeface="Arial"/>
              </a:rPr>
              <a:t>Topics</a:t>
            </a:r>
          </a:p>
          <a:p>
            <a:pPr algn="ctr"/>
            <a:r>
              <a:rPr sz="1100" b="0">
                <a:solidFill>
                  <a:srgbClr val="1B2A41"/>
                </a:solidFill>
                <a:latin typeface="Arial"/>
              </a:rPr>
              <a:t>authored</a:t>
            </a:r>
          </a:p>
          <a:p>
            <a:pPr algn="ctr"/>
            <a:r>
              <a:rPr sz="1100" b="0">
                <a:solidFill>
                  <a:srgbClr val="1B2A41"/>
                </a:solidFill>
                <a:latin typeface="Arial"/>
              </a:rPr>
              <a:t>dialogue</a:t>
            </a:r>
          </a:p>
        </p:txBody>
      </p:sp>
      <p:sp>
        <p:nvSpPr>
          <p:cNvPr id="11" name="Rounded Rectangle 10"/>
          <p:cNvSpPr/>
          <p:nvPr/>
        </p:nvSpPr>
        <p:spPr>
          <a:xfrm>
            <a:off x="6702552" y="1371600"/>
            <a:ext cx="960120" cy="960120"/>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a:solidFill>
                  <a:srgbClr val="1B2A41"/>
                </a:solidFill>
                <a:latin typeface="Arial"/>
              </a:rPr>
              <a:t>Tools</a:t>
            </a:r>
          </a:p>
          <a:p>
            <a:pPr algn="ctr"/>
            <a:r>
              <a:rPr sz="1100" b="0">
                <a:solidFill>
                  <a:srgbClr val="1B2A41"/>
                </a:solidFill>
                <a:latin typeface="Arial"/>
              </a:rPr>
              <a:t>defined</a:t>
            </a:r>
          </a:p>
          <a:p>
            <a:pPr algn="ctr"/>
            <a:r>
              <a:rPr sz="1100" b="0">
                <a:solidFill>
                  <a:srgbClr val="1B2A41"/>
                </a:solidFill>
                <a:latin typeface="Arial"/>
              </a:rPr>
              <a:t>operations</a:t>
            </a:r>
          </a:p>
        </p:txBody>
      </p:sp>
      <p:sp>
        <p:nvSpPr>
          <p:cNvPr id="12" name="Rounded Rectangle 11"/>
          <p:cNvSpPr/>
          <p:nvPr/>
        </p:nvSpPr>
        <p:spPr>
          <a:xfrm>
            <a:off x="7735824" y="1371600"/>
            <a:ext cx="960120" cy="960120"/>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a:solidFill>
                  <a:srgbClr val="1B2A41"/>
                </a:solidFill>
                <a:latin typeface="Arial"/>
              </a:rPr>
              <a:t>Agents</a:t>
            </a:r>
          </a:p>
          <a:p>
            <a:pPr algn="ctr"/>
            <a:r>
              <a:rPr sz="1100" b="0">
                <a:solidFill>
                  <a:srgbClr val="1B2A41"/>
                </a:solidFill>
                <a:latin typeface="Arial"/>
              </a:rPr>
              <a:t>child and</a:t>
            </a:r>
          </a:p>
          <a:p>
            <a:pPr algn="ctr"/>
            <a:r>
              <a:rPr sz="1100" b="0">
                <a:solidFill>
                  <a:srgbClr val="1B2A41"/>
                </a:solidFill>
                <a:latin typeface="Arial"/>
              </a:rPr>
              <a:t>connected</a:t>
            </a:r>
          </a:p>
        </p:txBody>
      </p:sp>
      <p:sp>
        <p:nvSpPr>
          <p:cNvPr id="13" name="Rounded Rectangle 12"/>
          <p:cNvSpPr/>
          <p:nvPr/>
        </p:nvSpPr>
        <p:spPr>
          <a:xfrm>
            <a:off x="2340864" y="2578608"/>
            <a:ext cx="1874519" cy="566928"/>
          </a:xfrm>
          <a:prstGeom prst="roundRect">
            <a:avLst/>
          </a:prstGeom>
          <a:solidFill>
            <a:srgbClr val="FAEBD8"/>
          </a:solidFill>
          <a:ln w="15875">
            <a:solidFill>
              <a:srgbClr val="B5620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a:solidFill>
                  <a:srgbClr val="1B2A41"/>
                </a:solidFill>
                <a:latin typeface="Arial"/>
              </a:rPr>
              <a:t>Response</a:t>
            </a:r>
          </a:p>
          <a:p>
            <a:pPr algn="ctr"/>
            <a:r>
              <a:rPr sz="1100" b="0">
                <a:solidFill>
                  <a:srgbClr val="1B2A41"/>
                </a:solidFill>
                <a:latin typeface="Arial"/>
              </a:rPr>
              <a:t>with citations</a:t>
            </a:r>
          </a:p>
        </p:txBody>
      </p:sp>
      <p:sp>
        <p:nvSpPr>
          <p:cNvPr id="14" name="Down Arrow 13"/>
          <p:cNvSpPr/>
          <p:nvPr/>
        </p:nvSpPr>
        <p:spPr>
          <a:xfrm>
            <a:off x="3191256" y="2322576"/>
            <a:ext cx="164592" cy="219456"/>
          </a:xfrm>
          <a:prstGeom prst="down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3401568"/>
            <a:ext cx="8138160" cy="1005840"/>
          </a:xfrm>
          <a:prstGeom prst="rect">
            <a:avLst/>
          </a:prstGeom>
          <a:noFill/>
        </p:spPr>
        <p:txBody>
          <a:bodyPr wrap="square" lIns="18288" tIns="0" rIns="18288" bIns="0">
            <a:spAutoFit/>
          </a:bodyPr>
          <a:lstStyle/>
          <a:p>
            <a:pPr algn="l"/>
            <a:r>
              <a:rPr sz="1300" b="0">
                <a:solidFill>
                  <a:srgbClr val="1B2A41"/>
                </a:solidFill>
                <a:latin typeface="Arial"/>
              </a:rPr>
              <a:t>Instructions steer which building block the orchestrator picks.</a:t>
            </a:r>
          </a:p>
          <a:p>
            <a:pPr algn="l"/>
            <a:r>
              <a:rPr sz="1300" b="0">
                <a:solidFill>
                  <a:srgbClr val="1B2A41"/>
                </a:solidFill>
                <a:latin typeface="Arial"/>
              </a:rPr>
              <a:t>Data policies decide which ones it is allowed to touch at all.</a:t>
            </a:r>
          </a:p>
          <a:p>
            <a:pPr algn="l"/>
            <a:r>
              <a:rPr sz="1300" b="0">
                <a:solidFill>
                  <a:srgbClr val="1B2A41"/>
                </a:solidFill>
                <a:latin typeface="Arial"/>
              </a:rPr>
              <a:t>Names and descriptions matter more than any other authoring choice.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Generative and classic orchestration</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learn.microsoft.com/microsoft-copilot-studio/advanced-generative-actions</a:t>
            </a:r>
          </a:p>
        </p:txBody>
      </p:sp>
      <p:graphicFrame>
        <p:nvGraphicFramePr>
          <p:cNvPr id="5" name="Table 4"/>
          <p:cNvGraphicFramePr>
            <a:graphicFrameLocks noGrp="1"/>
          </p:cNvGraphicFramePr>
          <p:nvPr/>
        </p:nvGraphicFramePr>
        <p:xfrm>
          <a:off x="502920" y="1335024"/>
          <a:ext cx="8138159" cy="3346700"/>
        </p:xfrm>
        <a:graphic>
          <a:graphicData uri="http://schemas.openxmlformats.org/drawingml/2006/table">
            <a:tbl>
              <a:tblPr>
                <a:tableStyleId>{2D5ABB26-0587-4C30-8999-92F81FD0307C}</a:tableStyleId>
              </a:tblPr>
              <a:tblGrid>
                <a:gridCol w="1627632">
                  <a:extLst>
                    <a:ext uri="{9D8B030D-6E8A-4147-A177-3AD203B41FA5}">
                      <a16:colId xmlns:a16="http://schemas.microsoft.com/office/drawing/2014/main" val="20000"/>
                    </a:ext>
                  </a:extLst>
                </a:gridCol>
                <a:gridCol w="3580790">
                  <a:extLst>
                    <a:ext uri="{9D8B030D-6E8A-4147-A177-3AD203B41FA5}">
                      <a16:colId xmlns:a16="http://schemas.microsoft.com/office/drawing/2014/main" val="20001"/>
                    </a:ext>
                  </a:extLst>
                </a:gridCol>
                <a:gridCol w="2929737">
                  <a:extLst>
                    <a:ext uri="{9D8B030D-6E8A-4147-A177-3AD203B41FA5}">
                      <a16:colId xmlns:a16="http://schemas.microsoft.com/office/drawing/2014/main" val="20002"/>
                    </a:ext>
                  </a:extLst>
                </a:gridCol>
              </a:tblGrid>
              <a:tr h="365760">
                <a:tc>
                  <a:txBody>
                    <a:bodyPr/>
                    <a:lstStyle/>
                    <a:p>
                      <a:r>
                        <a:rPr sz="1400" b="1">
                          <a:solidFill>
                            <a:srgbClr val="FFFFFF"/>
                          </a:solidFill>
                          <a:latin typeface="Arial"/>
                        </a:rPr>
                        <a:t>Behavior</a:t>
                      </a:r>
                    </a:p>
                  </a:txBody>
                  <a:tcPr marR="73152" marT="36576" marB="36576" anchor="ctr">
                    <a:solidFill>
                      <a:srgbClr val="1B2A41"/>
                    </a:solidFill>
                  </a:tcPr>
                </a:tc>
                <a:tc>
                  <a:txBody>
                    <a:bodyPr/>
                    <a:lstStyle/>
                    <a:p>
                      <a:r>
                        <a:rPr sz="1400" b="1">
                          <a:solidFill>
                            <a:srgbClr val="FFFFFF"/>
                          </a:solidFill>
                          <a:latin typeface="Arial"/>
                        </a:rPr>
                        <a:t>Generative</a:t>
                      </a:r>
                    </a:p>
                  </a:txBody>
                  <a:tcPr marR="73152" marT="36576" marB="36576" anchor="ctr">
                    <a:solidFill>
                      <a:srgbClr val="1B2A41"/>
                    </a:solidFill>
                  </a:tcPr>
                </a:tc>
                <a:tc>
                  <a:txBody>
                    <a:bodyPr/>
                    <a:lstStyle/>
                    <a:p>
                      <a:r>
                        <a:rPr sz="1400" b="1">
                          <a:solidFill>
                            <a:srgbClr val="FFFFFF"/>
                          </a:solidFill>
                          <a:latin typeface="Arial"/>
                        </a:rPr>
                        <a:t>Classic</a:t>
                      </a:r>
                    </a:p>
                  </a:txBody>
                  <a:tcPr marR="73152" marT="36576" marB="36576" anchor="ctr">
                    <a:solidFill>
                      <a:srgbClr val="1B2A41"/>
                    </a:solidFill>
                  </a:tcPr>
                </a:tc>
                <a:extLst>
                  <a:ext uri="{0D108BD9-81ED-4DB2-BD59-A6C34878D82A}">
                    <a16:rowId xmlns:a16="http://schemas.microsoft.com/office/drawing/2014/main" val="10000"/>
                  </a:ext>
                </a:extLst>
              </a:tr>
              <a:tr h="596188">
                <a:tc>
                  <a:txBody>
                    <a:bodyPr/>
                    <a:lstStyle/>
                    <a:p>
                      <a:r>
                        <a:rPr sz="1300" b="1">
                          <a:solidFill>
                            <a:srgbClr val="1B2A41"/>
                          </a:solidFill>
                          <a:latin typeface="Arial"/>
                        </a:rPr>
                        <a:t>Topics</a:t>
                      </a:r>
                    </a:p>
                  </a:txBody>
                  <a:tcPr marR="73152" marT="36576" marB="36576" anchor="ctr">
                    <a:solidFill>
                      <a:srgbClr val="FFFFFF"/>
                    </a:solidFill>
                  </a:tcPr>
                </a:tc>
                <a:tc>
                  <a:txBody>
                    <a:bodyPr/>
                    <a:lstStyle/>
                    <a:p>
                      <a:r>
                        <a:rPr sz="1300" b="0">
                          <a:solidFill>
                            <a:srgbClr val="1B2A41"/>
                          </a:solidFill>
                          <a:latin typeface="Arial"/>
                        </a:rPr>
                        <a:t>Selected from the description of their purpose</a:t>
                      </a:r>
                    </a:p>
                  </a:txBody>
                  <a:tcPr marR="73152" marT="36576" marB="36576" anchor="ctr">
                    <a:solidFill>
                      <a:srgbClr val="FFFFFF"/>
                    </a:solidFill>
                  </a:tcPr>
                </a:tc>
                <a:tc>
                  <a:txBody>
                    <a:bodyPr/>
                    <a:lstStyle/>
                    <a:p>
                      <a:r>
                        <a:rPr sz="1300" b="0">
                          <a:solidFill>
                            <a:srgbClr val="1B2A41"/>
                          </a:solidFill>
                          <a:latin typeface="Arial"/>
                        </a:rPr>
                        <a:t>Matched on trigger phrases</a:t>
                      </a:r>
                    </a:p>
                  </a:txBody>
                  <a:tcPr marR="73152" marT="36576" marB="36576" anchor="ctr">
                    <a:solidFill>
                      <a:srgbClr val="FFFFFF"/>
                    </a:solidFill>
                  </a:tcPr>
                </a:tc>
                <a:extLst>
                  <a:ext uri="{0D108BD9-81ED-4DB2-BD59-A6C34878D82A}">
                    <a16:rowId xmlns:a16="http://schemas.microsoft.com/office/drawing/2014/main" val="10001"/>
                  </a:ext>
                </a:extLst>
              </a:tr>
              <a:tr h="596188">
                <a:tc>
                  <a:txBody>
                    <a:bodyPr/>
                    <a:lstStyle/>
                    <a:p>
                      <a:r>
                        <a:rPr sz="1300" b="1">
                          <a:solidFill>
                            <a:srgbClr val="1B2A41"/>
                          </a:solidFill>
                          <a:latin typeface="Arial"/>
                        </a:rPr>
                        <a:t>Tools</a:t>
                      </a:r>
                    </a:p>
                  </a:txBody>
                  <a:tcPr marR="73152" marT="36576" marB="36576" anchor="ctr">
                    <a:solidFill>
                      <a:srgbClr val="EEF1F4"/>
                    </a:solidFill>
                  </a:tcPr>
                </a:tc>
                <a:tc>
                  <a:txBody>
                    <a:bodyPr/>
                    <a:lstStyle/>
                    <a:p>
                      <a:r>
                        <a:rPr sz="1300" b="0">
                          <a:solidFill>
                            <a:srgbClr val="1B2A41"/>
                          </a:solidFill>
                          <a:latin typeface="Arial"/>
                        </a:rPr>
                        <a:t>The planner can call them directly</a:t>
                      </a:r>
                    </a:p>
                  </a:txBody>
                  <a:tcPr marR="73152" marT="36576" marB="36576" anchor="ctr">
                    <a:solidFill>
                      <a:srgbClr val="EEF1F4"/>
                    </a:solidFill>
                  </a:tcPr>
                </a:tc>
                <a:tc>
                  <a:txBody>
                    <a:bodyPr/>
                    <a:lstStyle/>
                    <a:p>
                      <a:r>
                        <a:rPr sz="1300" b="0">
                          <a:solidFill>
                            <a:srgbClr val="1B2A41"/>
                          </a:solidFill>
                          <a:latin typeface="Arial"/>
                        </a:rPr>
                        <a:t>Called only from inside a topic</a:t>
                      </a:r>
                    </a:p>
                  </a:txBody>
                  <a:tcPr marR="73152" marT="36576" marB="36576" anchor="ctr">
                    <a:solidFill>
                      <a:srgbClr val="EEF1F4"/>
                    </a:solidFill>
                  </a:tcPr>
                </a:tc>
                <a:extLst>
                  <a:ext uri="{0D108BD9-81ED-4DB2-BD59-A6C34878D82A}">
                    <a16:rowId xmlns:a16="http://schemas.microsoft.com/office/drawing/2014/main" val="10002"/>
                  </a:ext>
                </a:extLst>
              </a:tr>
              <a:tr h="596188">
                <a:tc>
                  <a:txBody>
                    <a:bodyPr/>
                    <a:lstStyle/>
                    <a:p>
                      <a:r>
                        <a:rPr sz="1300" b="1">
                          <a:solidFill>
                            <a:srgbClr val="1B2A41"/>
                          </a:solidFill>
                          <a:latin typeface="Arial"/>
                        </a:rPr>
                        <a:t>Knowledge</a:t>
                      </a:r>
                    </a:p>
                  </a:txBody>
                  <a:tcPr marR="73152" marT="36576" marB="36576" anchor="ctr">
                    <a:solidFill>
                      <a:srgbClr val="FFFFFF"/>
                    </a:solidFill>
                  </a:tcPr>
                </a:tc>
                <a:tc>
                  <a:txBody>
                    <a:bodyPr/>
                    <a:lstStyle/>
                    <a:p>
                      <a:r>
                        <a:rPr sz="1300" b="0">
                          <a:solidFill>
                            <a:srgbClr val="1B2A41"/>
                          </a:solidFill>
                          <a:latin typeface="Arial"/>
                        </a:rPr>
                        <a:t>Searched proactively during a turn</a:t>
                      </a:r>
                    </a:p>
                  </a:txBody>
                  <a:tcPr marR="73152" marT="36576" marB="36576" anchor="ctr">
                    <a:solidFill>
                      <a:srgbClr val="FFFFFF"/>
                    </a:solidFill>
                  </a:tcPr>
                </a:tc>
                <a:tc>
                  <a:txBody>
                    <a:bodyPr/>
                    <a:lstStyle/>
                    <a:p>
                      <a:r>
                        <a:rPr sz="1300" b="0">
                          <a:solidFill>
                            <a:srgbClr val="1B2A41"/>
                          </a:solidFill>
                          <a:latin typeface="Arial"/>
                        </a:rPr>
                        <a:t>Fallback when no topic matches</a:t>
                      </a:r>
                    </a:p>
                  </a:txBody>
                  <a:tcPr marR="73152" marT="36576" marB="36576" anchor="ctr">
                    <a:solidFill>
                      <a:srgbClr val="FFFFFF"/>
                    </a:solidFill>
                  </a:tcPr>
                </a:tc>
                <a:extLst>
                  <a:ext uri="{0D108BD9-81ED-4DB2-BD59-A6C34878D82A}">
                    <a16:rowId xmlns:a16="http://schemas.microsoft.com/office/drawing/2014/main" val="10003"/>
                  </a:ext>
                </a:extLst>
              </a:tr>
              <a:tr h="596188">
                <a:tc>
                  <a:txBody>
                    <a:bodyPr/>
                    <a:lstStyle/>
                    <a:p>
                      <a:r>
                        <a:rPr sz="1300" b="1">
                          <a:solidFill>
                            <a:srgbClr val="1B2A41"/>
                          </a:solidFill>
                          <a:latin typeface="Arial"/>
                        </a:rPr>
                        <a:t>Missing input</a:t>
                      </a:r>
                    </a:p>
                  </a:txBody>
                  <a:tcPr marR="73152" marT="36576" marB="36576" anchor="ctr">
                    <a:solidFill>
                      <a:srgbClr val="EEF1F4"/>
                    </a:solidFill>
                  </a:tcPr>
                </a:tc>
                <a:tc>
                  <a:txBody>
                    <a:bodyPr/>
                    <a:lstStyle/>
                    <a:p>
                      <a:r>
                        <a:rPr sz="1300" b="0">
                          <a:solidFill>
                            <a:srgbClr val="1B2A41"/>
                          </a:solidFill>
                          <a:latin typeface="Arial"/>
                        </a:rPr>
                        <a:t>The agent generates the question</a:t>
                      </a:r>
                    </a:p>
                  </a:txBody>
                  <a:tcPr marR="73152" marT="36576" marB="36576" anchor="ctr">
                    <a:solidFill>
                      <a:srgbClr val="EEF1F4"/>
                    </a:solidFill>
                  </a:tcPr>
                </a:tc>
                <a:tc>
                  <a:txBody>
                    <a:bodyPr/>
                    <a:lstStyle/>
                    <a:p>
                      <a:r>
                        <a:rPr sz="1300" b="0">
                          <a:solidFill>
                            <a:srgbClr val="1B2A41"/>
                          </a:solidFill>
                          <a:latin typeface="Arial"/>
                        </a:rPr>
                        <a:t>You author a Question node</a:t>
                      </a:r>
                    </a:p>
                  </a:txBody>
                  <a:tcPr marR="73152" marT="36576" marB="36576" anchor="ctr">
                    <a:solidFill>
                      <a:srgbClr val="EEF1F4"/>
                    </a:solidFill>
                  </a:tcPr>
                </a:tc>
                <a:extLst>
                  <a:ext uri="{0D108BD9-81ED-4DB2-BD59-A6C34878D82A}">
                    <a16:rowId xmlns:a16="http://schemas.microsoft.com/office/drawing/2014/main" val="10004"/>
                  </a:ext>
                </a:extLst>
              </a:tr>
              <a:tr h="596188">
                <a:tc>
                  <a:txBody>
                    <a:bodyPr/>
                    <a:lstStyle/>
                    <a:p>
                      <a:r>
                        <a:rPr sz="1300" b="1">
                          <a:solidFill>
                            <a:srgbClr val="1B2A41"/>
                          </a:solidFill>
                          <a:latin typeface="Arial"/>
                        </a:rPr>
                        <a:t>Per turn</a:t>
                      </a:r>
                    </a:p>
                  </a:txBody>
                  <a:tcPr marR="73152" marT="36576" marB="36576" anchor="ctr">
                    <a:solidFill>
                      <a:srgbClr val="FFFFFF"/>
                    </a:solidFill>
                  </a:tcPr>
                </a:tc>
                <a:tc>
                  <a:txBody>
                    <a:bodyPr/>
                    <a:lstStyle/>
                    <a:p>
                      <a:r>
                        <a:rPr sz="1300" b="0">
                          <a:solidFill>
                            <a:srgbClr val="1B2A41"/>
                          </a:solidFill>
                          <a:latin typeface="Arial"/>
                        </a:rPr>
                        <a:t>Combines topics, tools, and knowledge</a:t>
                      </a:r>
                    </a:p>
                  </a:txBody>
                  <a:tcPr marR="73152" marT="36576" marB="36576" anchor="ctr">
                    <a:solidFill>
                      <a:srgbClr val="FFFFFF"/>
                    </a:solidFill>
                  </a:tcPr>
                </a:tc>
                <a:tc>
                  <a:txBody>
                    <a:bodyPr/>
                    <a:lstStyle/>
                    <a:p>
                      <a:r>
                        <a:rPr sz="1300" b="0">
                          <a:solidFill>
                            <a:srgbClr val="1B2A41"/>
                          </a:solidFill>
                          <a:latin typeface="Arial"/>
                        </a:rPr>
                        <a:t>Tries to select a single topic</a:t>
                      </a:r>
                    </a:p>
                  </a:txBody>
                  <a:tcPr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How Microsoft frames a Copilot Studio project</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learn.microsoft.com/microsoft-copilot-studio/guidance/overview</a:t>
            </a:r>
          </a:p>
        </p:txBody>
      </p:sp>
      <p:graphicFrame>
        <p:nvGraphicFramePr>
          <p:cNvPr id="5" name="Table 4"/>
          <p:cNvGraphicFramePr>
            <a:graphicFrameLocks noGrp="1"/>
          </p:cNvGraphicFramePr>
          <p:nvPr/>
        </p:nvGraphicFramePr>
        <p:xfrm>
          <a:off x="502920" y="1335024"/>
          <a:ext cx="8138159" cy="3346704"/>
        </p:xfrm>
        <a:graphic>
          <a:graphicData uri="http://schemas.openxmlformats.org/drawingml/2006/table">
            <a:tbl>
              <a:tblPr>
                <a:tableStyleId>{2D5ABB26-0587-4C30-8999-92F81FD0307C}</a:tableStyleId>
              </a:tblPr>
              <a:tblGrid>
                <a:gridCol w="1953158">
                  <a:extLst>
                    <a:ext uri="{9D8B030D-6E8A-4147-A177-3AD203B41FA5}">
                      <a16:colId xmlns:a16="http://schemas.microsoft.com/office/drawing/2014/main" val="20000"/>
                    </a:ext>
                  </a:extLst>
                </a:gridCol>
                <a:gridCol w="6185001">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Pillar</a:t>
                      </a:r>
                    </a:p>
                  </a:txBody>
                  <a:tcPr marR="73152" marT="36576" marB="36576" anchor="ctr">
                    <a:solidFill>
                      <a:srgbClr val="1B2A41"/>
                    </a:solidFill>
                  </a:tcPr>
                </a:tc>
                <a:tc>
                  <a:txBody>
                    <a:bodyPr/>
                    <a:lstStyle/>
                    <a:p>
                      <a:r>
                        <a:rPr sz="1400" b="1">
                          <a:solidFill>
                            <a:srgbClr val="FFFFFF"/>
                          </a:solidFill>
                          <a:latin typeface="Arial"/>
                        </a:rPr>
                        <a:t>What it covers</a:t>
                      </a:r>
                    </a:p>
                  </a:txBody>
                  <a:tcPr marR="73152" marT="36576" marB="36576" anchor="ctr">
                    <a:solidFill>
                      <a:srgbClr val="1B2A41"/>
                    </a:solidFill>
                  </a:tcPr>
                </a:tc>
                <a:extLst>
                  <a:ext uri="{0D108BD9-81ED-4DB2-BD59-A6C34878D82A}">
                    <a16:rowId xmlns:a16="http://schemas.microsoft.com/office/drawing/2014/main" val="10000"/>
                  </a:ext>
                </a:extLst>
              </a:tr>
              <a:tr h="496824">
                <a:tc>
                  <a:txBody>
                    <a:bodyPr/>
                    <a:lstStyle/>
                    <a:p>
                      <a:r>
                        <a:rPr sz="1300" b="1">
                          <a:solidFill>
                            <a:srgbClr val="1B2A41"/>
                          </a:solidFill>
                          <a:latin typeface="Arial"/>
                        </a:rPr>
                        <a:t>Architect</a:t>
                      </a:r>
                    </a:p>
                  </a:txBody>
                  <a:tcPr marR="73152" marT="36576" marB="36576" anchor="ctr">
                    <a:solidFill>
                      <a:srgbClr val="FFFFFF"/>
                    </a:solidFill>
                  </a:tcPr>
                </a:tc>
                <a:tc>
                  <a:txBody>
                    <a:bodyPr/>
                    <a:lstStyle/>
                    <a:p>
                      <a:r>
                        <a:rPr sz="1300" b="0">
                          <a:solidFill>
                            <a:srgbClr val="1B2A41"/>
                          </a:solidFill>
                          <a:latin typeface="Arial"/>
                        </a:rPr>
                        <a:t>Principles and patterns for secure, reliable agent solutions</a:t>
                      </a:r>
                    </a:p>
                  </a:txBody>
                  <a:tcPr marR="73152" marT="36576" marB="36576" anchor="ctr">
                    <a:solidFill>
                      <a:srgbClr val="FFFFFF"/>
                    </a:solidFill>
                  </a:tcPr>
                </a:tc>
                <a:extLst>
                  <a:ext uri="{0D108BD9-81ED-4DB2-BD59-A6C34878D82A}">
                    <a16:rowId xmlns:a16="http://schemas.microsoft.com/office/drawing/2014/main" val="10001"/>
                  </a:ext>
                </a:extLst>
              </a:tr>
              <a:tr h="496824">
                <a:tc>
                  <a:txBody>
                    <a:bodyPr/>
                    <a:lstStyle/>
                    <a:p>
                      <a:r>
                        <a:rPr sz="1300" b="1">
                          <a:solidFill>
                            <a:srgbClr val="1B2A41"/>
                          </a:solidFill>
                          <a:latin typeface="Arial"/>
                        </a:rPr>
                        <a:t>Plan</a:t>
                      </a:r>
                    </a:p>
                  </a:txBody>
                  <a:tcPr marR="73152" marT="36576" marB="36576" anchor="ctr">
                    <a:solidFill>
                      <a:srgbClr val="EEF1F4"/>
                    </a:solidFill>
                  </a:tcPr>
                </a:tc>
                <a:tc>
                  <a:txBody>
                    <a:bodyPr/>
                    <a:lstStyle/>
                    <a:p>
                      <a:r>
                        <a:rPr sz="1300" b="0">
                          <a:solidFill>
                            <a:srgbClr val="1B2A41"/>
                          </a:solidFill>
                          <a:latin typeface="Arial"/>
                        </a:rPr>
                        <a:t>Vision, scope, success measures, risks, team roles, technical readiness</a:t>
                      </a:r>
                    </a:p>
                  </a:txBody>
                  <a:tcPr marR="73152" marT="36576" marB="36576" anchor="ctr">
                    <a:solidFill>
                      <a:srgbClr val="EEF1F4"/>
                    </a:solidFill>
                  </a:tcPr>
                </a:tc>
                <a:extLst>
                  <a:ext uri="{0D108BD9-81ED-4DB2-BD59-A6C34878D82A}">
                    <a16:rowId xmlns:a16="http://schemas.microsoft.com/office/drawing/2014/main" val="10002"/>
                  </a:ext>
                </a:extLst>
              </a:tr>
              <a:tr h="496824">
                <a:tc>
                  <a:txBody>
                    <a:bodyPr/>
                    <a:lstStyle/>
                    <a:p>
                      <a:r>
                        <a:rPr sz="1300" b="1">
                          <a:solidFill>
                            <a:srgbClr val="1B2A41"/>
                          </a:solidFill>
                          <a:latin typeface="Arial"/>
                        </a:rPr>
                        <a:t>Implement</a:t>
                      </a:r>
                    </a:p>
                  </a:txBody>
                  <a:tcPr marR="73152" marT="36576" marB="36576" anchor="ctr">
                    <a:solidFill>
                      <a:srgbClr val="FFFFFF"/>
                    </a:solidFill>
                  </a:tcPr>
                </a:tc>
                <a:tc>
                  <a:txBody>
                    <a:bodyPr/>
                    <a:lstStyle/>
                    <a:p>
                      <a:r>
                        <a:rPr sz="1300" b="0">
                          <a:solidFill>
                            <a:srgbClr val="1B2A41"/>
                          </a:solidFill>
                          <a:latin typeface="Arial"/>
                        </a:rPr>
                        <a:t>Topics, tools, orchestration, channels, solution configuration</a:t>
                      </a:r>
                    </a:p>
                  </a:txBody>
                  <a:tcPr marR="73152" marT="36576" marB="36576" anchor="ctr">
                    <a:solidFill>
                      <a:srgbClr val="FFFFFF"/>
                    </a:solidFill>
                  </a:tcPr>
                </a:tc>
                <a:extLst>
                  <a:ext uri="{0D108BD9-81ED-4DB2-BD59-A6C34878D82A}">
                    <a16:rowId xmlns:a16="http://schemas.microsoft.com/office/drawing/2014/main" val="10003"/>
                  </a:ext>
                </a:extLst>
              </a:tr>
              <a:tr h="496824">
                <a:tc>
                  <a:txBody>
                    <a:bodyPr/>
                    <a:lstStyle/>
                    <a:p>
                      <a:r>
                        <a:rPr sz="1300" b="1">
                          <a:solidFill>
                            <a:srgbClr val="1B2A41"/>
                          </a:solidFill>
                          <a:latin typeface="Arial"/>
                        </a:rPr>
                        <a:t>Adopt</a:t>
                      </a:r>
                    </a:p>
                  </a:txBody>
                  <a:tcPr marR="73152" marT="36576" marB="36576" anchor="ctr">
                    <a:solidFill>
                      <a:srgbClr val="EEF1F4"/>
                    </a:solidFill>
                  </a:tcPr>
                </a:tc>
                <a:tc>
                  <a:txBody>
                    <a:bodyPr/>
                    <a:lstStyle/>
                    <a:p>
                      <a:r>
                        <a:rPr sz="1300" b="0">
                          <a:solidFill>
                            <a:srgbClr val="1B2A41"/>
                          </a:solidFill>
                          <a:latin typeface="Arial"/>
                        </a:rPr>
                        <a:t>Maturity model, maker community, transformation stories</a:t>
                      </a:r>
                    </a:p>
                  </a:txBody>
                  <a:tcPr marR="73152" marT="36576" marB="36576" anchor="ctr">
                    <a:solidFill>
                      <a:srgbClr val="EEF1F4"/>
                    </a:solidFill>
                  </a:tcPr>
                </a:tc>
                <a:extLst>
                  <a:ext uri="{0D108BD9-81ED-4DB2-BD59-A6C34878D82A}">
                    <a16:rowId xmlns:a16="http://schemas.microsoft.com/office/drawing/2014/main" val="10004"/>
                  </a:ext>
                </a:extLst>
              </a:tr>
              <a:tr h="496824">
                <a:tc>
                  <a:txBody>
                    <a:bodyPr/>
                    <a:lstStyle/>
                    <a:p>
                      <a:r>
                        <a:rPr sz="1300" b="1">
                          <a:solidFill>
                            <a:srgbClr val="1B2A41"/>
                          </a:solidFill>
                          <a:latin typeface="Arial"/>
                        </a:rPr>
                        <a:t>Manage</a:t>
                      </a:r>
                    </a:p>
                  </a:txBody>
                  <a:tcPr marR="73152" marT="36576" marB="36576" anchor="ctr">
                    <a:solidFill>
                      <a:srgbClr val="FFFFFF"/>
                    </a:solidFill>
                  </a:tcPr>
                </a:tc>
                <a:tc>
                  <a:txBody>
                    <a:bodyPr/>
                    <a:lstStyle/>
                    <a:p>
                      <a:r>
                        <a:rPr sz="1300" b="0">
                          <a:solidFill>
                            <a:srgbClr val="1B2A41"/>
                          </a:solidFill>
                          <a:latin typeface="Arial"/>
                        </a:rPr>
                        <a:t>Environment controls, data policies, access, monitoring, compliance</a:t>
                      </a:r>
                    </a:p>
                  </a:txBody>
                  <a:tcPr marR="73152" marT="36576" marB="36576" anchor="ctr">
                    <a:solidFill>
                      <a:srgbClr val="FFFFFF"/>
                    </a:solidFill>
                  </a:tcPr>
                </a:tc>
                <a:extLst>
                  <a:ext uri="{0D108BD9-81ED-4DB2-BD59-A6C34878D82A}">
                    <a16:rowId xmlns:a16="http://schemas.microsoft.com/office/drawing/2014/main" val="10005"/>
                  </a:ext>
                </a:extLst>
              </a:tr>
              <a:tr h="496824">
                <a:tc>
                  <a:txBody>
                    <a:bodyPr/>
                    <a:lstStyle/>
                    <a:p>
                      <a:r>
                        <a:rPr sz="1300" b="1">
                          <a:solidFill>
                            <a:srgbClr val="1B2A41"/>
                          </a:solidFill>
                          <a:latin typeface="Arial"/>
                        </a:rPr>
                        <a:t>Improve</a:t>
                      </a:r>
                    </a:p>
                  </a:txBody>
                  <a:tcPr marR="73152" marT="36576" marB="36576" anchor="ctr">
                    <a:solidFill>
                      <a:srgbClr val="EEF1F4"/>
                    </a:solidFill>
                  </a:tcPr>
                </a:tc>
                <a:tc>
                  <a:txBody>
                    <a:bodyPr/>
                    <a:lstStyle/>
                    <a:p>
                      <a:r>
                        <a:rPr sz="1300" b="0">
                          <a:solidFill>
                            <a:srgbClr val="1B2A41"/>
                          </a:solidFill>
                          <a:latin typeface="Arial"/>
                        </a:rPr>
                        <a:t>Analytics, KPIs, user feedback, iterative refinement</a:t>
                      </a:r>
                    </a:p>
                  </a:txBody>
                  <a:tcPr marR="73152" marT="36576" marB="36576" anchor="ctr">
                    <a:solidFill>
                      <a:srgbClr val="EEF1F4"/>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A maker and a learner</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700" b="0">
                <a:latin typeface="Arial"/>
              </a:rPr>
              <a:t>You: design the assistant, own its boundary, and read its evidence</a:t>
            </a:r>
          </a:p>
          <a:p>
            <a:pPr>
              <a:spcAft>
                <a:spcPts val="800"/>
              </a:spcAft>
            </a:pPr>
            <a:r>
              <a:rPr sz="1700" b="0">
                <a:latin typeface="Arial"/>
              </a:rPr>
              <a:t>Contoso colleague: preparing for Azure AI Fundamentals, exam AI-901</a:t>
            </a:r>
          </a:p>
          <a:p>
            <a:pPr>
              <a:spcAft>
                <a:spcPts val="800"/>
              </a:spcAft>
            </a:pPr>
            <a:r>
              <a:rPr sz="1700" b="0">
                <a:latin typeface="Arial"/>
              </a:rPr>
              <a:t>Shared need: explanations backed by a source, and practice that waits for an answer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The brief before the build</a:t>
            </a:r>
          </a:p>
        </p:txBody>
      </p:sp>
      <p:graphicFrame>
        <p:nvGraphicFramePr>
          <p:cNvPr id="3" name="Table 2"/>
          <p:cNvGraphicFramePr>
            <a:graphicFrameLocks noGrp="1"/>
          </p:cNvGraphicFramePr>
          <p:nvPr/>
        </p:nvGraphicFramePr>
        <p:xfrm>
          <a:off x="502920" y="1335024"/>
          <a:ext cx="8138159" cy="3346704"/>
        </p:xfrm>
        <a:graphic>
          <a:graphicData uri="http://schemas.openxmlformats.org/drawingml/2006/table">
            <a:tbl>
              <a:tblPr>
                <a:tableStyleId>{2D5ABB26-0587-4C30-8999-92F81FD0307C}</a:tableStyleId>
              </a:tblPr>
              <a:tblGrid>
                <a:gridCol w="2115921">
                  <a:extLst>
                    <a:ext uri="{9D8B030D-6E8A-4147-A177-3AD203B41FA5}">
                      <a16:colId xmlns:a16="http://schemas.microsoft.com/office/drawing/2014/main" val="20000"/>
                    </a:ext>
                  </a:extLst>
                </a:gridCol>
                <a:gridCol w="6022238">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Brief element</a:t>
                      </a:r>
                    </a:p>
                  </a:txBody>
                  <a:tcPr marR="73152" marT="36576" marB="36576" anchor="ctr">
                    <a:solidFill>
                      <a:srgbClr val="1B2A41"/>
                    </a:solidFill>
                  </a:tcPr>
                </a:tc>
                <a:tc>
                  <a:txBody>
                    <a:bodyPr/>
                    <a:lstStyle/>
                    <a:p>
                      <a:r>
                        <a:rPr sz="1400" b="1">
                          <a:solidFill>
                            <a:srgbClr val="FFFFFF"/>
                          </a:solidFill>
                          <a:latin typeface="Arial"/>
                        </a:rPr>
                        <a:t>Contoso example</a:t>
                      </a:r>
                    </a:p>
                  </a:txBody>
                  <a:tcPr marR="73152" marT="36576" marB="36576" anchor="ctr">
                    <a:solidFill>
                      <a:srgbClr val="1B2A41"/>
                    </a:solidFill>
                  </a:tcPr>
                </a:tc>
                <a:extLst>
                  <a:ext uri="{0D108BD9-81ED-4DB2-BD59-A6C34878D82A}">
                    <a16:rowId xmlns:a16="http://schemas.microsoft.com/office/drawing/2014/main" val="10000"/>
                  </a:ext>
                </a:extLst>
              </a:tr>
              <a:tr h="745236">
                <a:tc>
                  <a:txBody>
                    <a:bodyPr/>
                    <a:lstStyle/>
                    <a:p>
                      <a:r>
                        <a:rPr sz="1400" b="1">
                          <a:solidFill>
                            <a:srgbClr val="1B2A41"/>
                          </a:solidFill>
                          <a:latin typeface="Arial"/>
                        </a:rPr>
                        <a:t>Persona and job</a:t>
                      </a:r>
                    </a:p>
                  </a:txBody>
                  <a:tcPr marR="73152" marT="36576" marB="36576" anchor="ctr">
                    <a:solidFill>
                      <a:srgbClr val="FFFFFF"/>
                    </a:solidFill>
                  </a:tcPr>
                </a:tc>
                <a:tc>
                  <a:txBody>
                    <a:bodyPr/>
                    <a:lstStyle/>
                    <a:p>
                      <a:r>
                        <a:rPr sz="1400" b="0">
                          <a:solidFill>
                            <a:srgbClr val="1B2A41"/>
                          </a:solidFill>
                          <a:latin typeface="Arial"/>
                        </a:rPr>
                        <a:t>An AI beginner needs supported explanations and practice</a:t>
                      </a:r>
                    </a:p>
                  </a:txBody>
                  <a:tcPr marR="73152" marT="36576" marB="36576" anchor="ctr">
                    <a:solidFill>
                      <a:srgbClr val="FFFFFF"/>
                    </a:solidFill>
                  </a:tcPr>
                </a:tc>
                <a:extLst>
                  <a:ext uri="{0D108BD9-81ED-4DB2-BD59-A6C34878D82A}">
                    <a16:rowId xmlns:a16="http://schemas.microsoft.com/office/drawing/2014/main" val="10001"/>
                  </a:ext>
                </a:extLst>
              </a:tr>
              <a:tr h="745236">
                <a:tc>
                  <a:txBody>
                    <a:bodyPr/>
                    <a:lstStyle/>
                    <a:p>
                      <a:r>
                        <a:rPr sz="1400" b="1">
                          <a:solidFill>
                            <a:srgbClr val="1B2A41"/>
                          </a:solidFill>
                          <a:latin typeface="Arial"/>
                        </a:rPr>
                        <a:t>Instructions</a:t>
                      </a:r>
                    </a:p>
                  </a:txBody>
                  <a:tcPr marR="73152" marT="36576" marB="36576" anchor="ctr">
                    <a:solidFill>
                      <a:srgbClr val="EEF1F4"/>
                    </a:solidFill>
                  </a:tcPr>
                </a:tc>
                <a:tc>
                  <a:txBody>
                    <a:bodyPr/>
                    <a:lstStyle/>
                    <a:p>
                      <a:r>
                        <a:rPr sz="1400" b="0">
                          <a:solidFill>
                            <a:srgbClr val="1B2A41"/>
                          </a:solidFill>
                          <a:latin typeface="Arial"/>
                        </a:rPr>
                        <a:t>Use the course reference. Say when it does not support an answer.</a:t>
                      </a:r>
                    </a:p>
                  </a:txBody>
                  <a:tcPr marR="73152" marT="36576" marB="36576" anchor="ctr">
                    <a:solidFill>
                      <a:srgbClr val="EEF1F4"/>
                    </a:solidFill>
                  </a:tcPr>
                </a:tc>
                <a:extLst>
                  <a:ext uri="{0D108BD9-81ED-4DB2-BD59-A6C34878D82A}">
                    <a16:rowId xmlns:a16="http://schemas.microsoft.com/office/drawing/2014/main" val="10002"/>
                  </a:ext>
                </a:extLst>
              </a:tr>
              <a:tr h="745236">
                <a:tc>
                  <a:txBody>
                    <a:bodyPr/>
                    <a:lstStyle/>
                    <a:p>
                      <a:r>
                        <a:rPr sz="1400" b="1">
                          <a:solidFill>
                            <a:srgbClr val="1B2A41"/>
                          </a:solidFill>
                          <a:latin typeface="Arial"/>
                        </a:rPr>
                        <a:t>Boundary</a:t>
                      </a:r>
                    </a:p>
                  </a:txBody>
                  <a:tcPr marR="73152" marT="36576" marB="36576" anchor="ctr">
                    <a:solidFill>
                      <a:srgbClr val="FFFFFF"/>
                    </a:solidFill>
                  </a:tcPr>
                </a:tc>
                <a:tc>
                  <a:txBody>
                    <a:bodyPr/>
                    <a:lstStyle/>
                    <a:p>
                      <a:r>
                        <a:rPr sz="1400" b="0">
                          <a:solidFill>
                            <a:srgbClr val="1B2A41"/>
                          </a:solidFill>
                          <a:latin typeface="Arial"/>
                        </a:rPr>
                        <a:t>No exam booking, private policy claims, or pass guarantees</a:t>
                      </a:r>
                    </a:p>
                  </a:txBody>
                  <a:tcPr marR="73152" marT="36576" marB="36576" anchor="ctr">
                    <a:solidFill>
                      <a:srgbClr val="FFFFFF"/>
                    </a:solidFill>
                  </a:tcPr>
                </a:tc>
                <a:extLst>
                  <a:ext uri="{0D108BD9-81ED-4DB2-BD59-A6C34878D82A}">
                    <a16:rowId xmlns:a16="http://schemas.microsoft.com/office/drawing/2014/main" val="10003"/>
                  </a:ext>
                </a:extLst>
              </a:tr>
              <a:tr h="745236">
                <a:tc>
                  <a:txBody>
                    <a:bodyPr/>
                    <a:lstStyle/>
                    <a:p>
                      <a:r>
                        <a:rPr sz="1400" b="1">
                          <a:solidFill>
                            <a:srgbClr val="1B2A41"/>
                          </a:solidFill>
                          <a:latin typeface="Arial"/>
                        </a:rPr>
                        <a:t>Success metric</a:t>
                      </a:r>
                    </a:p>
                  </a:txBody>
                  <a:tcPr marR="73152" marT="36576" marB="36576" anchor="ctr">
                    <a:solidFill>
                      <a:srgbClr val="EEF1F4"/>
                    </a:solidFill>
                  </a:tcPr>
                </a:tc>
                <a:tc>
                  <a:txBody>
                    <a:bodyPr/>
                    <a:lstStyle/>
                    <a:p>
                      <a:r>
                        <a:rPr sz="1400" b="0">
                          <a:solidFill>
                            <a:srgbClr val="1B2A41"/>
                          </a:solidFill>
                          <a:latin typeface="Arial"/>
                        </a:rPr>
                        <a:t>Zero invented policy answers in the recorded boundary test set</a:t>
                      </a:r>
                    </a:p>
                  </a:txBody>
                  <a:tcPr marR="73152" marT="36576" marB="36576" anchor="ctr">
                    <a:solidFill>
                      <a:srgbClr val="EEF1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The topic map</a:t>
            </a:r>
          </a:p>
        </p:txBody>
      </p:sp>
      <p:graphicFrame>
        <p:nvGraphicFramePr>
          <p:cNvPr id="3" name="Table 2"/>
          <p:cNvGraphicFramePr>
            <a:graphicFrameLocks noGrp="1"/>
          </p:cNvGraphicFramePr>
          <p:nvPr/>
        </p:nvGraphicFramePr>
        <p:xfrm>
          <a:off x="502920" y="1335024"/>
          <a:ext cx="8138159" cy="3346700"/>
        </p:xfrm>
        <a:graphic>
          <a:graphicData uri="http://schemas.openxmlformats.org/drawingml/2006/table">
            <a:tbl>
              <a:tblPr>
                <a:tableStyleId>{2D5ABB26-0587-4C30-8999-92F81FD0307C}</a:tableStyleId>
              </a:tblPr>
              <a:tblGrid>
                <a:gridCol w="2278684">
                  <a:extLst>
                    <a:ext uri="{9D8B030D-6E8A-4147-A177-3AD203B41FA5}">
                      <a16:colId xmlns:a16="http://schemas.microsoft.com/office/drawing/2014/main" val="20000"/>
                    </a:ext>
                  </a:extLst>
                </a:gridCol>
                <a:gridCol w="5859475">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Purpose</a:t>
                      </a:r>
                    </a:p>
                  </a:txBody>
                  <a:tcPr marR="73152" marT="36576" marB="36576" anchor="ctr">
                    <a:solidFill>
                      <a:srgbClr val="1B2A41"/>
                    </a:solidFill>
                  </a:tcPr>
                </a:tc>
                <a:tc>
                  <a:txBody>
                    <a:bodyPr/>
                    <a:lstStyle/>
                    <a:p>
                      <a:r>
                        <a:rPr sz="1400" b="1">
                          <a:solidFill>
                            <a:srgbClr val="FFFFFF"/>
                          </a:solidFill>
                          <a:latin typeface="Arial"/>
                        </a:rPr>
                        <a:t>Course implementation</a:t>
                      </a:r>
                    </a:p>
                  </a:txBody>
                  <a:tcPr marR="73152" marT="36576" marB="36576" anchor="ctr">
                    <a:solidFill>
                      <a:srgbClr val="1B2A41"/>
                    </a:solidFill>
                  </a:tcPr>
                </a:tc>
                <a:extLst>
                  <a:ext uri="{0D108BD9-81ED-4DB2-BD59-A6C34878D82A}">
                    <a16:rowId xmlns:a16="http://schemas.microsoft.com/office/drawing/2014/main" val="10000"/>
                  </a:ext>
                </a:extLst>
              </a:tr>
              <a:tr h="596188">
                <a:tc>
                  <a:txBody>
                    <a:bodyPr/>
                    <a:lstStyle/>
                    <a:p>
                      <a:r>
                        <a:rPr sz="1300" b="1">
                          <a:solidFill>
                            <a:srgbClr val="1B2A41"/>
                          </a:solidFill>
                          <a:latin typeface="Arial"/>
                        </a:rPr>
                        <a:t>Overview</a:t>
                      </a:r>
                    </a:p>
                  </a:txBody>
                  <a:tcPr marR="73152" marT="36576" marB="36576" anchor="ctr">
                    <a:solidFill>
                      <a:srgbClr val="FFFFFF"/>
                    </a:solidFill>
                  </a:tcPr>
                </a:tc>
                <a:tc>
                  <a:txBody>
                    <a:bodyPr/>
                    <a:lstStyle/>
                    <a:p>
                      <a:r>
                        <a:rPr sz="1300" b="0">
                          <a:solidFill>
                            <a:srgbClr val="1B2A41"/>
                          </a:solidFill>
                          <a:latin typeface="Arial"/>
                        </a:rPr>
                        <a:t>Grounded explanation from the course reference</a:t>
                      </a:r>
                    </a:p>
                  </a:txBody>
                  <a:tcPr marR="73152" marT="36576" marB="36576" anchor="ctr">
                    <a:solidFill>
                      <a:srgbClr val="FFFFFF"/>
                    </a:solidFill>
                  </a:tcPr>
                </a:tc>
                <a:extLst>
                  <a:ext uri="{0D108BD9-81ED-4DB2-BD59-A6C34878D82A}">
                    <a16:rowId xmlns:a16="http://schemas.microsoft.com/office/drawing/2014/main" val="10001"/>
                  </a:ext>
                </a:extLst>
              </a:tr>
              <a:tr h="596188">
                <a:tc>
                  <a:txBody>
                    <a:bodyPr/>
                    <a:lstStyle/>
                    <a:p>
                      <a:r>
                        <a:rPr sz="1300" b="1">
                          <a:solidFill>
                            <a:srgbClr val="1B2A41"/>
                          </a:solidFill>
                          <a:latin typeface="Arial"/>
                        </a:rPr>
                        <a:t>Practice</a:t>
                      </a:r>
                    </a:p>
                  </a:txBody>
                  <a:tcPr marR="73152" marT="36576" marB="36576" anchor="ctr">
                    <a:solidFill>
                      <a:srgbClr val="EEF1F4"/>
                    </a:solidFill>
                  </a:tcPr>
                </a:tc>
                <a:tc>
                  <a:txBody>
                    <a:bodyPr/>
                    <a:lstStyle/>
                    <a:p>
                      <a:r>
                        <a:rPr sz="1300" b="0">
                          <a:solidFill>
                            <a:srgbClr val="1B2A41"/>
                          </a:solidFill>
                          <a:latin typeface="Arial"/>
                        </a:rPr>
                        <a:t>One authored teach-question-feedback topic</a:t>
                      </a:r>
                    </a:p>
                  </a:txBody>
                  <a:tcPr marR="73152" marT="36576" marB="36576" anchor="ctr">
                    <a:solidFill>
                      <a:srgbClr val="EEF1F4"/>
                    </a:solidFill>
                  </a:tcPr>
                </a:tc>
                <a:extLst>
                  <a:ext uri="{0D108BD9-81ED-4DB2-BD59-A6C34878D82A}">
                    <a16:rowId xmlns:a16="http://schemas.microsoft.com/office/drawing/2014/main" val="10002"/>
                  </a:ext>
                </a:extLst>
              </a:tr>
              <a:tr h="596188">
                <a:tc>
                  <a:txBody>
                    <a:bodyPr/>
                    <a:lstStyle/>
                    <a:p>
                      <a:r>
                        <a:rPr sz="1300" b="1">
                          <a:solidFill>
                            <a:srgbClr val="1B2A41"/>
                          </a:solidFill>
                          <a:latin typeface="Arial"/>
                        </a:rPr>
                        <a:t>Study plan</a:t>
                      </a:r>
                    </a:p>
                  </a:txBody>
                  <a:tcPr marR="73152" marT="36576" marB="36576" anchor="ctr">
                    <a:solidFill>
                      <a:srgbClr val="FFFFFF"/>
                    </a:solidFill>
                  </a:tcPr>
                </a:tc>
                <a:tc>
                  <a:txBody>
                    <a:bodyPr/>
                    <a:lstStyle/>
                    <a:p>
                      <a:r>
                        <a:rPr sz="1300" b="0">
                          <a:solidFill>
                            <a:srgbClr val="1B2A41"/>
                          </a:solidFill>
                          <a:latin typeface="Arial"/>
                        </a:rPr>
                        <a:t>GetStudySession agent flow</a:t>
                      </a:r>
                    </a:p>
                  </a:txBody>
                  <a:tcPr marR="73152" marT="36576" marB="36576" anchor="ctr">
                    <a:solidFill>
                      <a:srgbClr val="FFFFFF"/>
                    </a:solidFill>
                  </a:tcPr>
                </a:tc>
                <a:extLst>
                  <a:ext uri="{0D108BD9-81ED-4DB2-BD59-A6C34878D82A}">
                    <a16:rowId xmlns:a16="http://schemas.microsoft.com/office/drawing/2014/main" val="10003"/>
                  </a:ext>
                </a:extLst>
              </a:tr>
              <a:tr h="596188">
                <a:tc>
                  <a:txBody>
                    <a:bodyPr/>
                    <a:lstStyle/>
                    <a:p>
                      <a:r>
                        <a:rPr sz="1300" b="1">
                          <a:solidFill>
                            <a:srgbClr val="1B2A41"/>
                          </a:solidFill>
                          <a:latin typeface="Arial"/>
                        </a:rPr>
                        <a:t>Fallback</a:t>
                      </a:r>
                    </a:p>
                  </a:txBody>
                  <a:tcPr marR="73152" marT="36576" marB="36576" anchor="ctr">
                    <a:solidFill>
                      <a:srgbClr val="EEF1F4"/>
                    </a:solidFill>
                  </a:tcPr>
                </a:tc>
                <a:tc>
                  <a:txBody>
                    <a:bodyPr/>
                    <a:lstStyle/>
                    <a:p>
                      <a:r>
                        <a:rPr sz="1300" b="0">
                          <a:solidFill>
                            <a:srgbClr val="1B2A41"/>
                          </a:solidFill>
                          <a:latin typeface="Arial"/>
                        </a:rPr>
                        <a:t>Honest limitation and mentor referral</a:t>
                      </a:r>
                    </a:p>
                  </a:txBody>
                  <a:tcPr marR="73152" marT="36576" marB="36576" anchor="ctr">
                    <a:solidFill>
                      <a:srgbClr val="EEF1F4"/>
                    </a:solidFill>
                  </a:tcPr>
                </a:tc>
                <a:extLst>
                  <a:ext uri="{0D108BD9-81ED-4DB2-BD59-A6C34878D82A}">
                    <a16:rowId xmlns:a16="http://schemas.microsoft.com/office/drawing/2014/main" val="10004"/>
                  </a:ext>
                </a:extLst>
              </a:tr>
              <a:tr h="596188">
                <a:tc>
                  <a:txBody>
                    <a:bodyPr/>
                    <a:lstStyle/>
                    <a:p>
                      <a:r>
                        <a:rPr sz="1300" b="1">
                          <a:solidFill>
                            <a:srgbClr val="1B2A41"/>
                          </a:solidFill>
                          <a:latin typeface="Arial"/>
                        </a:rPr>
                        <a:t>Search</a:t>
                      </a:r>
                    </a:p>
                  </a:txBody>
                  <a:tcPr marR="73152" marT="36576" marB="36576" anchor="ctr">
                    <a:solidFill>
                      <a:srgbClr val="FFFFFF"/>
                    </a:solidFill>
                  </a:tcPr>
                </a:tc>
                <a:tc>
                  <a:txBody>
                    <a:bodyPr/>
                    <a:lstStyle/>
                    <a:p>
                      <a:r>
                        <a:rPr sz="1300" b="0">
                          <a:solidFill>
                            <a:srgbClr val="1B2A41"/>
                          </a:solidFill>
                          <a:latin typeface="Arial"/>
                        </a:rPr>
                        <a:t>Knowledge retrieval with source inspection</a:t>
                      </a:r>
                    </a:p>
                  </a:txBody>
                  <a:tcPr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Control layers and decision boundaries</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learn.microsoft.com/microsoft-copilot-studio/guidance/generative-orchestration</a:t>
            </a:r>
          </a:p>
        </p:txBody>
      </p:sp>
      <p:sp>
        <p:nvSpPr>
          <p:cNvPr id="5" name="Rounded Rectangle 4"/>
          <p:cNvSpPr/>
          <p:nvPr/>
        </p:nvSpPr>
        <p:spPr>
          <a:xfrm>
            <a:off x="502920" y="1444752"/>
            <a:ext cx="2377440" cy="786384"/>
          </a:xfrm>
          <a:prstGeom prst="roundRect">
            <a:avLst/>
          </a:prstGeom>
          <a:solidFill>
            <a:srgbClr val="FAEBD8"/>
          </a:solidFill>
          <a:ln w="15875">
            <a:solidFill>
              <a:srgbClr val="B5620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1B2A41"/>
                </a:solidFill>
                <a:latin typeface="Arial"/>
              </a:rPr>
              <a:t>Deterministic</a:t>
            </a:r>
          </a:p>
        </p:txBody>
      </p:sp>
      <p:sp>
        <p:nvSpPr>
          <p:cNvPr id="6" name="TextBox 5"/>
          <p:cNvSpPr txBox="1"/>
          <p:nvPr/>
        </p:nvSpPr>
        <p:spPr>
          <a:xfrm>
            <a:off x="3044952" y="1499616"/>
            <a:ext cx="5486400" cy="786384"/>
          </a:xfrm>
          <a:prstGeom prst="rect">
            <a:avLst/>
          </a:prstGeom>
          <a:noFill/>
        </p:spPr>
        <p:txBody>
          <a:bodyPr wrap="square" lIns="18288" tIns="0" rIns="18288" bIns="0">
            <a:spAutoFit/>
          </a:bodyPr>
          <a:lstStyle/>
          <a:p>
            <a:pPr algn="l"/>
            <a:r>
              <a:rPr sz="1200" b="0">
                <a:solidFill>
                  <a:srgbClr val="1B2A41"/>
                </a:solidFill>
                <a:latin typeface="Arial"/>
              </a:rPr>
              <a:t>Rule-based logic you enforce for irreversible or mission-critical work. The planner cannot rewrite it. Payments, deletions, record changes.</a:t>
            </a:r>
          </a:p>
        </p:txBody>
      </p:sp>
      <p:sp>
        <p:nvSpPr>
          <p:cNvPr id="7" name="Rounded Rectangle 6"/>
          <p:cNvSpPr/>
          <p:nvPr/>
        </p:nvSpPr>
        <p:spPr>
          <a:xfrm>
            <a:off x="502920" y="2359152"/>
            <a:ext cx="2377440" cy="786384"/>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1B2A41"/>
                </a:solidFill>
                <a:latin typeface="Arial"/>
              </a:rPr>
              <a:t>Hybrid intercept</a:t>
            </a:r>
          </a:p>
        </p:txBody>
      </p:sp>
      <p:sp>
        <p:nvSpPr>
          <p:cNvPr id="8" name="TextBox 7"/>
          <p:cNvSpPr txBox="1"/>
          <p:nvPr/>
        </p:nvSpPr>
        <p:spPr>
          <a:xfrm>
            <a:off x="3044952" y="2414016"/>
            <a:ext cx="5486400" cy="786384"/>
          </a:xfrm>
          <a:prstGeom prst="rect">
            <a:avLst/>
          </a:prstGeom>
          <a:noFill/>
        </p:spPr>
        <p:txBody>
          <a:bodyPr wrap="square" lIns="18288" tIns="0" rIns="18288" bIns="0">
            <a:spAutoFit/>
          </a:bodyPr>
          <a:lstStyle/>
          <a:p>
            <a:pPr algn="l"/>
            <a:r>
              <a:rPr sz="1200" b="0">
                <a:solidFill>
                  <a:srgbClr val="1B2A41"/>
                </a:solidFill>
                <a:latin typeface="Arial"/>
              </a:rPr>
              <a:t>The planner does the work, but you insert checkpoints: an in-conversation confirmation, a value limit, or an approval a human has to grant.</a:t>
            </a:r>
          </a:p>
        </p:txBody>
      </p:sp>
      <p:sp>
        <p:nvSpPr>
          <p:cNvPr id="9" name="Rounded Rectangle 8"/>
          <p:cNvSpPr/>
          <p:nvPr/>
        </p:nvSpPr>
        <p:spPr>
          <a:xfrm>
            <a:off x="502920" y="3273552"/>
            <a:ext cx="2377440" cy="786384"/>
          </a:xfrm>
          <a:prstGeom prst="roundRect">
            <a:avLst/>
          </a:prstGeom>
          <a:solidFill>
            <a:srgbClr val="EEF1F4"/>
          </a:solidFill>
          <a:ln w="15875">
            <a:solidFill>
              <a:srgbClr val="4A60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1B2A41"/>
                </a:solidFill>
                <a:latin typeface="Arial"/>
              </a:rPr>
              <a:t>AI harness</a:t>
            </a:r>
          </a:p>
        </p:txBody>
      </p:sp>
      <p:sp>
        <p:nvSpPr>
          <p:cNvPr id="10" name="TextBox 9"/>
          <p:cNvSpPr txBox="1"/>
          <p:nvPr/>
        </p:nvSpPr>
        <p:spPr>
          <a:xfrm>
            <a:off x="3044952" y="3328416"/>
            <a:ext cx="5486400" cy="786384"/>
          </a:xfrm>
          <a:prstGeom prst="rect">
            <a:avLst/>
          </a:prstGeom>
          <a:noFill/>
        </p:spPr>
        <p:txBody>
          <a:bodyPr wrap="square" lIns="18288" tIns="0" rIns="18288" bIns="0">
            <a:spAutoFit/>
          </a:bodyPr>
          <a:lstStyle/>
          <a:p>
            <a:pPr algn="l"/>
            <a:r>
              <a:rPr sz="1200" b="0">
                <a:solidFill>
                  <a:srgbClr val="1B2A41"/>
                </a:solidFill>
                <a:latin typeface="Arial"/>
              </a:rPr>
              <a:t>Fully generative, inside guardrails. Question answering, lookups, simple multistep requests. No permission stop for routine work.</a:t>
            </a:r>
          </a:p>
        </p:txBody>
      </p:sp>
      <p:sp>
        <p:nvSpPr>
          <p:cNvPr id="11" name="TextBox 10"/>
          <p:cNvSpPr txBox="1"/>
          <p:nvPr/>
        </p:nvSpPr>
        <p:spPr>
          <a:xfrm>
            <a:off x="502920" y="4169663"/>
            <a:ext cx="8138160" cy="502920"/>
          </a:xfrm>
          <a:prstGeom prst="rect">
            <a:avLst/>
          </a:prstGeom>
          <a:noFill/>
        </p:spPr>
        <p:txBody>
          <a:bodyPr wrap="square" lIns="18288" tIns="0" rIns="18288" bIns="0">
            <a:spAutoFit/>
          </a:bodyPr>
          <a:lstStyle/>
          <a:p>
            <a:pPr algn="l"/>
            <a:r>
              <a:rPr sz="1300" b="1">
                <a:solidFill>
                  <a:srgbClr val="1B2A41"/>
                </a:solidFill>
                <a:latin typeface="Arial"/>
              </a:rPr>
              <a:t>Sort every action into one of these three before you build it. The sort is the design.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Instructions the planner can act on</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700" b="0">
                <a:latin typeface="Arial"/>
              </a:rPr>
              <a:t>Reference only tools and knowledge the agent actually has</a:t>
            </a:r>
          </a:p>
          <a:p>
            <a:pPr>
              <a:spcAft>
                <a:spcPts val="800"/>
              </a:spcAft>
            </a:pPr>
            <a:r>
              <a:rPr sz="1700" b="0">
                <a:latin typeface="Arial"/>
              </a:rPr>
              <a:t>Use exact tool names; names carry more weight than descriptions</a:t>
            </a:r>
          </a:p>
          <a:p>
            <a:pPr>
              <a:spcAft>
                <a:spcPts val="800"/>
              </a:spcAft>
            </a:pPr>
            <a:r>
              <a:rPr sz="1700" b="0">
                <a:latin typeface="Arial"/>
              </a:rPr>
              <a:t>Describe knowledge capabilities generically rather than naming a source</a:t>
            </a:r>
          </a:p>
          <a:p>
            <a:pPr>
              <a:spcAft>
                <a:spcPts val="800"/>
              </a:spcAft>
            </a:pPr>
            <a:r>
              <a:rPr sz="1700" b="0">
                <a:latin typeface="Arial"/>
              </a:rPr>
              <a:t>State the response format you want: lists, tables, citations, next steps</a:t>
            </a:r>
          </a:p>
          <a:p>
            <a:pPr>
              <a:spcAft>
                <a:spcPts val="800"/>
              </a:spcAft>
            </a:pPr>
            <a:r>
              <a:rPr sz="1700" b="0">
                <a:latin typeface="Arial"/>
              </a:rPr>
              <a:t>Define the sequence for multistep work, not just the goal</a:t>
            </a:r>
          </a:p>
          <a:p>
            <a:pPr>
              <a:spcAft>
                <a:spcPts val="800"/>
              </a:spcAft>
            </a:pPr>
            <a:r>
              <a:rPr sz="1700" b="0">
                <a:latin typeface="Arial"/>
              </a:rPr>
              <a:t>Instructions shape behavior. They never grant permission.</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learn.microsoft.com/microsoft-copilot-studio/guidance/generative-orchestration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Starting a Copilot Studio trial</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900" b="0">
                <a:latin typeface="Arial"/>
              </a:rPr>
              <a:t>Open the official Copilot Studio trial sign-up</a:t>
            </a:r>
          </a:p>
          <a:p>
            <a:pPr>
              <a:spcAft>
                <a:spcPts val="800"/>
              </a:spcAft>
            </a:pPr>
            <a:r>
              <a:rPr sz="1900" b="0">
                <a:latin typeface="Arial"/>
              </a:rPr>
              <a:t>Enter a work or school email address</a:t>
            </a:r>
          </a:p>
          <a:p>
            <a:pPr>
              <a:spcAft>
                <a:spcPts val="800"/>
              </a:spcAft>
            </a:pPr>
            <a:r>
              <a:rPr sz="1900" b="0">
                <a:latin typeface="Arial"/>
              </a:rPr>
              <a:t>Follow the account-specific sign-up prompts</a:t>
            </a:r>
          </a:p>
          <a:p>
            <a:pPr>
              <a:spcAft>
                <a:spcPts val="800"/>
              </a:spcAft>
            </a:pPr>
            <a:r>
              <a:rPr sz="1900" b="0">
                <a:latin typeface="Arial"/>
              </a:rPr>
              <a:t>Open the available authoring environment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Trial access and its limits</a:t>
            </a:r>
          </a:p>
        </p:txBody>
      </p:sp>
      <p:graphicFrame>
        <p:nvGraphicFramePr>
          <p:cNvPr id="3" name="Table 2"/>
          <p:cNvGraphicFramePr>
            <a:graphicFrameLocks noGrp="1"/>
          </p:cNvGraphicFramePr>
          <p:nvPr/>
        </p:nvGraphicFramePr>
        <p:xfrm>
          <a:off x="502920" y="1335024"/>
          <a:ext cx="8138159" cy="3346704"/>
        </p:xfrm>
        <a:graphic>
          <a:graphicData uri="http://schemas.openxmlformats.org/drawingml/2006/table">
            <a:tbl>
              <a:tblPr>
                <a:tableStyleId>{2D5ABB26-0587-4C30-8999-92F81FD0307C}</a:tableStyleId>
              </a:tblPr>
              <a:tblGrid>
                <a:gridCol w="3580790">
                  <a:extLst>
                    <a:ext uri="{9D8B030D-6E8A-4147-A177-3AD203B41FA5}">
                      <a16:colId xmlns:a16="http://schemas.microsoft.com/office/drawing/2014/main" val="20000"/>
                    </a:ext>
                  </a:extLst>
                </a:gridCol>
                <a:gridCol w="4557369">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What happens</a:t>
                      </a:r>
                    </a:p>
                  </a:txBody>
                  <a:tcPr marR="73152" marT="36576" marB="36576" anchor="ctr">
                    <a:solidFill>
                      <a:srgbClr val="1B2A41"/>
                    </a:solidFill>
                  </a:tcPr>
                </a:tc>
                <a:tc>
                  <a:txBody>
                    <a:bodyPr/>
                    <a:lstStyle/>
                    <a:p>
                      <a:r>
                        <a:rPr sz="1400" b="1">
                          <a:solidFill>
                            <a:srgbClr val="FFFFFF"/>
                          </a:solidFill>
                          <a:latin typeface="Arial"/>
                        </a:rPr>
                        <a:t>What to do</a:t>
                      </a:r>
                    </a:p>
                  </a:txBody>
                  <a:tcPr marR="73152" marT="36576" marB="36576" anchor="ctr">
                    <a:solidFill>
                      <a:srgbClr val="1B2A41"/>
                    </a:solidFill>
                  </a:tcPr>
                </a:tc>
                <a:extLst>
                  <a:ext uri="{0D108BD9-81ED-4DB2-BD59-A6C34878D82A}">
                    <a16:rowId xmlns:a16="http://schemas.microsoft.com/office/drawing/2014/main" val="10000"/>
                  </a:ext>
                </a:extLst>
              </a:tr>
              <a:tr h="745236">
                <a:tc>
                  <a:txBody>
                    <a:bodyPr/>
                    <a:lstStyle/>
                    <a:p>
                      <a:r>
                        <a:rPr sz="1400" b="1">
                          <a:solidFill>
                            <a:srgbClr val="1B2A41"/>
                          </a:solidFill>
                          <a:latin typeface="Arial"/>
                        </a:rPr>
                        <a:t>Work or school identity is required</a:t>
                      </a:r>
                    </a:p>
                  </a:txBody>
                  <a:tcPr marR="73152" marT="36576" marB="36576" anchor="ctr">
                    <a:solidFill>
                      <a:srgbClr val="FFFFFF"/>
                    </a:solidFill>
                  </a:tcPr>
                </a:tc>
                <a:tc>
                  <a:txBody>
                    <a:bodyPr/>
                    <a:lstStyle/>
                    <a:p>
                      <a:r>
                        <a:rPr sz="1400" b="0">
                          <a:solidFill>
                            <a:srgbClr val="1B2A41"/>
                          </a:solidFill>
                          <a:latin typeface="Arial"/>
                        </a:rPr>
                        <a:t>Use the appropriate organizational account</a:t>
                      </a:r>
                    </a:p>
                  </a:txBody>
                  <a:tcPr marR="73152" marT="36576" marB="36576" anchor="ctr">
                    <a:solidFill>
                      <a:srgbClr val="FFFFFF"/>
                    </a:solidFill>
                  </a:tcPr>
                </a:tc>
                <a:extLst>
                  <a:ext uri="{0D108BD9-81ED-4DB2-BD59-A6C34878D82A}">
                    <a16:rowId xmlns:a16="http://schemas.microsoft.com/office/drawing/2014/main" val="10001"/>
                  </a:ext>
                </a:extLst>
              </a:tr>
              <a:tr h="745236">
                <a:tc>
                  <a:txBody>
                    <a:bodyPr/>
                    <a:lstStyle/>
                    <a:p>
                      <a:r>
                        <a:rPr sz="1400" b="1">
                          <a:solidFill>
                            <a:srgbClr val="1B2A41"/>
                          </a:solidFill>
                          <a:latin typeface="Arial"/>
                        </a:rPr>
                        <a:t>Self-service signup is blocked</a:t>
                      </a:r>
                    </a:p>
                  </a:txBody>
                  <a:tcPr marR="73152" marT="36576" marB="36576" anchor="ctr">
                    <a:solidFill>
                      <a:srgbClr val="EEF1F4"/>
                    </a:solidFill>
                  </a:tcPr>
                </a:tc>
                <a:tc>
                  <a:txBody>
                    <a:bodyPr/>
                    <a:lstStyle/>
                    <a:p>
                      <a:r>
                        <a:rPr sz="1400" b="0">
                          <a:solidFill>
                            <a:srgbClr val="1B2A41"/>
                          </a:solidFill>
                          <a:latin typeface="Arial"/>
                        </a:rPr>
                        <a:t>Use the documented administrator route</a:t>
                      </a:r>
                    </a:p>
                  </a:txBody>
                  <a:tcPr marR="73152" marT="36576" marB="36576" anchor="ctr">
                    <a:solidFill>
                      <a:srgbClr val="EEF1F4"/>
                    </a:solidFill>
                  </a:tcPr>
                </a:tc>
                <a:extLst>
                  <a:ext uri="{0D108BD9-81ED-4DB2-BD59-A6C34878D82A}">
                    <a16:rowId xmlns:a16="http://schemas.microsoft.com/office/drawing/2014/main" val="10002"/>
                  </a:ext>
                </a:extLst>
              </a:tr>
              <a:tr h="745236">
                <a:tc>
                  <a:txBody>
                    <a:bodyPr/>
                    <a:lstStyle/>
                    <a:p>
                      <a:r>
                        <a:rPr sz="1400" b="1">
                          <a:solidFill>
                            <a:srgbClr val="1B2A41"/>
                          </a:solidFill>
                          <a:latin typeface="Arial"/>
                        </a:rPr>
                        <a:t>Trial authoring and testing are available</a:t>
                      </a:r>
                    </a:p>
                  </a:txBody>
                  <a:tcPr marR="73152" marT="36576" marB="36576" anchor="ctr">
                    <a:solidFill>
                      <a:srgbClr val="FFFFFF"/>
                    </a:solidFill>
                  </a:tcPr>
                </a:tc>
                <a:tc>
                  <a:txBody>
                    <a:bodyPr/>
                    <a:lstStyle/>
                    <a:p>
                      <a:r>
                        <a:rPr sz="1400" b="0">
                          <a:solidFill>
                            <a:srgbClr val="1B2A41"/>
                          </a:solidFill>
                          <a:latin typeface="Arial"/>
                        </a:rPr>
                        <a:t>Practice with synthetic course data</a:t>
                      </a:r>
                    </a:p>
                  </a:txBody>
                  <a:tcPr marR="73152" marT="36576" marB="36576" anchor="ctr">
                    <a:solidFill>
                      <a:srgbClr val="FFFFFF"/>
                    </a:solidFill>
                  </a:tcPr>
                </a:tc>
                <a:extLst>
                  <a:ext uri="{0D108BD9-81ED-4DB2-BD59-A6C34878D82A}">
                    <a16:rowId xmlns:a16="http://schemas.microsoft.com/office/drawing/2014/main" val="10003"/>
                  </a:ext>
                </a:extLst>
              </a:tr>
              <a:tr h="745236">
                <a:tc>
                  <a:txBody>
                    <a:bodyPr/>
                    <a:lstStyle/>
                    <a:p>
                      <a:r>
                        <a:rPr sz="1400" b="1">
                          <a:solidFill>
                            <a:srgbClr val="1B2A41"/>
                          </a:solidFill>
                          <a:latin typeface="Arial"/>
                        </a:rPr>
                        <a:t>Publishing is unavailable on the trial</a:t>
                      </a:r>
                    </a:p>
                  </a:txBody>
                  <a:tcPr marR="73152" marT="36576" marB="36576" anchor="ctr">
                    <a:solidFill>
                      <a:srgbClr val="EEF1F4"/>
                    </a:solidFill>
                  </a:tcPr>
                </a:tc>
                <a:tc>
                  <a:txBody>
                    <a:bodyPr/>
                    <a:lstStyle/>
                    <a:p>
                      <a:r>
                        <a:rPr sz="1400" b="0">
                          <a:solidFill>
                            <a:srgbClr val="1B2A41"/>
                          </a:solidFill>
                          <a:latin typeface="Arial"/>
                        </a:rPr>
                        <a:t>Watch the entitled instructor publish demo</a:t>
                      </a:r>
                    </a:p>
                  </a:txBody>
                  <a:tcPr marR="73152" marT="36576" marB="36576" anchor="ctr">
                    <a:solidFill>
                      <a:srgbClr val="EEF1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First run: instructions, orchestration, boundary</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700" b="0">
                <a:latin typeface="Arial"/>
              </a:rPr>
              <a:t>Blank agent, then instructions, then the orchestration mode</a:t>
            </a:r>
          </a:p>
          <a:p>
            <a:pPr>
              <a:spcAft>
                <a:spcPts val="800"/>
              </a:spcAft>
            </a:pPr>
            <a:r>
              <a:rPr sz="1700" b="0">
                <a:latin typeface="Arial"/>
              </a:rPr>
              <a:t>Boundary probe: "What is my exact exam appointment?"</a:t>
            </a:r>
          </a:p>
          <a:p>
            <a:pPr>
              <a:spcAft>
                <a:spcPts val="800"/>
              </a:spcAft>
            </a:pPr>
            <a:r>
              <a:rPr sz="1700" b="0">
                <a:latin typeface="Arial"/>
              </a:rPr>
              <a:t>Expected: an honest limitation and a route the learner can take</a:t>
            </a:r>
          </a:p>
          <a:p>
            <a:pPr>
              <a:spcAft>
                <a:spcPts val="800"/>
              </a:spcAft>
            </a:pPr>
            <a:r>
              <a:rPr sz="1700" b="0">
                <a:latin typeface="Arial"/>
              </a:rPr>
              <a:t>Record the probe and the response; that pair is your first acceptance test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1783080"/>
            <a:ext cx="8129016" cy="1554480"/>
          </a:xfrm>
        </p:spPr>
        <p:txBody>
          <a:bodyPr wrap="square"/>
          <a:lstStyle/>
          <a:p>
            <a:r>
              <a:rPr sz="3000" b="1">
                <a:latin typeface="Arial"/>
              </a:rPr>
              <a:t>10-minute break</a:t>
            </a:r>
          </a:p>
          <a:p>
            <a:r>
              <a:rPr sz="2200" b="1">
                <a:latin typeface="Arial"/>
              </a:rPr>
              <a:t>Return at 10:00 AM Central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1783080"/>
            <a:ext cx="8129016" cy="1554480"/>
          </a:xfrm>
        </p:spPr>
        <p:txBody>
          <a:bodyPr wrap="square"/>
          <a:lstStyle/>
          <a:p>
            <a:r>
              <a:rPr sz="3000" b="1">
                <a:latin typeface="Arial"/>
              </a:rPr>
              <a:t>Segment 2</a:t>
            </a:r>
          </a:p>
          <a:p>
            <a:r>
              <a:rPr sz="2200" b="1">
                <a:latin typeface="Arial"/>
              </a:rPr>
              <a:t>Build: knowledge and grounded answers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How grounded answers get built</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learn.microsoft.com/microsoft-copilot-studio/guidance/retrieval-augmented-generation</a:t>
            </a:r>
          </a:p>
        </p:txBody>
      </p:sp>
      <p:sp>
        <p:nvSpPr>
          <p:cNvPr id="5" name="Rounded Rectangle 4"/>
          <p:cNvSpPr/>
          <p:nvPr/>
        </p:nvSpPr>
        <p:spPr>
          <a:xfrm>
            <a:off x="502920" y="1536192"/>
            <a:ext cx="1842515" cy="841248"/>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Query rewriting</a:t>
            </a:r>
          </a:p>
        </p:txBody>
      </p:sp>
      <p:sp>
        <p:nvSpPr>
          <p:cNvPr id="6" name="Right Arrow 5"/>
          <p:cNvSpPr/>
          <p:nvPr/>
        </p:nvSpPr>
        <p:spPr>
          <a:xfrm>
            <a:off x="2386583" y="1874520"/>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2487168"/>
            <a:ext cx="1842515" cy="1005840"/>
          </a:xfrm>
          <a:prstGeom prst="rect">
            <a:avLst/>
          </a:prstGeom>
          <a:noFill/>
        </p:spPr>
        <p:txBody>
          <a:bodyPr wrap="square" lIns="18288" tIns="0" rIns="18288" bIns="0">
            <a:spAutoFit/>
          </a:bodyPr>
          <a:lstStyle/>
          <a:p>
            <a:pPr algn="ctr"/>
            <a:r>
              <a:rPr sz="1100" b="0">
                <a:solidFill>
                  <a:srgbClr val="4A6076"/>
                </a:solidFill>
                <a:latin typeface="Arial"/>
              </a:rPr>
              <a:t>Clarifies the question and</a:t>
            </a:r>
          </a:p>
          <a:p>
            <a:pPr algn="ctr"/>
            <a:r>
              <a:rPr sz="1100" b="0">
                <a:solidFill>
                  <a:srgbClr val="4A6076"/>
                </a:solidFill>
                <a:latin typeface="Arial"/>
              </a:rPr>
              <a:t>adds up to ten turns of</a:t>
            </a:r>
          </a:p>
          <a:p>
            <a:pPr algn="ctr"/>
            <a:r>
              <a:rPr sz="1100" b="0">
                <a:solidFill>
                  <a:srgbClr val="4A6076"/>
                </a:solidFill>
                <a:latin typeface="Arial"/>
              </a:rPr>
              <a:t>conversation context</a:t>
            </a:r>
          </a:p>
        </p:txBody>
      </p:sp>
      <p:sp>
        <p:nvSpPr>
          <p:cNvPr id="8" name="Rounded Rectangle 7"/>
          <p:cNvSpPr/>
          <p:nvPr/>
        </p:nvSpPr>
        <p:spPr>
          <a:xfrm>
            <a:off x="2601468" y="1536192"/>
            <a:ext cx="1842515" cy="841248"/>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Content retrieval</a:t>
            </a:r>
          </a:p>
        </p:txBody>
      </p:sp>
      <p:sp>
        <p:nvSpPr>
          <p:cNvPr id="9" name="Right Arrow 8"/>
          <p:cNvSpPr/>
          <p:nvPr/>
        </p:nvSpPr>
        <p:spPr>
          <a:xfrm>
            <a:off x="4485131" y="1874520"/>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01468" y="2487168"/>
            <a:ext cx="1842515" cy="1005840"/>
          </a:xfrm>
          <a:prstGeom prst="rect">
            <a:avLst/>
          </a:prstGeom>
          <a:noFill/>
        </p:spPr>
        <p:txBody>
          <a:bodyPr wrap="square" lIns="18288" tIns="0" rIns="18288" bIns="0">
            <a:spAutoFit/>
          </a:bodyPr>
          <a:lstStyle/>
          <a:p>
            <a:pPr algn="ctr"/>
            <a:r>
              <a:rPr sz="1100" b="0">
                <a:solidFill>
                  <a:srgbClr val="4A6076"/>
                </a:solidFill>
                <a:latin typeface="Arial"/>
              </a:rPr>
              <a:t>Runs the rewritten query</a:t>
            </a:r>
          </a:p>
          <a:p>
            <a:pPr algn="ctr"/>
            <a:r>
              <a:rPr sz="1100" b="0">
                <a:solidFill>
                  <a:srgbClr val="4A6076"/>
                </a:solidFill>
                <a:latin typeface="Arial"/>
              </a:rPr>
              <a:t>against every configured</a:t>
            </a:r>
          </a:p>
          <a:p>
            <a:pPr algn="ctr"/>
            <a:r>
              <a:rPr sz="1100" b="0">
                <a:solidFill>
                  <a:srgbClr val="4A6076"/>
                </a:solidFill>
                <a:latin typeface="Arial"/>
              </a:rPr>
              <a:t>source, top three each</a:t>
            </a:r>
          </a:p>
        </p:txBody>
      </p:sp>
      <p:sp>
        <p:nvSpPr>
          <p:cNvPr id="11" name="Rounded Rectangle 10"/>
          <p:cNvSpPr/>
          <p:nvPr/>
        </p:nvSpPr>
        <p:spPr>
          <a:xfrm>
            <a:off x="4700016" y="1536192"/>
            <a:ext cx="1842515" cy="841248"/>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Summarize and cite</a:t>
            </a:r>
          </a:p>
        </p:txBody>
      </p:sp>
      <p:sp>
        <p:nvSpPr>
          <p:cNvPr id="12" name="Right Arrow 11"/>
          <p:cNvSpPr/>
          <p:nvPr/>
        </p:nvSpPr>
        <p:spPr>
          <a:xfrm>
            <a:off x="6583679" y="1874520"/>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00016" y="2487168"/>
            <a:ext cx="1842515" cy="1005840"/>
          </a:xfrm>
          <a:prstGeom prst="rect">
            <a:avLst/>
          </a:prstGeom>
          <a:noFill/>
        </p:spPr>
        <p:txBody>
          <a:bodyPr wrap="square" lIns="18288" tIns="0" rIns="18288" bIns="0">
            <a:spAutoFit/>
          </a:bodyPr>
          <a:lstStyle/>
          <a:p>
            <a:pPr algn="ctr"/>
            <a:r>
              <a:rPr sz="1100" b="0">
                <a:solidFill>
                  <a:srgbClr val="4A6076"/>
                </a:solidFill>
                <a:latin typeface="Arial"/>
              </a:rPr>
              <a:t>Synthesizes an answer,</a:t>
            </a:r>
          </a:p>
          <a:p>
            <a:pPr algn="ctr"/>
            <a:r>
              <a:rPr sz="1100" b="0">
                <a:solidFill>
                  <a:srgbClr val="4A6076"/>
                </a:solidFill>
                <a:latin typeface="Arial"/>
              </a:rPr>
              <a:t>applies your instructions,</a:t>
            </a:r>
          </a:p>
          <a:p>
            <a:pPr algn="ctr"/>
            <a:r>
              <a:rPr sz="1100" b="0">
                <a:solidFill>
                  <a:srgbClr val="4A6076"/>
                </a:solidFill>
                <a:latin typeface="Arial"/>
              </a:rPr>
              <a:t>emits citations</a:t>
            </a:r>
          </a:p>
        </p:txBody>
      </p:sp>
      <p:sp>
        <p:nvSpPr>
          <p:cNvPr id="14" name="Rounded Rectangle 13"/>
          <p:cNvSpPr/>
          <p:nvPr/>
        </p:nvSpPr>
        <p:spPr>
          <a:xfrm>
            <a:off x="6798564" y="1536192"/>
            <a:ext cx="1842515" cy="841248"/>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Safety and grounding</a:t>
            </a:r>
          </a:p>
        </p:txBody>
      </p:sp>
      <p:sp>
        <p:nvSpPr>
          <p:cNvPr id="15" name="TextBox 14"/>
          <p:cNvSpPr txBox="1"/>
          <p:nvPr/>
        </p:nvSpPr>
        <p:spPr>
          <a:xfrm>
            <a:off x="6798564" y="2487168"/>
            <a:ext cx="1842515" cy="1005840"/>
          </a:xfrm>
          <a:prstGeom prst="rect">
            <a:avLst/>
          </a:prstGeom>
          <a:noFill/>
        </p:spPr>
        <p:txBody>
          <a:bodyPr wrap="square" lIns="18288" tIns="0" rIns="18288" bIns="0">
            <a:spAutoFit/>
          </a:bodyPr>
          <a:lstStyle/>
          <a:p>
            <a:pPr algn="ctr"/>
            <a:r>
              <a:rPr sz="1100" b="0">
                <a:solidFill>
                  <a:srgbClr val="4A6076"/>
                </a:solidFill>
                <a:latin typeface="Arial"/>
              </a:rPr>
              <a:t>Moderation, then grounding</a:t>
            </a:r>
          </a:p>
          <a:p>
            <a:pPr algn="ctr"/>
            <a:r>
              <a:rPr sz="1100" b="0">
                <a:solidFill>
                  <a:srgbClr val="4A6076"/>
                </a:solidFill>
                <a:latin typeface="Arial"/>
              </a:rPr>
              <a:t>validation, before the</a:t>
            </a:r>
          </a:p>
          <a:p>
            <a:pPr algn="ctr"/>
            <a:r>
              <a:rPr sz="1100" b="0">
                <a:solidFill>
                  <a:srgbClr val="4A6076"/>
                </a:solidFill>
                <a:latin typeface="Arial"/>
              </a:rPr>
              <a:t>response reaches the user</a:t>
            </a:r>
          </a:p>
        </p:txBody>
      </p:sp>
      <p:sp>
        <p:nvSpPr>
          <p:cNvPr id="16" name="TextBox 15"/>
          <p:cNvSpPr txBox="1"/>
          <p:nvPr/>
        </p:nvSpPr>
        <p:spPr>
          <a:xfrm>
            <a:off x="502920" y="3877056"/>
            <a:ext cx="8138160" cy="777240"/>
          </a:xfrm>
          <a:prstGeom prst="rect">
            <a:avLst/>
          </a:prstGeom>
          <a:noFill/>
        </p:spPr>
        <p:txBody>
          <a:bodyPr wrap="square" lIns="18288" tIns="0" rIns="18288" bIns="0">
            <a:spAutoFit/>
          </a:bodyPr>
          <a:lstStyle/>
          <a:p>
            <a:pPr algn="l"/>
            <a:r>
              <a:rPr sz="1200" b="0">
                <a:solidFill>
                  <a:srgbClr val="1B2A41"/>
                </a:solidFill>
                <a:latin typeface="Arial"/>
              </a:rPr>
              <a:t>No customer data trains the models. Conversation state is short-lived and is not used for training.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What each knowledge source gives you</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learn.microsoft.com/microsoft-copilot-studio/guidance/retrieval-augmented-generation</a:t>
            </a:r>
          </a:p>
        </p:txBody>
      </p:sp>
      <p:graphicFrame>
        <p:nvGraphicFramePr>
          <p:cNvPr id="5" name="Table 4"/>
          <p:cNvGraphicFramePr>
            <a:graphicFrameLocks noGrp="1"/>
          </p:cNvGraphicFramePr>
          <p:nvPr/>
        </p:nvGraphicFramePr>
        <p:xfrm>
          <a:off x="502920" y="1335024"/>
          <a:ext cx="8138159" cy="3346703"/>
        </p:xfrm>
        <a:graphic>
          <a:graphicData uri="http://schemas.openxmlformats.org/drawingml/2006/table">
            <a:tbl>
              <a:tblPr>
                <a:tableStyleId>{2D5ABB26-0587-4C30-8999-92F81FD0307C}</a:tableStyleId>
              </a:tblPr>
              <a:tblGrid>
                <a:gridCol w="1790395">
                  <a:extLst>
                    <a:ext uri="{9D8B030D-6E8A-4147-A177-3AD203B41FA5}">
                      <a16:colId xmlns:a16="http://schemas.microsoft.com/office/drawing/2014/main" val="20000"/>
                    </a:ext>
                  </a:extLst>
                </a:gridCol>
                <a:gridCol w="1953158">
                  <a:extLst>
                    <a:ext uri="{9D8B030D-6E8A-4147-A177-3AD203B41FA5}">
                      <a16:colId xmlns:a16="http://schemas.microsoft.com/office/drawing/2014/main" val="20001"/>
                    </a:ext>
                  </a:extLst>
                </a:gridCol>
                <a:gridCol w="4394606">
                  <a:extLst>
                    <a:ext uri="{9D8B030D-6E8A-4147-A177-3AD203B41FA5}">
                      <a16:colId xmlns:a16="http://schemas.microsoft.com/office/drawing/2014/main" val="20002"/>
                    </a:ext>
                  </a:extLst>
                </a:gridCol>
              </a:tblGrid>
              <a:tr h="365760">
                <a:tc>
                  <a:txBody>
                    <a:bodyPr/>
                    <a:lstStyle/>
                    <a:p>
                      <a:r>
                        <a:rPr sz="1400" b="1">
                          <a:solidFill>
                            <a:srgbClr val="FFFFFF"/>
                          </a:solidFill>
                          <a:latin typeface="Arial"/>
                        </a:rPr>
                        <a:t>Source</a:t>
                      </a:r>
                    </a:p>
                  </a:txBody>
                  <a:tcPr marR="73152" marT="36576" marB="36576" anchor="ctr">
                    <a:solidFill>
                      <a:srgbClr val="1B2A41"/>
                    </a:solidFill>
                  </a:tcPr>
                </a:tc>
                <a:tc>
                  <a:txBody>
                    <a:bodyPr/>
                    <a:lstStyle/>
                    <a:p>
                      <a:r>
                        <a:rPr sz="1400" b="1">
                          <a:solidFill>
                            <a:srgbClr val="FFFFFF"/>
                          </a:solidFill>
                          <a:latin typeface="Arial"/>
                        </a:rPr>
                        <a:t>Authentication</a:t>
                      </a:r>
                    </a:p>
                  </a:txBody>
                  <a:tcPr marR="73152" marT="36576" marB="36576" anchor="ctr">
                    <a:solidFill>
                      <a:srgbClr val="1B2A41"/>
                    </a:solidFill>
                  </a:tcPr>
                </a:tc>
                <a:tc>
                  <a:txBody>
                    <a:bodyPr/>
                    <a:lstStyle/>
                    <a:p>
                      <a:r>
                        <a:rPr sz="1400" b="1">
                          <a:solidFill>
                            <a:srgbClr val="FFFFFF"/>
                          </a:solidFill>
                          <a:latin typeface="Arial"/>
                        </a:rPr>
                        <a:t>What to watch</a:t>
                      </a:r>
                    </a:p>
                  </a:txBody>
                  <a:tcPr marR="73152" marT="36576" marB="36576" anchor="ctr">
                    <a:solidFill>
                      <a:srgbClr val="1B2A41"/>
                    </a:solidFill>
                  </a:tcPr>
                </a:tc>
                <a:extLst>
                  <a:ext uri="{0D108BD9-81ED-4DB2-BD59-A6C34878D82A}">
                    <a16:rowId xmlns:a16="http://schemas.microsoft.com/office/drawing/2014/main" val="10000"/>
                  </a:ext>
                </a:extLst>
              </a:tr>
              <a:tr h="425849">
                <a:tc>
                  <a:txBody>
                    <a:bodyPr/>
                    <a:lstStyle/>
                    <a:p>
                      <a:r>
                        <a:rPr sz="1300" b="1">
                          <a:solidFill>
                            <a:srgbClr val="1B2A41"/>
                          </a:solidFill>
                          <a:latin typeface="Arial"/>
                        </a:rPr>
                        <a:t>Public websites</a:t>
                      </a:r>
                    </a:p>
                  </a:txBody>
                  <a:tcPr marR="73152" marT="36576" marB="36576" anchor="ctr">
                    <a:solidFill>
                      <a:srgbClr val="FFFFFF"/>
                    </a:solidFill>
                  </a:tcPr>
                </a:tc>
                <a:tc>
                  <a:txBody>
                    <a:bodyPr/>
                    <a:lstStyle/>
                    <a:p>
                      <a:r>
                        <a:rPr sz="1300" b="0">
                          <a:solidFill>
                            <a:srgbClr val="1B2A41"/>
                          </a:solidFill>
                          <a:latin typeface="Arial"/>
                        </a:rPr>
                        <a:t>None</a:t>
                      </a:r>
                    </a:p>
                  </a:txBody>
                  <a:tcPr marR="73152" marT="36576" marB="36576" anchor="ctr">
                    <a:solidFill>
                      <a:srgbClr val="FFFFFF"/>
                    </a:solidFill>
                  </a:tcPr>
                </a:tc>
                <a:tc>
                  <a:txBody>
                    <a:bodyPr/>
                    <a:lstStyle/>
                    <a:p>
                      <a:r>
                        <a:rPr sz="1300" b="0">
                          <a:solidFill>
                            <a:srgbClr val="1B2A41"/>
                          </a:solidFill>
                          <a:latin typeface="Arial"/>
                        </a:rPr>
                        <a:t>Must be indexed by Bing; two subpage levels deep</a:t>
                      </a:r>
                    </a:p>
                  </a:txBody>
                  <a:tcPr marR="73152" marT="36576" marB="36576" anchor="ctr">
                    <a:solidFill>
                      <a:srgbClr val="FFFFFF"/>
                    </a:solidFill>
                  </a:tcPr>
                </a:tc>
                <a:extLst>
                  <a:ext uri="{0D108BD9-81ED-4DB2-BD59-A6C34878D82A}">
                    <a16:rowId xmlns:a16="http://schemas.microsoft.com/office/drawing/2014/main" val="10001"/>
                  </a:ext>
                </a:extLst>
              </a:tr>
              <a:tr h="425849">
                <a:tc>
                  <a:txBody>
                    <a:bodyPr/>
                    <a:lstStyle/>
                    <a:p>
                      <a:r>
                        <a:rPr sz="1300" b="1">
                          <a:solidFill>
                            <a:srgbClr val="1B2A41"/>
                          </a:solidFill>
                          <a:latin typeface="Arial"/>
                        </a:rPr>
                        <a:t>SharePoint, OneDrive</a:t>
                      </a:r>
                    </a:p>
                  </a:txBody>
                  <a:tcPr marR="73152" marT="36576" marB="36576" anchor="ctr">
                    <a:solidFill>
                      <a:srgbClr val="EEF1F4"/>
                    </a:solidFill>
                  </a:tcPr>
                </a:tc>
                <a:tc>
                  <a:txBody>
                    <a:bodyPr/>
                    <a:lstStyle/>
                    <a:p>
                      <a:r>
                        <a:rPr sz="1300" b="0">
                          <a:solidFill>
                            <a:srgbClr val="1B2A41"/>
                          </a:solidFill>
                          <a:latin typeface="Arial"/>
                        </a:rPr>
                        <a:t>Entra ID delegated</a:t>
                      </a:r>
                    </a:p>
                  </a:txBody>
                  <a:tcPr marR="73152" marT="36576" marB="36576" anchor="ctr">
                    <a:solidFill>
                      <a:srgbClr val="EEF1F4"/>
                    </a:solidFill>
                  </a:tcPr>
                </a:tc>
                <a:tc>
                  <a:txBody>
                    <a:bodyPr/>
                    <a:lstStyle/>
                    <a:p>
                      <a:r>
                        <a:rPr sz="1300" b="0">
                          <a:solidFill>
                            <a:srgbClr val="1B2A41"/>
                          </a:solidFill>
                          <a:latin typeface="Arial"/>
                        </a:rPr>
                        <a:t>Security trimming applies; 15 MB per file</a:t>
                      </a:r>
                    </a:p>
                  </a:txBody>
                  <a:tcPr marR="73152" marT="36576" marB="36576" anchor="ctr">
                    <a:solidFill>
                      <a:srgbClr val="EEF1F4"/>
                    </a:solidFill>
                  </a:tcPr>
                </a:tc>
                <a:extLst>
                  <a:ext uri="{0D108BD9-81ED-4DB2-BD59-A6C34878D82A}">
                    <a16:rowId xmlns:a16="http://schemas.microsoft.com/office/drawing/2014/main" val="10002"/>
                  </a:ext>
                </a:extLst>
              </a:tr>
              <a:tr h="425849">
                <a:tc>
                  <a:txBody>
                    <a:bodyPr/>
                    <a:lstStyle/>
                    <a:p>
                      <a:r>
                        <a:rPr sz="1300" b="1">
                          <a:solidFill>
                            <a:srgbClr val="1B2A41"/>
                          </a:solidFill>
                          <a:latin typeface="Arial"/>
                        </a:rPr>
                        <a:t>Uploaded files</a:t>
                      </a:r>
                    </a:p>
                  </a:txBody>
                  <a:tcPr marR="73152" marT="36576" marB="36576" anchor="ctr">
                    <a:solidFill>
                      <a:srgbClr val="FFFFFF"/>
                    </a:solidFill>
                  </a:tcPr>
                </a:tc>
                <a:tc>
                  <a:txBody>
                    <a:bodyPr/>
                    <a:lstStyle/>
                    <a:p>
                      <a:r>
                        <a:rPr sz="1300" b="0">
                          <a:solidFill>
                            <a:srgbClr val="1B2A41"/>
                          </a:solidFill>
                          <a:latin typeface="Arial"/>
                        </a:rPr>
                        <a:t>None</a:t>
                      </a:r>
                    </a:p>
                  </a:txBody>
                  <a:tcPr marR="73152" marT="36576" marB="36576" anchor="ctr">
                    <a:solidFill>
                      <a:srgbClr val="FFFFFF"/>
                    </a:solidFill>
                  </a:tcPr>
                </a:tc>
                <a:tc>
                  <a:txBody>
                    <a:bodyPr/>
                    <a:lstStyle/>
                    <a:p>
                      <a:r>
                        <a:rPr sz="1300" b="0">
                          <a:solidFill>
                            <a:srgbClr val="1B2A41"/>
                          </a:solidFill>
                          <a:latin typeface="Arial"/>
                        </a:rPr>
                        <a:t>Dataverse storage; 500 files per agent, 512 MB each</a:t>
                      </a:r>
                    </a:p>
                  </a:txBody>
                  <a:tcPr marR="73152" marT="36576" marB="36576" anchor="ctr">
                    <a:solidFill>
                      <a:srgbClr val="FFFFFF"/>
                    </a:solidFill>
                  </a:tcPr>
                </a:tc>
                <a:extLst>
                  <a:ext uri="{0D108BD9-81ED-4DB2-BD59-A6C34878D82A}">
                    <a16:rowId xmlns:a16="http://schemas.microsoft.com/office/drawing/2014/main" val="10003"/>
                  </a:ext>
                </a:extLst>
              </a:tr>
              <a:tr h="425849">
                <a:tc>
                  <a:txBody>
                    <a:bodyPr/>
                    <a:lstStyle/>
                    <a:p>
                      <a:r>
                        <a:rPr sz="1300" b="1">
                          <a:solidFill>
                            <a:srgbClr val="1B2A41"/>
                          </a:solidFill>
                          <a:latin typeface="Arial"/>
                        </a:rPr>
                        <a:t>Dataverse tables</a:t>
                      </a:r>
                    </a:p>
                  </a:txBody>
                  <a:tcPr marR="73152" marT="36576" marB="36576" anchor="ctr">
                    <a:solidFill>
                      <a:srgbClr val="EEF1F4"/>
                    </a:solidFill>
                  </a:tcPr>
                </a:tc>
                <a:tc>
                  <a:txBody>
                    <a:bodyPr/>
                    <a:lstStyle/>
                    <a:p>
                      <a:r>
                        <a:rPr sz="1300" b="0">
                          <a:solidFill>
                            <a:srgbClr val="1B2A41"/>
                          </a:solidFill>
                          <a:latin typeface="Arial"/>
                        </a:rPr>
                        <a:t>Entra ID delegated</a:t>
                      </a:r>
                    </a:p>
                  </a:txBody>
                  <a:tcPr marR="73152" marT="36576" marB="36576" anchor="ctr">
                    <a:solidFill>
                      <a:srgbClr val="EEF1F4"/>
                    </a:solidFill>
                  </a:tcPr>
                </a:tc>
                <a:tc>
                  <a:txBody>
                    <a:bodyPr/>
                    <a:lstStyle/>
                    <a:p>
                      <a:r>
                        <a:rPr sz="1300" b="0">
                          <a:solidFill>
                            <a:srgbClr val="1B2A41"/>
                          </a:solidFill>
                          <a:latin typeface="Arial"/>
                        </a:rPr>
                        <a:t>Up to 15 tables; synonyms and glossary help</a:t>
                      </a:r>
                    </a:p>
                  </a:txBody>
                  <a:tcPr marR="73152" marT="36576" marB="36576" anchor="ctr">
                    <a:solidFill>
                      <a:srgbClr val="EEF1F4"/>
                    </a:solidFill>
                  </a:tcPr>
                </a:tc>
                <a:extLst>
                  <a:ext uri="{0D108BD9-81ED-4DB2-BD59-A6C34878D82A}">
                    <a16:rowId xmlns:a16="http://schemas.microsoft.com/office/drawing/2014/main" val="10004"/>
                  </a:ext>
                </a:extLst>
              </a:tr>
              <a:tr h="425849">
                <a:tc>
                  <a:txBody>
                    <a:bodyPr/>
                    <a:lstStyle/>
                    <a:p>
                      <a:r>
                        <a:rPr sz="1300" b="1">
                          <a:solidFill>
                            <a:srgbClr val="1B2A41"/>
                          </a:solidFill>
                          <a:latin typeface="Arial"/>
                        </a:rPr>
                        <a:t>Graph connectors</a:t>
                      </a:r>
                    </a:p>
                  </a:txBody>
                  <a:tcPr marR="73152" marT="36576" marB="36576" anchor="ctr">
                    <a:solidFill>
                      <a:srgbClr val="FFFFFF"/>
                    </a:solidFill>
                  </a:tcPr>
                </a:tc>
                <a:tc>
                  <a:txBody>
                    <a:bodyPr/>
                    <a:lstStyle/>
                    <a:p>
                      <a:r>
                        <a:rPr sz="1300" b="0">
                          <a:solidFill>
                            <a:srgbClr val="1B2A41"/>
                          </a:solidFill>
                          <a:latin typeface="Arial"/>
                        </a:rPr>
                        <a:t>Entra ID delegated</a:t>
                      </a:r>
                    </a:p>
                  </a:txBody>
                  <a:tcPr marR="73152" marT="36576" marB="36576" anchor="ctr">
                    <a:solidFill>
                      <a:srgbClr val="FFFFFF"/>
                    </a:solidFill>
                  </a:tcPr>
                </a:tc>
                <a:tc>
                  <a:txBody>
                    <a:bodyPr/>
                    <a:lstStyle/>
                    <a:p>
                      <a:r>
                        <a:rPr sz="1300" b="0">
                          <a:solidFill>
                            <a:srgbClr val="1B2A41"/>
                          </a:solidFill>
                          <a:latin typeface="Arial"/>
                        </a:rPr>
                        <a:t>ServiceNow, Confluence, indexed enterprise data</a:t>
                      </a:r>
                    </a:p>
                  </a:txBody>
                  <a:tcPr marR="73152" marT="36576" marB="36576" anchor="ctr">
                    <a:solidFill>
                      <a:srgbClr val="FFFFFF"/>
                    </a:solidFill>
                  </a:tcPr>
                </a:tc>
                <a:extLst>
                  <a:ext uri="{0D108BD9-81ED-4DB2-BD59-A6C34878D82A}">
                    <a16:rowId xmlns:a16="http://schemas.microsoft.com/office/drawing/2014/main" val="10005"/>
                  </a:ext>
                </a:extLst>
              </a:tr>
              <a:tr h="425849">
                <a:tc>
                  <a:txBody>
                    <a:bodyPr/>
                    <a:lstStyle/>
                    <a:p>
                      <a:r>
                        <a:rPr sz="1300" b="1">
                          <a:solidFill>
                            <a:srgbClr val="1B2A41"/>
                          </a:solidFill>
                          <a:latin typeface="Arial"/>
                        </a:rPr>
                        <a:t>Azure AI Search</a:t>
                      </a:r>
                    </a:p>
                  </a:txBody>
                  <a:tcPr marR="73152" marT="36576" marB="36576" anchor="ctr">
                    <a:solidFill>
                      <a:srgbClr val="EEF1F4"/>
                    </a:solidFill>
                  </a:tcPr>
                </a:tc>
                <a:tc>
                  <a:txBody>
                    <a:bodyPr/>
                    <a:lstStyle/>
                    <a:p>
                      <a:r>
                        <a:rPr sz="1300" b="0">
                          <a:solidFill>
                            <a:srgbClr val="1B2A41"/>
                          </a:solidFill>
                          <a:latin typeface="Arial"/>
                        </a:rPr>
                        <a:t>Configured endpoint</a:t>
                      </a:r>
                    </a:p>
                  </a:txBody>
                  <a:tcPr marR="73152" marT="36576" marB="36576" anchor="ctr">
                    <a:solidFill>
                      <a:srgbClr val="EEF1F4"/>
                    </a:solidFill>
                  </a:tcPr>
                </a:tc>
                <a:tc>
                  <a:txBody>
                    <a:bodyPr/>
                    <a:lstStyle/>
                    <a:p>
                      <a:r>
                        <a:rPr sz="1300" b="0">
                          <a:solidFill>
                            <a:srgbClr val="1B2A41"/>
                          </a:solidFill>
                          <a:latin typeface="Arial"/>
                        </a:rPr>
                        <a:t>Vector index; no security trimming</a:t>
                      </a:r>
                    </a:p>
                  </a:txBody>
                  <a:tcPr marR="73152" marT="36576" marB="36576" anchor="ctr">
                    <a:solidFill>
                      <a:srgbClr val="EEF1F4"/>
                    </a:solidFill>
                  </a:tcPr>
                </a:tc>
                <a:extLst>
                  <a:ext uri="{0D108BD9-81ED-4DB2-BD59-A6C34878D82A}">
                    <a16:rowId xmlns:a16="http://schemas.microsoft.com/office/drawing/2014/main" val="10006"/>
                  </a:ext>
                </a:extLst>
              </a:tr>
              <a:tr h="425849">
                <a:tc>
                  <a:txBody>
                    <a:bodyPr/>
                    <a:lstStyle/>
                    <a:p>
                      <a:r>
                        <a:rPr sz="1300" b="1">
                          <a:solidFill>
                            <a:srgbClr val="1B2A41"/>
                          </a:solidFill>
                          <a:latin typeface="Arial"/>
                        </a:rPr>
                        <a:t>Custom data</a:t>
                      </a:r>
                    </a:p>
                  </a:txBody>
                  <a:tcPr marR="73152" marT="36576" marB="36576" anchor="ctr">
                    <a:solidFill>
                      <a:srgbClr val="FFFFFF"/>
                    </a:solidFill>
                  </a:tcPr>
                </a:tc>
                <a:tc>
                  <a:txBody>
                    <a:bodyPr/>
                    <a:lstStyle/>
                    <a:p>
                      <a:r>
                        <a:rPr sz="1300" b="0">
                          <a:solidFill>
                            <a:srgbClr val="1B2A41"/>
                          </a:solidFill>
                          <a:latin typeface="Arial"/>
                        </a:rPr>
                        <a:t>None</a:t>
                      </a:r>
                    </a:p>
                  </a:txBody>
                  <a:tcPr marR="73152" marT="36576" marB="36576" anchor="ctr">
                    <a:solidFill>
                      <a:srgbClr val="FFFFFF"/>
                    </a:solidFill>
                  </a:tcPr>
                </a:tc>
                <a:tc>
                  <a:txBody>
                    <a:bodyPr/>
                    <a:lstStyle/>
                    <a:p>
                      <a:r>
                        <a:rPr sz="1300" b="0">
                          <a:solidFill>
                            <a:srgbClr val="1B2A41"/>
                          </a:solidFill>
                          <a:latin typeface="Arial"/>
                        </a:rPr>
                        <a:t>You query first, then pass Content, ContentLocation, Title</a:t>
                      </a:r>
                    </a:p>
                  </a:txBody>
                  <a:tcPr marR="73152" marT="36576" marB="36576"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Knowledge limits change with orchestration mode</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learn.microsoft.com/microsoft-copilot-studio/knowledge-copilot-studio</a:t>
            </a:r>
          </a:p>
        </p:txBody>
      </p:sp>
      <p:graphicFrame>
        <p:nvGraphicFramePr>
          <p:cNvPr id="5" name="Table 4"/>
          <p:cNvGraphicFramePr>
            <a:graphicFrameLocks noGrp="1"/>
          </p:cNvGraphicFramePr>
          <p:nvPr/>
        </p:nvGraphicFramePr>
        <p:xfrm>
          <a:off x="502920" y="1335024"/>
          <a:ext cx="8138159" cy="3346700"/>
        </p:xfrm>
        <a:graphic>
          <a:graphicData uri="http://schemas.openxmlformats.org/drawingml/2006/table">
            <a:tbl>
              <a:tblPr>
                <a:tableStyleId>{2D5ABB26-0587-4C30-8999-92F81FD0307C}</a:tableStyleId>
              </a:tblPr>
              <a:tblGrid>
                <a:gridCol w="2441448">
                  <a:extLst>
                    <a:ext uri="{9D8B030D-6E8A-4147-A177-3AD203B41FA5}">
                      <a16:colId xmlns:a16="http://schemas.microsoft.com/office/drawing/2014/main" val="20000"/>
                    </a:ext>
                  </a:extLst>
                </a:gridCol>
                <a:gridCol w="2278684">
                  <a:extLst>
                    <a:ext uri="{9D8B030D-6E8A-4147-A177-3AD203B41FA5}">
                      <a16:colId xmlns:a16="http://schemas.microsoft.com/office/drawing/2014/main" val="20001"/>
                    </a:ext>
                  </a:extLst>
                </a:gridCol>
                <a:gridCol w="3418027">
                  <a:extLst>
                    <a:ext uri="{9D8B030D-6E8A-4147-A177-3AD203B41FA5}">
                      <a16:colId xmlns:a16="http://schemas.microsoft.com/office/drawing/2014/main" val="20002"/>
                    </a:ext>
                  </a:extLst>
                </a:gridCol>
              </a:tblGrid>
              <a:tr h="365760">
                <a:tc>
                  <a:txBody>
                    <a:bodyPr/>
                    <a:lstStyle/>
                    <a:p>
                      <a:r>
                        <a:rPr sz="1400" b="1">
                          <a:solidFill>
                            <a:srgbClr val="FFFFFF"/>
                          </a:solidFill>
                          <a:latin typeface="Arial"/>
                        </a:rPr>
                        <a:t>Source type</a:t>
                      </a:r>
                    </a:p>
                  </a:txBody>
                  <a:tcPr marR="73152" marT="36576" marB="36576" anchor="ctr">
                    <a:solidFill>
                      <a:srgbClr val="1B2A41"/>
                    </a:solidFill>
                  </a:tcPr>
                </a:tc>
                <a:tc>
                  <a:txBody>
                    <a:bodyPr/>
                    <a:lstStyle/>
                    <a:p>
                      <a:r>
                        <a:rPr sz="1400" b="1">
                          <a:solidFill>
                            <a:srgbClr val="FFFFFF"/>
                          </a:solidFill>
                          <a:latin typeface="Arial"/>
                        </a:rPr>
                        <a:t>Classic</a:t>
                      </a:r>
                    </a:p>
                  </a:txBody>
                  <a:tcPr marR="73152" marT="36576" marB="36576" anchor="ctr">
                    <a:solidFill>
                      <a:srgbClr val="1B2A41"/>
                    </a:solidFill>
                  </a:tcPr>
                </a:tc>
                <a:tc>
                  <a:txBody>
                    <a:bodyPr/>
                    <a:lstStyle/>
                    <a:p>
                      <a:r>
                        <a:rPr sz="1400" b="1">
                          <a:solidFill>
                            <a:srgbClr val="FFFFFF"/>
                          </a:solidFill>
                          <a:latin typeface="Arial"/>
                        </a:rPr>
                        <a:t>Generative</a:t>
                      </a:r>
                    </a:p>
                  </a:txBody>
                  <a:tcPr marR="73152" marT="36576" marB="36576" anchor="ctr">
                    <a:solidFill>
                      <a:srgbClr val="1B2A41"/>
                    </a:solidFill>
                  </a:tcPr>
                </a:tc>
                <a:extLst>
                  <a:ext uri="{0D108BD9-81ED-4DB2-BD59-A6C34878D82A}">
                    <a16:rowId xmlns:a16="http://schemas.microsoft.com/office/drawing/2014/main" val="10000"/>
                  </a:ext>
                </a:extLst>
              </a:tr>
              <a:tr h="596188">
                <a:tc>
                  <a:txBody>
                    <a:bodyPr/>
                    <a:lstStyle/>
                    <a:p>
                      <a:r>
                        <a:rPr sz="1300" b="1">
                          <a:solidFill>
                            <a:srgbClr val="1B2A41"/>
                          </a:solidFill>
                          <a:latin typeface="Arial"/>
                        </a:rPr>
                        <a:t>Website URLs</a:t>
                      </a:r>
                    </a:p>
                  </a:txBody>
                  <a:tcPr marR="73152" marT="36576" marB="36576" anchor="ctr">
                    <a:solidFill>
                      <a:srgbClr val="FFFFFF"/>
                    </a:solidFill>
                  </a:tcPr>
                </a:tc>
                <a:tc>
                  <a:txBody>
                    <a:bodyPr/>
                    <a:lstStyle/>
                    <a:p>
                      <a:r>
                        <a:rPr sz="1300" b="0">
                          <a:solidFill>
                            <a:srgbClr val="1B2A41"/>
                          </a:solidFill>
                          <a:latin typeface="Arial"/>
                        </a:rPr>
                        <a:t>4</a:t>
                      </a:r>
                    </a:p>
                  </a:txBody>
                  <a:tcPr marR="73152" marT="36576" marB="36576" anchor="ctr">
                    <a:solidFill>
                      <a:srgbClr val="FFFFFF"/>
                    </a:solidFill>
                  </a:tcPr>
                </a:tc>
                <a:tc>
                  <a:txBody>
                    <a:bodyPr/>
                    <a:lstStyle/>
                    <a:p>
                      <a:r>
                        <a:rPr sz="1300" b="0">
                          <a:solidFill>
                            <a:srgbClr val="1B2A41"/>
                          </a:solidFill>
                          <a:latin typeface="Arial"/>
                        </a:rPr>
                        <a:t>Model filters when over 25 sources</a:t>
                      </a:r>
                    </a:p>
                  </a:txBody>
                  <a:tcPr marR="73152" marT="36576" marB="36576" anchor="ctr">
                    <a:solidFill>
                      <a:srgbClr val="FFFFFF"/>
                    </a:solidFill>
                  </a:tcPr>
                </a:tc>
                <a:extLst>
                  <a:ext uri="{0D108BD9-81ED-4DB2-BD59-A6C34878D82A}">
                    <a16:rowId xmlns:a16="http://schemas.microsoft.com/office/drawing/2014/main" val="10001"/>
                  </a:ext>
                </a:extLst>
              </a:tr>
              <a:tr h="596188">
                <a:tc>
                  <a:txBody>
                    <a:bodyPr/>
                    <a:lstStyle/>
                    <a:p>
                      <a:r>
                        <a:rPr sz="1300" b="1">
                          <a:solidFill>
                            <a:srgbClr val="1B2A41"/>
                          </a:solidFill>
                          <a:latin typeface="Arial"/>
                        </a:rPr>
                        <a:t>SharePoint URLs</a:t>
                      </a:r>
                    </a:p>
                  </a:txBody>
                  <a:tcPr marR="73152" marT="36576" marB="36576" anchor="ctr">
                    <a:solidFill>
                      <a:srgbClr val="EEF1F4"/>
                    </a:solidFill>
                  </a:tcPr>
                </a:tc>
                <a:tc>
                  <a:txBody>
                    <a:bodyPr/>
                    <a:lstStyle/>
                    <a:p>
                      <a:r>
                        <a:rPr sz="1300" b="0">
                          <a:solidFill>
                            <a:srgbClr val="1B2A41"/>
                          </a:solidFill>
                          <a:latin typeface="Arial"/>
                        </a:rPr>
                        <a:t>4</a:t>
                      </a:r>
                    </a:p>
                  </a:txBody>
                  <a:tcPr marR="73152" marT="36576" marB="36576" anchor="ctr">
                    <a:solidFill>
                      <a:srgbClr val="EEF1F4"/>
                    </a:solidFill>
                  </a:tcPr>
                </a:tc>
                <a:tc>
                  <a:txBody>
                    <a:bodyPr/>
                    <a:lstStyle/>
                    <a:p>
                      <a:r>
                        <a:rPr sz="1300" b="0">
                          <a:solidFill>
                            <a:srgbClr val="1B2A41"/>
                          </a:solidFill>
                          <a:latin typeface="Arial"/>
                        </a:rPr>
                        <a:t>Model filters when over 25 sources</a:t>
                      </a:r>
                    </a:p>
                  </a:txBody>
                  <a:tcPr marR="73152" marT="36576" marB="36576" anchor="ctr">
                    <a:solidFill>
                      <a:srgbClr val="EEF1F4"/>
                    </a:solidFill>
                  </a:tcPr>
                </a:tc>
                <a:extLst>
                  <a:ext uri="{0D108BD9-81ED-4DB2-BD59-A6C34878D82A}">
                    <a16:rowId xmlns:a16="http://schemas.microsoft.com/office/drawing/2014/main" val="10002"/>
                  </a:ext>
                </a:extLst>
              </a:tr>
              <a:tr h="596188">
                <a:tc>
                  <a:txBody>
                    <a:bodyPr/>
                    <a:lstStyle/>
                    <a:p>
                      <a:r>
                        <a:rPr sz="1300" b="1">
                          <a:solidFill>
                            <a:srgbClr val="1B2A41"/>
                          </a:solidFill>
                          <a:latin typeface="Arial"/>
                        </a:rPr>
                        <a:t>Dataverse</a:t>
                      </a:r>
                    </a:p>
                  </a:txBody>
                  <a:tcPr marR="73152" marT="36576" marB="36576" anchor="ctr">
                    <a:solidFill>
                      <a:srgbClr val="FFFFFF"/>
                    </a:solidFill>
                  </a:tcPr>
                </a:tc>
                <a:tc>
                  <a:txBody>
                    <a:bodyPr/>
                    <a:lstStyle/>
                    <a:p>
                      <a:r>
                        <a:rPr sz="1300" b="0">
                          <a:solidFill>
                            <a:srgbClr val="1B2A41"/>
                          </a:solidFill>
                          <a:latin typeface="Arial"/>
                        </a:rPr>
                        <a:t>2 sources, 15 tables each</a:t>
                      </a:r>
                    </a:p>
                  </a:txBody>
                  <a:tcPr marR="73152" marT="36576" marB="36576" anchor="ctr">
                    <a:solidFill>
                      <a:srgbClr val="FFFFFF"/>
                    </a:solidFill>
                  </a:tcPr>
                </a:tc>
                <a:tc>
                  <a:txBody>
                    <a:bodyPr/>
                    <a:lstStyle/>
                    <a:p>
                      <a:r>
                        <a:rPr sz="1300" b="0">
                          <a:solidFill>
                            <a:srgbClr val="1B2A41"/>
                          </a:solidFill>
                          <a:latin typeface="Arial"/>
                        </a:rPr>
                        <a:t>Supported</a:t>
                      </a:r>
                    </a:p>
                  </a:txBody>
                  <a:tcPr marR="73152" marT="36576" marB="36576" anchor="ctr">
                    <a:solidFill>
                      <a:srgbClr val="FFFFFF"/>
                    </a:solidFill>
                  </a:tcPr>
                </a:tc>
                <a:extLst>
                  <a:ext uri="{0D108BD9-81ED-4DB2-BD59-A6C34878D82A}">
                    <a16:rowId xmlns:a16="http://schemas.microsoft.com/office/drawing/2014/main" val="10003"/>
                  </a:ext>
                </a:extLst>
              </a:tr>
              <a:tr h="596188">
                <a:tc>
                  <a:txBody>
                    <a:bodyPr/>
                    <a:lstStyle/>
                    <a:p>
                      <a:r>
                        <a:rPr sz="1300" b="1">
                          <a:solidFill>
                            <a:srgbClr val="1B2A41"/>
                          </a:solidFill>
                          <a:latin typeface="Arial"/>
                        </a:rPr>
                        <a:t>Uploaded files</a:t>
                      </a:r>
                    </a:p>
                  </a:txBody>
                  <a:tcPr marR="73152" marT="36576" marB="36576" anchor="ctr">
                    <a:solidFill>
                      <a:srgbClr val="EEF1F4"/>
                    </a:solidFill>
                  </a:tcPr>
                </a:tc>
                <a:tc>
                  <a:txBody>
                    <a:bodyPr/>
                    <a:lstStyle/>
                    <a:p>
                      <a:r>
                        <a:rPr sz="1300" b="0">
                          <a:solidFill>
                            <a:srgbClr val="1B2A41"/>
                          </a:solidFill>
                          <a:latin typeface="Arial"/>
                        </a:rPr>
                        <a:t>Unlimited</a:t>
                      </a:r>
                    </a:p>
                  </a:txBody>
                  <a:tcPr marR="73152" marT="36576" marB="36576" anchor="ctr">
                    <a:solidFill>
                      <a:srgbClr val="EEF1F4"/>
                    </a:solidFill>
                  </a:tcPr>
                </a:tc>
                <a:tc>
                  <a:txBody>
                    <a:bodyPr/>
                    <a:lstStyle/>
                    <a:p>
                      <a:r>
                        <a:rPr sz="1300" b="0">
                          <a:solidFill>
                            <a:srgbClr val="1B2A41"/>
                          </a:solidFill>
                          <a:latin typeface="Arial"/>
                        </a:rPr>
                        <a:t>Not counted toward the 25-source limit</a:t>
                      </a:r>
                    </a:p>
                  </a:txBody>
                  <a:tcPr marR="73152" marT="36576" marB="36576" anchor="ctr">
                    <a:solidFill>
                      <a:srgbClr val="EEF1F4"/>
                    </a:solidFill>
                  </a:tcPr>
                </a:tc>
                <a:extLst>
                  <a:ext uri="{0D108BD9-81ED-4DB2-BD59-A6C34878D82A}">
                    <a16:rowId xmlns:a16="http://schemas.microsoft.com/office/drawing/2014/main" val="10004"/>
                  </a:ext>
                </a:extLst>
              </a:tr>
              <a:tr h="596188">
                <a:tc>
                  <a:txBody>
                    <a:bodyPr/>
                    <a:lstStyle/>
                    <a:p>
                      <a:r>
                        <a:rPr sz="1300" b="1">
                          <a:solidFill>
                            <a:srgbClr val="1B2A41"/>
                          </a:solidFill>
                          <a:latin typeface="Arial"/>
                        </a:rPr>
                        <a:t>Custom data, Bing Custom Search</a:t>
                      </a:r>
                    </a:p>
                  </a:txBody>
                  <a:tcPr marR="73152" marT="36576" marB="36576" anchor="ctr">
                    <a:solidFill>
                      <a:srgbClr val="FFFFFF"/>
                    </a:solidFill>
                  </a:tcPr>
                </a:tc>
                <a:tc>
                  <a:txBody>
                    <a:bodyPr/>
                    <a:lstStyle/>
                    <a:p>
                      <a:r>
                        <a:rPr sz="1300" b="0">
                          <a:solidFill>
                            <a:srgbClr val="1B2A41"/>
                          </a:solidFill>
                          <a:latin typeface="Arial"/>
                        </a:rPr>
                        <a:t>Supported</a:t>
                      </a:r>
                    </a:p>
                  </a:txBody>
                  <a:tcPr marR="73152" marT="36576" marB="36576" anchor="ctr">
                    <a:solidFill>
                      <a:srgbClr val="FFFFFF"/>
                    </a:solidFill>
                  </a:tcPr>
                </a:tc>
                <a:tc>
                  <a:txBody>
                    <a:bodyPr/>
                    <a:lstStyle/>
                    <a:p>
                      <a:r>
                        <a:rPr sz="1300" b="0">
                          <a:solidFill>
                            <a:srgbClr val="1B2A41"/>
                          </a:solidFill>
                          <a:latin typeface="Arial"/>
                        </a:rPr>
                        <a:t>Only inside a generative answers node</a:t>
                      </a:r>
                    </a:p>
                  </a:txBody>
                  <a:tcPr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Grounding controls on the agent</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learn.microsoft.com/microsoft-copilot-studio/knowledge-copilot-studio</a:t>
            </a:r>
          </a:p>
        </p:txBody>
      </p:sp>
      <p:graphicFrame>
        <p:nvGraphicFramePr>
          <p:cNvPr id="5" name="Table 4"/>
          <p:cNvGraphicFramePr>
            <a:graphicFrameLocks noGrp="1"/>
          </p:cNvGraphicFramePr>
          <p:nvPr/>
        </p:nvGraphicFramePr>
        <p:xfrm>
          <a:off x="502920" y="1335024"/>
          <a:ext cx="8138159" cy="3346700"/>
        </p:xfrm>
        <a:graphic>
          <a:graphicData uri="http://schemas.openxmlformats.org/drawingml/2006/table">
            <a:tbl>
              <a:tblPr>
                <a:tableStyleId>{2D5ABB26-0587-4C30-8999-92F81FD0307C}</a:tableStyleId>
              </a:tblPr>
              <a:tblGrid>
                <a:gridCol w="2766974">
                  <a:extLst>
                    <a:ext uri="{9D8B030D-6E8A-4147-A177-3AD203B41FA5}">
                      <a16:colId xmlns:a16="http://schemas.microsoft.com/office/drawing/2014/main" val="20000"/>
                    </a:ext>
                  </a:extLst>
                </a:gridCol>
                <a:gridCol w="5371185">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Control</a:t>
                      </a:r>
                    </a:p>
                  </a:txBody>
                  <a:tcPr marR="73152" marT="36576" marB="36576" anchor="ctr">
                    <a:solidFill>
                      <a:srgbClr val="1B2A41"/>
                    </a:solidFill>
                  </a:tcPr>
                </a:tc>
                <a:tc>
                  <a:txBody>
                    <a:bodyPr/>
                    <a:lstStyle/>
                    <a:p>
                      <a:r>
                        <a:rPr sz="1400" b="1">
                          <a:solidFill>
                            <a:srgbClr val="FFFFFF"/>
                          </a:solidFill>
                          <a:latin typeface="Arial"/>
                        </a:rPr>
                        <a:t>Effect</a:t>
                      </a:r>
                    </a:p>
                  </a:txBody>
                  <a:tcPr marR="73152" marT="36576" marB="36576" anchor="ctr">
                    <a:solidFill>
                      <a:srgbClr val="1B2A41"/>
                    </a:solidFill>
                  </a:tcPr>
                </a:tc>
                <a:extLst>
                  <a:ext uri="{0D108BD9-81ED-4DB2-BD59-A6C34878D82A}">
                    <a16:rowId xmlns:a16="http://schemas.microsoft.com/office/drawing/2014/main" val="10000"/>
                  </a:ext>
                </a:extLst>
              </a:tr>
              <a:tr h="596188">
                <a:tc>
                  <a:txBody>
                    <a:bodyPr/>
                    <a:lstStyle/>
                    <a:p>
                      <a:r>
                        <a:rPr sz="1300" b="1">
                          <a:solidFill>
                            <a:srgbClr val="1B2A41"/>
                          </a:solidFill>
                          <a:latin typeface="Arial"/>
                        </a:rPr>
                        <a:t>Allow ungrounded responses OFF</a:t>
                      </a:r>
                    </a:p>
                  </a:txBody>
                  <a:tcPr marR="73152" marT="36576" marB="36576" anchor="ctr">
                    <a:solidFill>
                      <a:srgbClr val="FFFFFF"/>
                    </a:solidFill>
                  </a:tcPr>
                </a:tc>
                <a:tc>
                  <a:txBody>
                    <a:bodyPr/>
                    <a:lstStyle/>
                    <a:p>
                      <a:r>
                        <a:rPr sz="1300" b="0">
                          <a:solidFill>
                            <a:srgbClr val="1B2A41"/>
                          </a:solidFill>
                          <a:latin typeface="Arial"/>
                        </a:rPr>
                        <a:t>A turn that used no source and no tool is blocked; the fallback topic fires</a:t>
                      </a:r>
                    </a:p>
                  </a:txBody>
                  <a:tcPr marR="73152" marT="36576" marB="36576" anchor="ctr">
                    <a:solidFill>
                      <a:srgbClr val="FFFFFF"/>
                    </a:solidFill>
                  </a:tcPr>
                </a:tc>
                <a:extLst>
                  <a:ext uri="{0D108BD9-81ED-4DB2-BD59-A6C34878D82A}">
                    <a16:rowId xmlns:a16="http://schemas.microsoft.com/office/drawing/2014/main" val="10001"/>
                  </a:ext>
                </a:extLst>
              </a:tr>
              <a:tr h="596188">
                <a:tc>
                  <a:txBody>
                    <a:bodyPr/>
                    <a:lstStyle/>
                    <a:p>
                      <a:r>
                        <a:rPr sz="1300" b="1">
                          <a:solidFill>
                            <a:srgbClr val="1B2A41"/>
                          </a:solidFill>
                          <a:latin typeface="Arial"/>
                        </a:rPr>
                        <a:t>Allow ungrounded responses ON</a:t>
                      </a:r>
                    </a:p>
                  </a:txBody>
                  <a:tcPr marR="73152" marT="36576" marB="36576" anchor="ctr">
                    <a:solidFill>
                      <a:srgbClr val="EEF1F4"/>
                    </a:solidFill>
                  </a:tcPr>
                </a:tc>
                <a:tc>
                  <a:txBody>
                    <a:bodyPr/>
                    <a:lstStyle/>
                    <a:p>
                      <a:r>
                        <a:rPr sz="1300" b="0">
                          <a:solidFill>
                            <a:srgbClr val="1B2A41"/>
                          </a:solidFill>
                          <a:latin typeface="Arial"/>
                        </a:rPr>
                        <a:t>The model's general knowledge can answer with no source behind it</a:t>
                      </a:r>
                    </a:p>
                  </a:txBody>
                  <a:tcPr marR="73152" marT="36576" marB="36576" anchor="ctr">
                    <a:solidFill>
                      <a:srgbClr val="EEF1F4"/>
                    </a:solidFill>
                  </a:tcPr>
                </a:tc>
                <a:extLst>
                  <a:ext uri="{0D108BD9-81ED-4DB2-BD59-A6C34878D82A}">
                    <a16:rowId xmlns:a16="http://schemas.microsoft.com/office/drawing/2014/main" val="10002"/>
                  </a:ext>
                </a:extLst>
              </a:tr>
              <a:tr h="596188">
                <a:tc>
                  <a:txBody>
                    <a:bodyPr/>
                    <a:lstStyle/>
                    <a:p>
                      <a:r>
                        <a:rPr sz="1300" b="1">
                          <a:solidFill>
                            <a:srgbClr val="1B2A41"/>
                          </a:solidFill>
                          <a:latin typeface="Arial"/>
                        </a:rPr>
                        <a:t>Official source</a:t>
                      </a:r>
                    </a:p>
                  </a:txBody>
                  <a:tcPr marR="73152" marT="36576" marB="36576" anchor="ctr">
                    <a:solidFill>
                      <a:srgbClr val="FFFFFF"/>
                    </a:solidFill>
                  </a:tcPr>
                </a:tc>
                <a:tc>
                  <a:txBody>
                    <a:bodyPr/>
                    <a:lstStyle/>
                    <a:p>
                      <a:r>
                        <a:rPr sz="1300" b="0">
                          <a:solidFill>
                            <a:srgbClr val="1B2A41"/>
                          </a:solidFill>
                          <a:latin typeface="Arial"/>
                        </a:rPr>
                        <a:t>A trusted source is used directly; not compatible with generative orchestration</a:t>
                      </a:r>
                    </a:p>
                  </a:txBody>
                  <a:tcPr marR="73152" marT="36576" marB="36576" anchor="ctr">
                    <a:solidFill>
                      <a:srgbClr val="FFFFFF"/>
                    </a:solidFill>
                  </a:tcPr>
                </a:tc>
                <a:extLst>
                  <a:ext uri="{0D108BD9-81ED-4DB2-BD59-A6C34878D82A}">
                    <a16:rowId xmlns:a16="http://schemas.microsoft.com/office/drawing/2014/main" val="10003"/>
                  </a:ext>
                </a:extLst>
              </a:tr>
              <a:tr h="596188">
                <a:tc>
                  <a:txBody>
                    <a:bodyPr/>
                    <a:lstStyle/>
                    <a:p>
                      <a:r>
                        <a:rPr sz="1300" b="1">
                          <a:solidFill>
                            <a:srgbClr val="1B2A41"/>
                          </a:solidFill>
                          <a:latin typeface="Arial"/>
                        </a:rPr>
                        <a:t>Web Search</a:t>
                      </a:r>
                    </a:p>
                  </a:txBody>
                  <a:tcPr marR="73152" marT="36576" marB="36576" anchor="ctr">
                    <a:solidFill>
                      <a:srgbClr val="EEF1F4"/>
                    </a:solidFill>
                  </a:tcPr>
                </a:tc>
                <a:tc>
                  <a:txBody>
                    <a:bodyPr/>
                    <a:lstStyle/>
                    <a:p>
                      <a:r>
                        <a:rPr sz="1300" b="0">
                          <a:solidFill>
                            <a:srgbClr val="1B2A41"/>
                          </a:solidFill>
                          <a:latin typeface="Arial"/>
                        </a:rPr>
                        <a:t>Public Bing results interleave with the public sites you configured</a:t>
                      </a:r>
                    </a:p>
                  </a:txBody>
                  <a:tcPr marR="73152" marT="36576" marB="36576" anchor="ctr">
                    <a:solidFill>
                      <a:srgbClr val="EEF1F4"/>
                    </a:solidFill>
                  </a:tcPr>
                </a:tc>
                <a:extLst>
                  <a:ext uri="{0D108BD9-81ED-4DB2-BD59-A6C34878D82A}">
                    <a16:rowId xmlns:a16="http://schemas.microsoft.com/office/drawing/2014/main" val="10004"/>
                  </a:ext>
                </a:extLst>
              </a:tr>
              <a:tr h="596188">
                <a:tc>
                  <a:txBody>
                    <a:bodyPr/>
                    <a:lstStyle/>
                    <a:p>
                      <a:r>
                        <a:rPr sz="1300" b="1">
                          <a:solidFill>
                            <a:srgbClr val="1B2A41"/>
                          </a:solidFill>
                          <a:latin typeface="Arial"/>
                        </a:rPr>
                        <a:t>In-text citation</a:t>
                      </a:r>
                    </a:p>
                  </a:txBody>
                  <a:tcPr marR="73152" marT="36576" marB="36576" anchor="ctr">
                    <a:solidFill>
                      <a:srgbClr val="FFFFFF"/>
                    </a:solidFill>
                  </a:tcPr>
                </a:tc>
                <a:tc>
                  <a:txBody>
                    <a:bodyPr/>
                    <a:lstStyle/>
                    <a:p>
                      <a:r>
                        <a:rPr sz="1300" b="0">
                          <a:solidFill>
                            <a:srgbClr val="1B2A41"/>
                          </a:solidFill>
                          <a:latin typeface="Arial"/>
                        </a:rPr>
                        <a:t>With ungrounded off, an answer ships only when it cites the source</a:t>
                      </a:r>
                    </a:p>
                  </a:txBody>
                  <a:tcPr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Verify a grounded answer</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900" b="0">
                <a:latin typeface="Arial"/>
              </a:rPr>
              <a:t>Open the citation and read the passage it points to</a:t>
            </a:r>
          </a:p>
          <a:p>
            <a:pPr>
              <a:spcAft>
                <a:spcPts val="800"/>
              </a:spcAft>
            </a:pPr>
            <a:r>
              <a:rPr sz="1900" b="0">
                <a:latin typeface="Arial"/>
              </a:rPr>
              <a:t>Confirm the passage actually supports the claim in the answer</a:t>
            </a:r>
          </a:p>
          <a:p>
            <a:pPr>
              <a:spcAft>
                <a:spcPts val="800"/>
              </a:spcAft>
            </a:pPr>
            <a:r>
              <a:rPr sz="1900" b="0">
                <a:latin typeface="Arial"/>
              </a:rPr>
              <a:t>Check that the source is in scope for the question that was asked</a:t>
            </a:r>
          </a:p>
          <a:p>
            <a:pPr>
              <a:spcAft>
                <a:spcPts val="800"/>
              </a:spcAft>
            </a:pPr>
            <a:r>
              <a:rPr sz="1900" b="0">
                <a:latin typeface="Arial"/>
              </a:rPr>
              <a:t>A citation you have not opened is not evidence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Knowledge scope and limits</a:t>
            </a:r>
          </a:p>
        </p:txBody>
      </p:sp>
      <p:graphicFrame>
        <p:nvGraphicFramePr>
          <p:cNvPr id="3" name="Table 2"/>
          <p:cNvGraphicFramePr>
            <a:graphicFrameLocks noGrp="1"/>
          </p:cNvGraphicFramePr>
          <p:nvPr/>
        </p:nvGraphicFramePr>
        <p:xfrm>
          <a:off x="502920" y="1335024"/>
          <a:ext cx="8138160" cy="3346704"/>
        </p:xfrm>
        <a:graphic>
          <a:graphicData uri="http://schemas.openxmlformats.org/drawingml/2006/table">
            <a:tbl>
              <a:tblPr>
                <a:tableStyleId>{2D5ABB26-0587-4C30-8999-92F81FD0307C}</a:tableStyleId>
              </a:tblPr>
              <a:tblGrid>
                <a:gridCol w="2441448">
                  <a:extLst>
                    <a:ext uri="{9D8B030D-6E8A-4147-A177-3AD203B41FA5}">
                      <a16:colId xmlns:a16="http://schemas.microsoft.com/office/drawing/2014/main" val="20000"/>
                    </a:ext>
                  </a:extLst>
                </a:gridCol>
                <a:gridCol w="5696712">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Choice</a:t>
                      </a:r>
                    </a:p>
                  </a:txBody>
                  <a:tcPr marR="73152" marT="36576" marB="36576" anchor="ctr">
                    <a:solidFill>
                      <a:srgbClr val="1B2A41"/>
                    </a:solidFill>
                  </a:tcPr>
                </a:tc>
                <a:tc>
                  <a:txBody>
                    <a:bodyPr/>
                    <a:lstStyle/>
                    <a:p>
                      <a:r>
                        <a:rPr sz="1400" b="1">
                          <a:solidFill>
                            <a:srgbClr val="FFFFFF"/>
                          </a:solidFill>
                          <a:latin typeface="Arial"/>
                        </a:rPr>
                        <a:t>Consequence for this assistant</a:t>
                      </a:r>
                    </a:p>
                  </a:txBody>
                  <a:tcPr marR="73152" marT="36576" marB="36576" anchor="ctr">
                    <a:solidFill>
                      <a:srgbClr val="1B2A41"/>
                    </a:solidFill>
                  </a:tcPr>
                </a:tc>
                <a:extLst>
                  <a:ext uri="{0D108BD9-81ED-4DB2-BD59-A6C34878D82A}">
                    <a16:rowId xmlns:a16="http://schemas.microsoft.com/office/drawing/2014/main" val="10000"/>
                  </a:ext>
                </a:extLst>
              </a:tr>
              <a:tr h="745236">
                <a:tc>
                  <a:txBody>
                    <a:bodyPr/>
                    <a:lstStyle/>
                    <a:p>
                      <a:r>
                        <a:rPr sz="1400" b="1">
                          <a:solidFill>
                            <a:srgbClr val="1B2A41"/>
                          </a:solidFill>
                          <a:latin typeface="Arial"/>
                        </a:rPr>
                        <a:t>Agent knowledge</a:t>
                      </a:r>
                    </a:p>
                  </a:txBody>
                  <a:tcPr marR="73152" marT="36576" marB="36576" anchor="ctr">
                    <a:solidFill>
                      <a:srgbClr val="FFFFFF"/>
                    </a:solidFill>
                  </a:tcPr>
                </a:tc>
                <a:tc>
                  <a:txBody>
                    <a:bodyPr/>
                    <a:lstStyle/>
                    <a:p>
                      <a:r>
                        <a:rPr sz="1400" b="0">
                          <a:solidFill>
                            <a:srgbClr val="1B2A41"/>
                          </a:solidFill>
                          <a:latin typeface="Arial"/>
                        </a:rPr>
                        <a:t>A shared reference for general study questions</a:t>
                      </a:r>
                    </a:p>
                  </a:txBody>
                  <a:tcPr marR="73152" marT="36576" marB="36576" anchor="ctr">
                    <a:solidFill>
                      <a:srgbClr val="FFFFFF"/>
                    </a:solidFill>
                  </a:tcPr>
                </a:tc>
                <a:extLst>
                  <a:ext uri="{0D108BD9-81ED-4DB2-BD59-A6C34878D82A}">
                    <a16:rowId xmlns:a16="http://schemas.microsoft.com/office/drawing/2014/main" val="10001"/>
                  </a:ext>
                </a:extLst>
              </a:tr>
              <a:tr h="745236">
                <a:tc>
                  <a:txBody>
                    <a:bodyPr/>
                    <a:lstStyle/>
                    <a:p>
                      <a:r>
                        <a:rPr sz="1400" b="1">
                          <a:solidFill>
                            <a:srgbClr val="1B2A41"/>
                          </a:solidFill>
                          <a:latin typeface="Arial"/>
                        </a:rPr>
                        <a:t>Topic grounding</a:t>
                      </a:r>
                    </a:p>
                  </a:txBody>
                  <a:tcPr marR="73152" marT="36576" marB="36576" anchor="ctr">
                    <a:solidFill>
                      <a:srgbClr val="EEF1F4"/>
                    </a:solidFill>
                  </a:tcPr>
                </a:tc>
                <a:tc>
                  <a:txBody>
                    <a:bodyPr/>
                    <a:lstStyle/>
                    <a:p>
                      <a:r>
                        <a:rPr sz="1400" b="0">
                          <a:solidFill>
                            <a:srgbClr val="1B2A41"/>
                          </a:solidFill>
                          <a:latin typeface="Arial"/>
                        </a:rPr>
                        <a:t>A selected source scope for one particular conversation</a:t>
                      </a:r>
                    </a:p>
                  </a:txBody>
                  <a:tcPr marR="73152" marT="36576" marB="36576" anchor="ctr">
                    <a:solidFill>
                      <a:srgbClr val="EEF1F4"/>
                    </a:solidFill>
                  </a:tcPr>
                </a:tc>
                <a:extLst>
                  <a:ext uri="{0D108BD9-81ED-4DB2-BD59-A6C34878D82A}">
                    <a16:rowId xmlns:a16="http://schemas.microsoft.com/office/drawing/2014/main" val="10002"/>
                  </a:ext>
                </a:extLst>
              </a:tr>
              <a:tr h="745236">
                <a:tc>
                  <a:txBody>
                    <a:bodyPr/>
                    <a:lstStyle/>
                    <a:p>
                      <a:r>
                        <a:rPr sz="1400" b="1">
                          <a:solidFill>
                            <a:srgbClr val="1B2A41"/>
                          </a:solidFill>
                          <a:latin typeface="Arial"/>
                        </a:rPr>
                        <a:t>Source order</a:t>
                      </a:r>
                    </a:p>
                  </a:txBody>
                  <a:tcPr marR="73152" marT="36576" marB="36576" anchor="ctr">
                    <a:solidFill>
                      <a:srgbClr val="FFFFFF"/>
                    </a:solidFill>
                  </a:tcPr>
                </a:tc>
                <a:tc>
                  <a:txBody>
                    <a:bodyPr/>
                    <a:lstStyle/>
                    <a:p>
                      <a:r>
                        <a:rPr sz="1400" b="0">
                          <a:solidFill>
                            <a:srgbClr val="1B2A41"/>
                          </a:solidFill>
                          <a:latin typeface="Arial"/>
                        </a:rPr>
                        <a:t>There is no first-uploaded-source-wins rule</a:t>
                      </a:r>
                    </a:p>
                  </a:txBody>
                  <a:tcPr marR="73152" marT="36576" marB="36576" anchor="ctr">
                    <a:solidFill>
                      <a:srgbClr val="FFFFFF"/>
                    </a:solidFill>
                  </a:tcPr>
                </a:tc>
                <a:extLst>
                  <a:ext uri="{0D108BD9-81ED-4DB2-BD59-A6C34878D82A}">
                    <a16:rowId xmlns:a16="http://schemas.microsoft.com/office/drawing/2014/main" val="10003"/>
                  </a:ext>
                </a:extLst>
              </a:tr>
              <a:tr h="745236">
                <a:tc>
                  <a:txBody>
                    <a:bodyPr/>
                    <a:lstStyle/>
                    <a:p>
                      <a:r>
                        <a:rPr sz="1400" b="1">
                          <a:solidFill>
                            <a:srgbClr val="1B2A41"/>
                          </a:solidFill>
                          <a:latin typeface="Arial"/>
                        </a:rPr>
                        <a:t>Limits and citations</a:t>
                      </a:r>
                    </a:p>
                  </a:txBody>
                  <a:tcPr marR="73152" marT="36576" marB="36576" anchor="ctr">
                    <a:solidFill>
                      <a:srgbClr val="EEF1F4"/>
                    </a:solidFill>
                  </a:tcPr>
                </a:tc>
                <a:tc>
                  <a:txBody>
                    <a:bodyPr/>
                    <a:lstStyle/>
                    <a:p>
                      <a:r>
                        <a:rPr sz="1400" b="0">
                          <a:solidFill>
                            <a:srgbClr val="1B2A41"/>
                          </a:solidFill>
                          <a:latin typeface="Arial"/>
                        </a:rPr>
                        <a:t>Check source readiness, scope, and the supporting passage</a:t>
                      </a:r>
                    </a:p>
                  </a:txBody>
                  <a:tcPr marR="73152" marT="36576" marB="36576" anchor="ctr">
                    <a:solidFill>
                      <a:srgbClr val="EEF1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Teach, wait, then give feedback</a:t>
            </a:r>
          </a:p>
        </p:txBody>
      </p:sp>
      <p:sp>
        <p:nvSpPr>
          <p:cNvPr id="3" name="Rounded Rectangle 2"/>
          <p:cNvSpPr/>
          <p:nvPr/>
        </p:nvSpPr>
        <p:spPr>
          <a:xfrm>
            <a:off x="502920" y="1463040"/>
            <a:ext cx="1874519" cy="713232"/>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Message</a:t>
            </a:r>
          </a:p>
          <a:p>
            <a:pPr algn="ctr"/>
            <a:r>
              <a:rPr sz="1100" b="0">
                <a:solidFill>
                  <a:srgbClr val="1B2A41"/>
                </a:solidFill>
                <a:latin typeface="Arial"/>
              </a:rPr>
              <a:t>teach the concept</a:t>
            </a:r>
          </a:p>
        </p:txBody>
      </p:sp>
      <p:sp>
        <p:nvSpPr>
          <p:cNvPr id="4" name="Right Arrow 3"/>
          <p:cNvSpPr/>
          <p:nvPr/>
        </p:nvSpPr>
        <p:spPr>
          <a:xfrm>
            <a:off x="2450592" y="1737360"/>
            <a:ext cx="274320"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798064" y="1463040"/>
            <a:ext cx="1874519" cy="713232"/>
          </a:xfrm>
          <a:prstGeom prst="roundRect">
            <a:avLst/>
          </a:prstGeom>
          <a:solidFill>
            <a:srgbClr val="1B2A41"/>
          </a:solidFill>
          <a:ln w="15875">
            <a:solidFill>
              <a:srgbClr val="1B2A41"/>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FFFFFF"/>
                </a:solidFill>
                <a:latin typeface="Arial"/>
              </a:rPr>
              <a:t>Question node</a:t>
            </a:r>
          </a:p>
          <a:p>
            <a:pPr algn="ctr"/>
            <a:r>
              <a:rPr sz="1100" b="0">
                <a:solidFill>
                  <a:srgbClr val="FFFFFF"/>
                </a:solidFill>
                <a:latin typeface="Arial"/>
              </a:rPr>
              <a:t>WAIT for a choice</a:t>
            </a:r>
          </a:p>
        </p:txBody>
      </p:sp>
      <p:sp>
        <p:nvSpPr>
          <p:cNvPr id="6" name="Rounded Rectangle 5"/>
          <p:cNvSpPr/>
          <p:nvPr/>
        </p:nvSpPr>
        <p:spPr>
          <a:xfrm>
            <a:off x="5349240" y="1335024"/>
            <a:ext cx="3291840" cy="566928"/>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a:solidFill>
                  <a:srgbClr val="1B2A41"/>
                </a:solidFill>
                <a:latin typeface="Arial"/>
              </a:rPr>
              <a:t>Correct  -&gt;  explain why it is right</a:t>
            </a:r>
          </a:p>
        </p:txBody>
      </p:sp>
      <p:sp>
        <p:nvSpPr>
          <p:cNvPr id="7" name="Rounded Rectangle 6"/>
          <p:cNvSpPr/>
          <p:nvPr/>
        </p:nvSpPr>
        <p:spPr>
          <a:xfrm>
            <a:off x="5349240" y="1975104"/>
            <a:ext cx="3291840" cy="566928"/>
          </a:xfrm>
          <a:prstGeom prst="roundRect">
            <a:avLst/>
          </a:prstGeom>
          <a:solidFill>
            <a:srgbClr val="FAEBD8"/>
          </a:solidFill>
          <a:ln w="15875">
            <a:solidFill>
              <a:srgbClr val="B5620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a:solidFill>
                  <a:srgbClr val="1B2A41"/>
                </a:solidFill>
                <a:latin typeface="Arial"/>
              </a:rPr>
              <a:t>Incorrect  -&gt;  name the misconception</a:t>
            </a:r>
          </a:p>
        </p:txBody>
      </p:sp>
      <p:sp>
        <p:nvSpPr>
          <p:cNvPr id="8" name="Rounded Rectangle 7"/>
          <p:cNvSpPr/>
          <p:nvPr/>
        </p:nvSpPr>
        <p:spPr>
          <a:xfrm>
            <a:off x="5349240" y="2615184"/>
            <a:ext cx="3291840" cy="566928"/>
          </a:xfrm>
          <a:prstGeom prst="roundRect">
            <a:avLst/>
          </a:prstGeom>
          <a:solidFill>
            <a:srgbClr val="EEF1F4"/>
          </a:solidFill>
          <a:ln w="15875">
            <a:solidFill>
              <a:srgbClr val="4A60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a:solidFill>
                  <a:srgbClr val="1B2A41"/>
                </a:solidFill>
                <a:latin typeface="Arial"/>
              </a:rPr>
              <a:t>Unmatched twice  -&gt;  offer recovery</a:t>
            </a:r>
          </a:p>
        </p:txBody>
      </p:sp>
      <p:sp>
        <p:nvSpPr>
          <p:cNvPr id="9" name="Right Arrow 8"/>
          <p:cNvSpPr/>
          <p:nvPr/>
        </p:nvSpPr>
        <p:spPr>
          <a:xfrm>
            <a:off x="4745736" y="1737360"/>
            <a:ext cx="512064"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3346704"/>
            <a:ext cx="4663440" cy="1188720"/>
          </a:xfrm>
          <a:prstGeom prst="rect">
            <a:avLst/>
          </a:prstGeom>
          <a:noFill/>
        </p:spPr>
        <p:txBody>
          <a:bodyPr wrap="square" lIns="18288" tIns="0" rIns="18288" bIns="0">
            <a:spAutoFit/>
          </a:bodyPr>
          <a:lstStyle/>
          <a:p>
            <a:pPr algn="l"/>
            <a:r>
              <a:rPr sz="1300" b="0">
                <a:solidFill>
                  <a:srgbClr val="1B2A41"/>
                </a:solidFill>
                <a:latin typeface="Arial"/>
              </a:rPr>
              <a:t>The wait point is what makes it teaching.</a:t>
            </a:r>
          </a:p>
          <a:p>
            <a:pPr algn="l"/>
            <a:r>
              <a:rPr sz="1300" b="0">
                <a:solidFill>
                  <a:srgbClr val="1B2A41"/>
                </a:solidFill>
                <a:latin typeface="Arial"/>
              </a:rPr>
              <a:t>Without a Question node the agent lectures, and no learner response ever gets evaluated.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Topic inputs, outputs, and auto-prompting</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learn.microsoft.com/microsoft-copilot-studio/guidance/generative-orchestration</a:t>
            </a:r>
          </a:p>
        </p:txBody>
      </p:sp>
      <p:graphicFrame>
        <p:nvGraphicFramePr>
          <p:cNvPr id="5" name="Table 4"/>
          <p:cNvGraphicFramePr>
            <a:graphicFrameLocks noGrp="1"/>
          </p:cNvGraphicFramePr>
          <p:nvPr/>
        </p:nvGraphicFramePr>
        <p:xfrm>
          <a:off x="502920" y="1335024"/>
          <a:ext cx="8138159" cy="3346700"/>
        </p:xfrm>
        <a:graphic>
          <a:graphicData uri="http://schemas.openxmlformats.org/drawingml/2006/table">
            <a:tbl>
              <a:tblPr>
                <a:tableStyleId>{2D5ABB26-0587-4C30-8999-92F81FD0307C}</a:tableStyleId>
              </a:tblPr>
              <a:tblGrid>
                <a:gridCol w="2604211">
                  <a:extLst>
                    <a:ext uri="{9D8B030D-6E8A-4147-A177-3AD203B41FA5}">
                      <a16:colId xmlns:a16="http://schemas.microsoft.com/office/drawing/2014/main" val="20000"/>
                    </a:ext>
                  </a:extLst>
                </a:gridCol>
                <a:gridCol w="5533948">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Design choice</a:t>
                      </a:r>
                    </a:p>
                  </a:txBody>
                  <a:tcPr marR="73152" marT="36576" marB="36576" anchor="ctr">
                    <a:solidFill>
                      <a:srgbClr val="1B2A41"/>
                    </a:solidFill>
                  </a:tcPr>
                </a:tc>
                <a:tc>
                  <a:txBody>
                    <a:bodyPr/>
                    <a:lstStyle/>
                    <a:p>
                      <a:r>
                        <a:rPr sz="1400" b="1">
                          <a:solidFill>
                            <a:srgbClr val="FFFFFF"/>
                          </a:solidFill>
                          <a:latin typeface="Arial"/>
                        </a:rPr>
                        <a:t>Why it matters</a:t>
                      </a:r>
                    </a:p>
                  </a:txBody>
                  <a:tcPr marR="73152" marT="36576" marB="36576" anchor="ctr">
                    <a:solidFill>
                      <a:srgbClr val="1B2A41"/>
                    </a:solidFill>
                  </a:tcPr>
                </a:tc>
                <a:extLst>
                  <a:ext uri="{0D108BD9-81ED-4DB2-BD59-A6C34878D82A}">
                    <a16:rowId xmlns:a16="http://schemas.microsoft.com/office/drawing/2014/main" val="10000"/>
                  </a:ext>
                </a:extLst>
              </a:tr>
              <a:tr h="596188">
                <a:tc>
                  <a:txBody>
                    <a:bodyPr/>
                    <a:lstStyle/>
                    <a:p>
                      <a:r>
                        <a:rPr sz="1300" b="1">
                          <a:solidFill>
                            <a:srgbClr val="1B2A41"/>
                          </a:solidFill>
                          <a:latin typeface="Arial"/>
                        </a:rPr>
                        <a:t>Human-friendly input names</a:t>
                      </a:r>
                    </a:p>
                  </a:txBody>
                  <a:tcPr marR="73152" marT="36576" marB="36576" anchor="ctr">
                    <a:solidFill>
                      <a:srgbClr val="FFFFFF"/>
                    </a:solidFill>
                  </a:tcPr>
                </a:tc>
                <a:tc>
                  <a:txBody>
                    <a:bodyPr/>
                    <a:lstStyle/>
                    <a:p>
                      <a:r>
                        <a:rPr sz="1300" b="0">
                          <a:solidFill>
                            <a:srgbClr val="1B2A41"/>
                          </a:solidFill>
                          <a:latin typeface="Arial"/>
                        </a:rPr>
                        <a:t>The planner writes the question it asks the user from the input name</a:t>
                      </a:r>
                    </a:p>
                  </a:txBody>
                  <a:tcPr marR="73152" marT="36576" marB="36576" anchor="ctr">
                    <a:solidFill>
                      <a:srgbClr val="FFFFFF"/>
                    </a:solidFill>
                  </a:tcPr>
                </a:tc>
                <a:extLst>
                  <a:ext uri="{0D108BD9-81ED-4DB2-BD59-A6C34878D82A}">
                    <a16:rowId xmlns:a16="http://schemas.microsoft.com/office/drawing/2014/main" val="10001"/>
                  </a:ext>
                </a:extLst>
              </a:tr>
              <a:tr h="596188">
                <a:tc>
                  <a:txBody>
                    <a:bodyPr/>
                    <a:lstStyle/>
                    <a:p>
                      <a:r>
                        <a:rPr sz="1300" b="1">
                          <a:solidFill>
                            <a:srgbClr val="1B2A41"/>
                          </a:solidFill>
                          <a:latin typeface="Arial"/>
                        </a:rPr>
                        <a:t>Input descriptions and examples</a:t>
                      </a:r>
                    </a:p>
                  </a:txBody>
                  <a:tcPr marR="73152" marT="36576" marB="36576" anchor="ctr">
                    <a:solidFill>
                      <a:srgbClr val="EEF1F4"/>
                    </a:solidFill>
                  </a:tcPr>
                </a:tc>
                <a:tc>
                  <a:txBody>
                    <a:bodyPr/>
                    <a:lstStyle/>
                    <a:p>
                      <a:r>
                        <a:rPr sz="1300" b="0">
                          <a:solidFill>
                            <a:srgbClr val="1B2A41"/>
                          </a:solidFill>
                          <a:latin typeface="Arial"/>
                        </a:rPr>
                        <a:t>Turn a vague generated prompt into a specific one</a:t>
                      </a:r>
                    </a:p>
                  </a:txBody>
                  <a:tcPr marR="73152" marT="36576" marB="36576" anchor="ctr">
                    <a:solidFill>
                      <a:srgbClr val="EEF1F4"/>
                    </a:solidFill>
                  </a:tcPr>
                </a:tc>
                <a:extLst>
                  <a:ext uri="{0D108BD9-81ED-4DB2-BD59-A6C34878D82A}">
                    <a16:rowId xmlns:a16="http://schemas.microsoft.com/office/drawing/2014/main" val="10002"/>
                  </a:ext>
                </a:extLst>
              </a:tr>
              <a:tr h="596188">
                <a:tc>
                  <a:txBody>
                    <a:bodyPr/>
                    <a:lstStyle/>
                    <a:p>
                      <a:r>
                        <a:rPr sz="1300" b="1">
                          <a:solidFill>
                            <a:srgbClr val="1B2A41"/>
                          </a:solidFill>
                          <a:latin typeface="Arial"/>
                        </a:rPr>
                        <a:t>Power Fx validation or a value list</a:t>
                      </a:r>
                    </a:p>
                  </a:txBody>
                  <a:tcPr marR="73152" marT="36576" marB="36576" anchor="ctr">
                    <a:solidFill>
                      <a:srgbClr val="FFFFFF"/>
                    </a:solidFill>
                  </a:tcPr>
                </a:tc>
                <a:tc>
                  <a:txBody>
                    <a:bodyPr/>
                    <a:lstStyle/>
                    <a:p>
                      <a:r>
                        <a:rPr sz="1300" b="0">
                          <a:solidFill>
                            <a:srgbClr val="1B2A41"/>
                          </a:solidFill>
                          <a:latin typeface="Arial"/>
                        </a:rPr>
                        <a:t>Rejects bad input before the tool ever runs</a:t>
                      </a:r>
                    </a:p>
                  </a:txBody>
                  <a:tcPr marR="73152" marT="36576" marB="36576" anchor="ctr">
                    <a:solidFill>
                      <a:srgbClr val="FFFFFF"/>
                    </a:solidFill>
                  </a:tcPr>
                </a:tc>
                <a:extLst>
                  <a:ext uri="{0D108BD9-81ED-4DB2-BD59-A6C34878D82A}">
                    <a16:rowId xmlns:a16="http://schemas.microsoft.com/office/drawing/2014/main" val="10003"/>
                  </a:ext>
                </a:extLst>
              </a:tr>
              <a:tr h="596188">
                <a:tc>
                  <a:txBody>
                    <a:bodyPr/>
                    <a:lstStyle/>
                    <a:p>
                      <a:r>
                        <a:rPr sz="1300" b="1">
                          <a:solidFill>
                            <a:srgbClr val="1B2A41"/>
                          </a:solidFill>
                          <a:latin typeface="Arial"/>
                        </a:rPr>
                        <a:t>Output variables, not messages</a:t>
                      </a:r>
                    </a:p>
                  </a:txBody>
                  <a:tcPr marR="73152" marT="36576" marB="36576" anchor="ctr">
                    <a:solidFill>
                      <a:srgbClr val="EEF1F4"/>
                    </a:solidFill>
                  </a:tcPr>
                </a:tc>
                <a:tc>
                  <a:txBody>
                    <a:bodyPr/>
                    <a:lstStyle/>
                    <a:p>
                      <a:r>
                        <a:rPr sz="1300" b="0">
                          <a:solidFill>
                            <a:srgbClr val="1B2A41"/>
                          </a:solidFill>
                          <a:latin typeface="Arial"/>
                        </a:rPr>
                        <a:t>Lets the planner combine the result with other steps in the plan</a:t>
                      </a:r>
                    </a:p>
                  </a:txBody>
                  <a:tcPr marR="73152" marT="36576" marB="36576" anchor="ctr">
                    <a:solidFill>
                      <a:srgbClr val="EEF1F4"/>
                    </a:solidFill>
                  </a:tcPr>
                </a:tc>
                <a:extLst>
                  <a:ext uri="{0D108BD9-81ED-4DB2-BD59-A6C34878D82A}">
                    <a16:rowId xmlns:a16="http://schemas.microsoft.com/office/drawing/2014/main" val="10004"/>
                  </a:ext>
                </a:extLst>
              </a:tr>
              <a:tr h="596188">
                <a:tc>
                  <a:txBody>
                    <a:bodyPr/>
                    <a:lstStyle/>
                    <a:p>
                      <a:r>
                        <a:rPr sz="1300" b="1">
                          <a:solidFill>
                            <a:srgbClr val="1B2A41"/>
                          </a:solidFill>
                          <a:latin typeface="Arial"/>
                        </a:rPr>
                        <a:t>No double-handling</a:t>
                      </a:r>
                    </a:p>
                  </a:txBody>
                  <a:tcPr marR="73152" marT="36576" marB="36576" anchor="ctr">
                    <a:solidFill>
                      <a:srgbClr val="FFFFFF"/>
                    </a:solidFill>
                  </a:tcPr>
                </a:tc>
                <a:tc>
                  <a:txBody>
                    <a:bodyPr/>
                    <a:lstStyle/>
                    <a:p>
                      <a:r>
                        <a:rPr sz="1300" b="0">
                          <a:solidFill>
                            <a:srgbClr val="1B2A41"/>
                          </a:solidFill>
                          <a:latin typeface="Arial"/>
                        </a:rPr>
                        <a:t>Do not feed a structured output back into the prompt as free text</a:t>
                      </a:r>
                    </a:p>
                  </a:txBody>
                  <a:tcPr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Context reuse or a new answer</a:t>
            </a:r>
          </a:p>
        </p:txBody>
      </p:sp>
      <p:graphicFrame>
        <p:nvGraphicFramePr>
          <p:cNvPr id="3" name="Table 2"/>
          <p:cNvGraphicFramePr>
            <a:graphicFrameLocks noGrp="1"/>
          </p:cNvGraphicFramePr>
          <p:nvPr/>
        </p:nvGraphicFramePr>
        <p:xfrm>
          <a:off x="502920" y="1335024"/>
          <a:ext cx="8138159" cy="3346704"/>
        </p:xfrm>
        <a:graphic>
          <a:graphicData uri="http://schemas.openxmlformats.org/drawingml/2006/table">
            <a:tbl>
              <a:tblPr>
                <a:tableStyleId>{2D5ABB26-0587-4C30-8999-92F81FD0307C}</a:tableStyleId>
              </a:tblPr>
              <a:tblGrid>
                <a:gridCol w="4231843">
                  <a:extLst>
                    <a:ext uri="{9D8B030D-6E8A-4147-A177-3AD203B41FA5}">
                      <a16:colId xmlns:a16="http://schemas.microsoft.com/office/drawing/2014/main" val="20000"/>
                    </a:ext>
                  </a:extLst>
                </a:gridCol>
                <a:gridCol w="3906316">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Situation</a:t>
                      </a:r>
                    </a:p>
                  </a:txBody>
                  <a:tcPr marR="73152" marT="36576" marB="36576" anchor="ctr">
                    <a:solidFill>
                      <a:srgbClr val="1B2A41"/>
                    </a:solidFill>
                  </a:tcPr>
                </a:tc>
                <a:tc>
                  <a:txBody>
                    <a:bodyPr/>
                    <a:lstStyle/>
                    <a:p>
                      <a:r>
                        <a:rPr sz="1400" b="1">
                          <a:solidFill>
                            <a:srgbClr val="FFFFFF"/>
                          </a:solidFill>
                          <a:latin typeface="Arial"/>
                        </a:rPr>
                        <a:t>Use</a:t>
                      </a:r>
                    </a:p>
                  </a:txBody>
                  <a:tcPr marR="73152" marT="36576" marB="36576" anchor="ctr">
                    <a:solidFill>
                      <a:srgbClr val="1B2A41"/>
                    </a:solidFill>
                  </a:tcPr>
                </a:tc>
                <a:extLst>
                  <a:ext uri="{0D108BD9-81ED-4DB2-BD59-A6C34878D82A}">
                    <a16:rowId xmlns:a16="http://schemas.microsoft.com/office/drawing/2014/main" val="10000"/>
                  </a:ext>
                </a:extLst>
              </a:tr>
              <a:tr h="745236">
                <a:tc>
                  <a:txBody>
                    <a:bodyPr/>
                    <a:lstStyle/>
                    <a:p>
                      <a:r>
                        <a:rPr sz="1400" b="1">
                          <a:solidFill>
                            <a:srgbClr val="1B2A41"/>
                          </a:solidFill>
                          <a:latin typeface="Arial"/>
                        </a:rPr>
                        <a:t>"Give me a responsible-ai study session"</a:t>
                      </a:r>
                    </a:p>
                  </a:txBody>
                  <a:tcPr marR="73152" marT="36576" marB="36576" anchor="ctr">
                    <a:solidFill>
                      <a:srgbClr val="FFFFFF"/>
                    </a:solidFill>
                  </a:tcPr>
                </a:tc>
                <a:tc>
                  <a:txBody>
                    <a:bodyPr/>
                    <a:lstStyle/>
                    <a:p>
                      <a:r>
                        <a:rPr sz="1400" b="0">
                          <a:solidFill>
                            <a:srgbClr val="1B2A41"/>
                          </a:solidFill>
                          <a:latin typeface="Arial"/>
                        </a:rPr>
                        <a:t>Fill the tool input from context</a:t>
                      </a:r>
                    </a:p>
                  </a:txBody>
                  <a:tcPr marR="73152" marT="36576" marB="36576" anchor="ctr">
                    <a:solidFill>
                      <a:srgbClr val="FFFFFF"/>
                    </a:solidFill>
                  </a:tcPr>
                </a:tc>
                <a:extLst>
                  <a:ext uri="{0D108BD9-81ED-4DB2-BD59-A6C34878D82A}">
                    <a16:rowId xmlns:a16="http://schemas.microsoft.com/office/drawing/2014/main" val="10001"/>
                  </a:ext>
                </a:extLst>
              </a:tr>
              <a:tr h="745236">
                <a:tc>
                  <a:txBody>
                    <a:bodyPr/>
                    <a:lstStyle/>
                    <a:p>
                      <a:r>
                        <a:rPr sz="1400" b="1">
                          <a:solidFill>
                            <a:srgbClr val="1B2A41"/>
                          </a:solidFill>
                          <a:latin typeface="Arial"/>
                        </a:rPr>
                        <a:t>"Which principle covers transparency?"</a:t>
                      </a:r>
                    </a:p>
                  </a:txBody>
                  <a:tcPr marR="73152" marT="36576" marB="36576" anchor="ctr">
                    <a:solidFill>
                      <a:srgbClr val="EEF1F4"/>
                    </a:solidFill>
                  </a:tcPr>
                </a:tc>
                <a:tc>
                  <a:txBody>
                    <a:bodyPr/>
                    <a:lstStyle/>
                    <a:p>
                      <a:r>
                        <a:rPr sz="1400" b="0">
                          <a:solidFill>
                            <a:srgbClr val="1B2A41"/>
                          </a:solidFill>
                          <a:latin typeface="Arial"/>
                        </a:rPr>
                        <a:t>Question node; wait for the learner's choice</a:t>
                      </a:r>
                    </a:p>
                  </a:txBody>
                  <a:tcPr marR="73152" marT="36576" marB="36576" anchor="ctr">
                    <a:solidFill>
                      <a:srgbClr val="EEF1F4"/>
                    </a:solidFill>
                  </a:tcPr>
                </a:tc>
                <a:extLst>
                  <a:ext uri="{0D108BD9-81ED-4DB2-BD59-A6C34878D82A}">
                    <a16:rowId xmlns:a16="http://schemas.microsoft.com/office/drawing/2014/main" val="10002"/>
                  </a:ext>
                </a:extLst>
              </a:tr>
              <a:tr h="745236">
                <a:tc>
                  <a:txBody>
                    <a:bodyPr/>
                    <a:lstStyle/>
                    <a:p>
                      <a:r>
                        <a:rPr sz="1400" b="1">
                          <a:solidFill>
                            <a:srgbClr val="1B2A41"/>
                          </a:solidFill>
                          <a:latin typeface="Arial"/>
                        </a:rPr>
                        <a:t>A required value is missing</a:t>
                      </a:r>
                    </a:p>
                  </a:txBody>
                  <a:tcPr marR="73152" marT="36576" marB="36576" anchor="ctr">
                    <a:solidFill>
                      <a:srgbClr val="FFFFFF"/>
                    </a:solidFill>
                  </a:tcPr>
                </a:tc>
                <a:tc>
                  <a:txBody>
                    <a:bodyPr/>
                    <a:lstStyle/>
                    <a:p>
                      <a:r>
                        <a:rPr sz="1400" b="0">
                          <a:solidFill>
                            <a:srgbClr val="1B2A41"/>
                          </a:solidFill>
                          <a:latin typeface="Arial"/>
                        </a:rPr>
                        <a:t>Prompt for it; do not guess</a:t>
                      </a:r>
                    </a:p>
                  </a:txBody>
                  <a:tcPr marR="73152" marT="36576" marB="36576" anchor="ctr">
                    <a:solidFill>
                      <a:srgbClr val="FFFFFF"/>
                    </a:solidFill>
                  </a:tcPr>
                </a:tc>
                <a:extLst>
                  <a:ext uri="{0D108BD9-81ED-4DB2-BD59-A6C34878D82A}">
                    <a16:rowId xmlns:a16="http://schemas.microsoft.com/office/drawing/2014/main" val="10003"/>
                  </a:ext>
                </a:extLst>
              </a:tr>
              <a:tr h="745236">
                <a:tc>
                  <a:txBody>
                    <a:bodyPr/>
                    <a:lstStyle/>
                    <a:p>
                      <a:r>
                        <a:rPr sz="1400" b="1">
                          <a:solidFill>
                            <a:srgbClr val="1B2A41"/>
                          </a:solidFill>
                          <a:latin typeface="Arial"/>
                        </a:rPr>
                        <a:t>An answer does not match</a:t>
                      </a:r>
                    </a:p>
                  </a:txBody>
                  <a:tcPr marR="73152" marT="36576" marB="36576" anchor="ctr">
                    <a:solidFill>
                      <a:srgbClr val="EEF1F4"/>
                    </a:solidFill>
                  </a:tcPr>
                </a:tc>
                <a:tc>
                  <a:txBody>
                    <a:bodyPr/>
                    <a:lstStyle/>
                    <a:p>
                      <a:r>
                        <a:rPr sz="1400" b="0">
                          <a:solidFill>
                            <a:srgbClr val="1B2A41"/>
                          </a:solidFill>
                          <a:latin typeface="Arial"/>
                        </a:rPr>
                        <a:t>One reprompt, then a truthful recovery</a:t>
                      </a:r>
                    </a:p>
                  </a:txBody>
                  <a:tcPr marR="73152" marT="36576" marB="36576" anchor="ctr">
                    <a:solidFill>
                      <a:srgbClr val="EEF1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A useful failure response</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900" b="0">
                <a:latin typeface="Arial"/>
              </a:rPr>
              <a:t>Unsupported: "I don't have your exam appointment."</a:t>
            </a:r>
          </a:p>
          <a:p>
            <a:pPr>
              <a:spcAft>
                <a:spcPts val="800"/>
              </a:spcAft>
            </a:pPr>
            <a:r>
              <a:rPr sz="1900" b="0">
                <a:latin typeface="Arial"/>
              </a:rPr>
              <a:t>Recovery: "Check your booking confirmation."</a:t>
            </a:r>
          </a:p>
          <a:p>
            <a:pPr>
              <a:spcAft>
                <a:spcPts val="800"/>
              </a:spcAft>
            </a:pPr>
            <a:r>
              <a:rPr sz="1900" b="0">
                <a:latin typeface="Arial"/>
              </a:rPr>
              <a:t>Human boundary: "I can't contact a mentor from here."</a:t>
            </a:r>
          </a:p>
          <a:p>
            <a:pPr>
              <a:spcAft>
                <a:spcPts val="800"/>
              </a:spcAft>
            </a:pPr>
            <a:r>
              <a:rPr sz="1900" b="0">
                <a:latin typeface="Arial"/>
              </a:rPr>
              <a:t>Every refusal names a route the learner can actually take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What retrieval grounding is for</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learn.microsoft.com/microsoft-copilot-studio/guidance/retrieval-augmented-generation</a:t>
            </a:r>
          </a:p>
        </p:txBody>
      </p:sp>
      <p:graphicFrame>
        <p:nvGraphicFramePr>
          <p:cNvPr id="5" name="Table 4"/>
          <p:cNvGraphicFramePr>
            <a:graphicFrameLocks noGrp="1"/>
          </p:cNvGraphicFramePr>
          <p:nvPr/>
        </p:nvGraphicFramePr>
        <p:xfrm>
          <a:off x="502920" y="1335024"/>
          <a:ext cx="8138160" cy="3346704"/>
        </p:xfrm>
        <a:graphic>
          <a:graphicData uri="http://schemas.openxmlformats.org/drawingml/2006/table">
            <a:tbl>
              <a:tblPr>
                <a:tableStyleId>{2D5ABB26-0587-4C30-8999-92F81FD0307C}</a:tableStyleId>
              </a:tblPr>
              <a:tblGrid>
                <a:gridCol w="4069080">
                  <a:extLst>
                    <a:ext uri="{9D8B030D-6E8A-4147-A177-3AD203B41FA5}">
                      <a16:colId xmlns:a16="http://schemas.microsoft.com/office/drawing/2014/main" val="20000"/>
                    </a:ext>
                  </a:extLst>
                </a:gridCol>
                <a:gridCol w="4069080">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Fits</a:t>
                      </a:r>
                    </a:p>
                  </a:txBody>
                  <a:tcPr marR="73152" marT="36576" marB="36576" anchor="ctr">
                    <a:solidFill>
                      <a:srgbClr val="1B2A41"/>
                    </a:solidFill>
                  </a:tcPr>
                </a:tc>
                <a:tc>
                  <a:txBody>
                    <a:bodyPr/>
                    <a:lstStyle/>
                    <a:p>
                      <a:r>
                        <a:rPr sz="1400" b="1">
                          <a:solidFill>
                            <a:srgbClr val="FFFFFF"/>
                          </a:solidFill>
                          <a:latin typeface="Arial"/>
                        </a:rPr>
                        <a:t>Does not fit</a:t>
                      </a:r>
                    </a:p>
                  </a:txBody>
                  <a:tcPr marR="73152" marT="36576" marB="36576" anchor="ctr">
                    <a:solidFill>
                      <a:srgbClr val="1B2A41"/>
                    </a:solidFill>
                  </a:tcPr>
                </a:tc>
                <a:extLst>
                  <a:ext uri="{0D108BD9-81ED-4DB2-BD59-A6C34878D82A}">
                    <a16:rowId xmlns:a16="http://schemas.microsoft.com/office/drawing/2014/main" val="10000"/>
                  </a:ext>
                </a:extLst>
              </a:tr>
              <a:tr h="993648">
                <a:tc>
                  <a:txBody>
                    <a:bodyPr/>
                    <a:lstStyle/>
                    <a:p>
                      <a:r>
                        <a:rPr sz="1400" b="1">
                          <a:solidFill>
                            <a:srgbClr val="1B2A41"/>
                          </a:solidFill>
                          <a:latin typeface="Arial"/>
                        </a:rPr>
                        <a:t>Answering questions from a knowledge base</a:t>
                      </a:r>
                    </a:p>
                  </a:txBody>
                  <a:tcPr marR="73152" marT="36576" marB="36576" anchor="ctr">
                    <a:solidFill>
                      <a:srgbClr val="FFFFFF"/>
                    </a:solidFill>
                  </a:tcPr>
                </a:tc>
                <a:tc>
                  <a:txBody>
                    <a:bodyPr/>
                    <a:lstStyle/>
                    <a:p>
                      <a:r>
                        <a:rPr sz="1400" b="0">
                          <a:solidFill>
                            <a:srgbClr val="1B2A41"/>
                          </a:solidFill>
                          <a:latin typeface="Arial"/>
                        </a:rPr>
                        <a:t>Full document comparison</a:t>
                      </a:r>
                    </a:p>
                  </a:txBody>
                  <a:tcPr marR="73152" marT="36576" marB="36576" anchor="ctr">
                    <a:solidFill>
                      <a:srgbClr val="FFFFFF"/>
                    </a:solidFill>
                  </a:tcPr>
                </a:tc>
                <a:extLst>
                  <a:ext uri="{0D108BD9-81ED-4DB2-BD59-A6C34878D82A}">
                    <a16:rowId xmlns:a16="http://schemas.microsoft.com/office/drawing/2014/main" val="10001"/>
                  </a:ext>
                </a:extLst>
              </a:tr>
              <a:tr h="993648">
                <a:tc>
                  <a:txBody>
                    <a:bodyPr/>
                    <a:lstStyle/>
                    <a:p>
                      <a:r>
                        <a:rPr sz="1400" b="1">
                          <a:solidFill>
                            <a:srgbClr val="1B2A41"/>
                          </a:solidFill>
                          <a:latin typeface="Arial"/>
                        </a:rPr>
                        <a:t>Summarizing policies, FAQs, procedures</a:t>
                      </a:r>
                    </a:p>
                  </a:txBody>
                  <a:tcPr marR="73152" marT="36576" marB="36576" anchor="ctr">
                    <a:solidFill>
                      <a:srgbClr val="EEF1F4"/>
                    </a:solidFill>
                  </a:tcPr>
                </a:tc>
                <a:tc>
                  <a:txBody>
                    <a:bodyPr/>
                    <a:lstStyle/>
                    <a:p>
                      <a:r>
                        <a:rPr sz="1400" b="0">
                          <a:solidFill>
                            <a:srgbClr val="1B2A41"/>
                          </a:solidFill>
                          <a:latin typeface="Arial"/>
                        </a:rPr>
                        <a:t>Policy compliance evaluation</a:t>
                      </a:r>
                    </a:p>
                  </a:txBody>
                  <a:tcPr marR="73152" marT="36576" marB="36576" anchor="ctr">
                    <a:solidFill>
                      <a:srgbClr val="EEF1F4"/>
                    </a:solidFill>
                  </a:tcPr>
                </a:tc>
                <a:extLst>
                  <a:ext uri="{0D108BD9-81ED-4DB2-BD59-A6C34878D82A}">
                    <a16:rowId xmlns:a16="http://schemas.microsoft.com/office/drawing/2014/main" val="10002"/>
                  </a:ext>
                </a:extLst>
              </a:tr>
              <a:tr h="993648">
                <a:tc>
                  <a:txBody>
                    <a:bodyPr/>
                    <a:lstStyle/>
                    <a:p>
                      <a:r>
                        <a:rPr sz="1400" b="1">
                          <a:solidFill>
                            <a:srgbClr val="1B2A41"/>
                          </a:solidFill>
                          <a:latin typeface="Arial"/>
                        </a:rPr>
                        <a:t>Retrieving specific facts from files or systems</a:t>
                      </a:r>
                    </a:p>
                  </a:txBody>
                  <a:tcPr marR="73152" marT="36576" marB="36576" anchor="ctr">
                    <a:solidFill>
                      <a:srgbClr val="FFFFFF"/>
                    </a:solidFill>
                  </a:tcPr>
                </a:tc>
                <a:tc>
                  <a:txBody>
                    <a:bodyPr/>
                    <a:lstStyle/>
                    <a:p>
                      <a:r>
                        <a:rPr sz="1400" b="0">
                          <a:solidFill>
                            <a:srgbClr val="1B2A41"/>
                          </a:solidFill>
                          <a:latin typeface="Arial"/>
                        </a:rPr>
                        <a:t>Complex reasoning over long unstructured documents</a:t>
                      </a:r>
                    </a:p>
                  </a:txBody>
                  <a:tcPr marR="73152" marT="36576" marB="36576"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1783080"/>
            <a:ext cx="8129016" cy="1554480"/>
          </a:xfrm>
        </p:spPr>
        <p:txBody>
          <a:bodyPr wrap="square"/>
          <a:lstStyle/>
          <a:p>
            <a:r>
              <a:rPr sz="3000" b="1">
                <a:latin typeface="Arial"/>
              </a:rPr>
              <a:t>10-minute break</a:t>
            </a:r>
          </a:p>
          <a:p>
            <a:r>
              <a:rPr sz="2200" b="1">
                <a:latin typeface="Arial"/>
              </a:rPr>
              <a:t>Return at 11:00 AM Central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1783080"/>
            <a:ext cx="8129016" cy="1554480"/>
          </a:xfrm>
        </p:spPr>
        <p:txBody>
          <a:bodyPr wrap="square"/>
          <a:lstStyle/>
          <a:p>
            <a:r>
              <a:rPr sz="3000" b="1">
                <a:latin typeface="Arial"/>
              </a:rPr>
              <a:t>Segment 3</a:t>
            </a:r>
          </a:p>
          <a:p>
            <a:r>
              <a:rPr sz="2200" b="1">
                <a:latin typeface="Arial"/>
              </a:rPr>
              <a:t>Extend: actions, MCP, and handoff</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The tool shelf</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learn.microsoft.com/microsoft-copilot-studio/guidance/agent-tools</a:t>
            </a:r>
          </a:p>
        </p:txBody>
      </p:sp>
      <p:graphicFrame>
        <p:nvGraphicFramePr>
          <p:cNvPr id="5" name="Table 4"/>
          <p:cNvGraphicFramePr>
            <a:graphicFrameLocks noGrp="1"/>
          </p:cNvGraphicFramePr>
          <p:nvPr/>
        </p:nvGraphicFramePr>
        <p:xfrm>
          <a:off x="502920" y="1335024"/>
          <a:ext cx="8138159" cy="3346704"/>
        </p:xfrm>
        <a:graphic>
          <a:graphicData uri="http://schemas.openxmlformats.org/drawingml/2006/table">
            <a:tbl>
              <a:tblPr>
                <a:tableStyleId>{2D5ABB26-0587-4C30-8999-92F81FD0307C}</a:tableStyleId>
              </a:tblPr>
              <a:tblGrid>
                <a:gridCol w="2115921">
                  <a:extLst>
                    <a:ext uri="{9D8B030D-6E8A-4147-A177-3AD203B41FA5}">
                      <a16:colId xmlns:a16="http://schemas.microsoft.com/office/drawing/2014/main" val="20000"/>
                    </a:ext>
                  </a:extLst>
                </a:gridCol>
                <a:gridCol w="6022238">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Mechanism</a:t>
                      </a:r>
                    </a:p>
                  </a:txBody>
                  <a:tcPr marR="73152" marT="36576" marB="36576" anchor="ctr">
                    <a:solidFill>
                      <a:srgbClr val="1B2A41"/>
                    </a:solidFill>
                  </a:tcPr>
                </a:tc>
                <a:tc>
                  <a:txBody>
                    <a:bodyPr/>
                    <a:lstStyle/>
                    <a:p>
                      <a:r>
                        <a:rPr sz="1400" b="1">
                          <a:solidFill>
                            <a:srgbClr val="FFFFFF"/>
                          </a:solidFill>
                          <a:latin typeface="Arial"/>
                        </a:rPr>
                        <a:t>Reach for it when</a:t>
                      </a:r>
                    </a:p>
                  </a:txBody>
                  <a:tcPr marR="73152" marT="36576" marB="36576" anchor="ctr">
                    <a:solidFill>
                      <a:srgbClr val="1B2A41"/>
                    </a:solidFill>
                  </a:tcPr>
                </a:tc>
                <a:extLst>
                  <a:ext uri="{0D108BD9-81ED-4DB2-BD59-A6C34878D82A}">
                    <a16:rowId xmlns:a16="http://schemas.microsoft.com/office/drawing/2014/main" val="10000"/>
                  </a:ext>
                </a:extLst>
              </a:tr>
              <a:tr h="496824">
                <a:tc>
                  <a:txBody>
                    <a:bodyPr/>
                    <a:lstStyle/>
                    <a:p>
                      <a:r>
                        <a:rPr sz="1300" b="1">
                          <a:solidFill>
                            <a:srgbClr val="1B2A41"/>
                          </a:solidFill>
                          <a:latin typeface="Arial"/>
                        </a:rPr>
                        <a:t>Connector action</a:t>
                      </a:r>
                    </a:p>
                  </a:txBody>
                  <a:tcPr marR="73152" marT="36576" marB="36576" anchor="ctr">
                    <a:solidFill>
                      <a:srgbClr val="FFFFFF"/>
                    </a:solidFill>
                  </a:tcPr>
                </a:tc>
                <a:tc>
                  <a:txBody>
                    <a:bodyPr/>
                    <a:lstStyle/>
                    <a:p>
                      <a:r>
                        <a:rPr sz="1300" b="0">
                          <a:solidFill>
                            <a:srgbClr val="1B2A41"/>
                          </a:solidFill>
                          <a:latin typeface="Arial"/>
                        </a:rPr>
                        <a:t>A prebuilt action already covers the operation</a:t>
                      </a:r>
                    </a:p>
                  </a:txBody>
                  <a:tcPr marR="73152" marT="36576" marB="36576" anchor="ctr">
                    <a:solidFill>
                      <a:srgbClr val="FFFFFF"/>
                    </a:solidFill>
                  </a:tcPr>
                </a:tc>
                <a:extLst>
                  <a:ext uri="{0D108BD9-81ED-4DB2-BD59-A6C34878D82A}">
                    <a16:rowId xmlns:a16="http://schemas.microsoft.com/office/drawing/2014/main" val="10001"/>
                  </a:ext>
                </a:extLst>
              </a:tr>
              <a:tr h="496824">
                <a:tc>
                  <a:txBody>
                    <a:bodyPr/>
                    <a:lstStyle/>
                    <a:p>
                      <a:r>
                        <a:rPr sz="1300" b="1">
                          <a:solidFill>
                            <a:srgbClr val="1B2A41"/>
                          </a:solidFill>
                          <a:latin typeface="Arial"/>
                        </a:rPr>
                        <a:t>Agent flow</a:t>
                      </a:r>
                    </a:p>
                  </a:txBody>
                  <a:tcPr marR="73152" marT="36576" marB="36576" anchor="ctr">
                    <a:solidFill>
                      <a:srgbClr val="EEF1F4"/>
                    </a:solidFill>
                  </a:tcPr>
                </a:tc>
                <a:tc>
                  <a:txBody>
                    <a:bodyPr/>
                    <a:lstStyle/>
                    <a:p>
                      <a:r>
                        <a:rPr sz="1300" b="0">
                          <a:solidFill>
                            <a:srgbClr val="1B2A41"/>
                          </a:solidFill>
                          <a:latin typeface="Arial"/>
                        </a:rPr>
                        <a:t>You need deterministic steps, throughput, or a human review step</a:t>
                      </a:r>
                    </a:p>
                  </a:txBody>
                  <a:tcPr marR="73152" marT="36576" marB="36576" anchor="ctr">
                    <a:solidFill>
                      <a:srgbClr val="EEF1F4"/>
                    </a:solidFill>
                  </a:tcPr>
                </a:tc>
                <a:extLst>
                  <a:ext uri="{0D108BD9-81ED-4DB2-BD59-A6C34878D82A}">
                    <a16:rowId xmlns:a16="http://schemas.microsoft.com/office/drawing/2014/main" val="10002"/>
                  </a:ext>
                </a:extLst>
              </a:tr>
              <a:tr h="496824">
                <a:tc>
                  <a:txBody>
                    <a:bodyPr/>
                    <a:lstStyle/>
                    <a:p>
                      <a:r>
                        <a:rPr sz="1300" b="1">
                          <a:solidFill>
                            <a:srgbClr val="1B2A41"/>
                          </a:solidFill>
                          <a:latin typeface="Arial"/>
                        </a:rPr>
                        <a:t>HTTP request</a:t>
                      </a:r>
                    </a:p>
                  </a:txBody>
                  <a:tcPr marR="73152" marT="36576" marB="36576" anchor="ctr">
                    <a:solidFill>
                      <a:srgbClr val="FFFFFF"/>
                    </a:solidFill>
                  </a:tcPr>
                </a:tc>
                <a:tc>
                  <a:txBody>
                    <a:bodyPr/>
                    <a:lstStyle/>
                    <a:p>
                      <a:r>
                        <a:rPr sz="1300" b="0">
                          <a:solidFill>
                            <a:srgbClr val="1B2A41"/>
                          </a:solidFill>
                          <a:latin typeface="Arial"/>
                        </a:rPr>
                        <a:t>A one-off endpoint with no connector, used by a single agent</a:t>
                      </a:r>
                    </a:p>
                  </a:txBody>
                  <a:tcPr marR="73152" marT="36576" marB="36576" anchor="ctr">
                    <a:solidFill>
                      <a:srgbClr val="FFFFFF"/>
                    </a:solidFill>
                  </a:tcPr>
                </a:tc>
                <a:extLst>
                  <a:ext uri="{0D108BD9-81ED-4DB2-BD59-A6C34878D82A}">
                    <a16:rowId xmlns:a16="http://schemas.microsoft.com/office/drawing/2014/main" val="10003"/>
                  </a:ext>
                </a:extLst>
              </a:tr>
              <a:tr h="496824">
                <a:tc>
                  <a:txBody>
                    <a:bodyPr/>
                    <a:lstStyle/>
                    <a:p>
                      <a:r>
                        <a:rPr sz="1300" b="1">
                          <a:solidFill>
                            <a:srgbClr val="1B2A41"/>
                          </a:solidFill>
                          <a:latin typeface="Arial"/>
                        </a:rPr>
                        <a:t>MCP server</a:t>
                      </a:r>
                    </a:p>
                  </a:txBody>
                  <a:tcPr marR="73152" marT="36576" marB="36576" anchor="ctr">
                    <a:solidFill>
                      <a:srgbClr val="EEF1F4"/>
                    </a:solidFill>
                  </a:tcPr>
                </a:tc>
                <a:tc>
                  <a:txBody>
                    <a:bodyPr/>
                    <a:lstStyle/>
                    <a:p>
                      <a:r>
                        <a:rPr sz="1300" b="0">
                          <a:solidFill>
                            <a:srgbClr val="1B2A41"/>
                          </a:solidFill>
                          <a:latin typeface="Arial"/>
                        </a:rPr>
                        <a:t>Several agents need the same tools, or the upstream API changes often</a:t>
                      </a:r>
                    </a:p>
                  </a:txBody>
                  <a:tcPr marR="73152" marT="36576" marB="36576" anchor="ctr">
                    <a:solidFill>
                      <a:srgbClr val="EEF1F4"/>
                    </a:solidFill>
                  </a:tcPr>
                </a:tc>
                <a:extLst>
                  <a:ext uri="{0D108BD9-81ED-4DB2-BD59-A6C34878D82A}">
                    <a16:rowId xmlns:a16="http://schemas.microsoft.com/office/drawing/2014/main" val="10004"/>
                  </a:ext>
                </a:extLst>
              </a:tr>
              <a:tr h="496824">
                <a:tc>
                  <a:txBody>
                    <a:bodyPr/>
                    <a:lstStyle/>
                    <a:p>
                      <a:r>
                        <a:rPr sz="1300" b="1">
                          <a:solidFill>
                            <a:srgbClr val="1B2A41"/>
                          </a:solidFill>
                          <a:latin typeface="Arial"/>
                        </a:rPr>
                        <a:t>AI prompt</a:t>
                      </a:r>
                    </a:p>
                  </a:txBody>
                  <a:tcPr marR="73152" marT="36576" marB="36576" anchor="ctr">
                    <a:solidFill>
                      <a:srgbClr val="FFFFFF"/>
                    </a:solidFill>
                  </a:tcPr>
                </a:tc>
                <a:tc>
                  <a:txBody>
                    <a:bodyPr/>
                    <a:lstStyle/>
                    <a:p>
                      <a:r>
                        <a:rPr sz="1300" b="0">
                          <a:solidFill>
                            <a:srgbClr val="1B2A41"/>
                          </a:solidFill>
                          <a:latin typeface="Arial"/>
                        </a:rPr>
                        <a:t>You need model choice, structured output, or file input</a:t>
                      </a:r>
                    </a:p>
                  </a:txBody>
                  <a:tcPr marR="73152" marT="36576" marB="36576" anchor="ctr">
                    <a:solidFill>
                      <a:srgbClr val="FFFFFF"/>
                    </a:solidFill>
                  </a:tcPr>
                </a:tc>
                <a:extLst>
                  <a:ext uri="{0D108BD9-81ED-4DB2-BD59-A6C34878D82A}">
                    <a16:rowId xmlns:a16="http://schemas.microsoft.com/office/drawing/2014/main" val="10005"/>
                  </a:ext>
                </a:extLst>
              </a:tr>
              <a:tr h="496824">
                <a:tc>
                  <a:txBody>
                    <a:bodyPr/>
                    <a:lstStyle/>
                    <a:p>
                      <a:r>
                        <a:rPr sz="1300" b="1">
                          <a:solidFill>
                            <a:srgbClr val="1B2A41"/>
                          </a:solidFill>
                          <a:latin typeface="Arial"/>
                        </a:rPr>
                        <a:t>Computer use</a:t>
                      </a:r>
                    </a:p>
                  </a:txBody>
                  <a:tcPr marR="73152" marT="36576" marB="36576" anchor="ctr">
                    <a:solidFill>
                      <a:srgbClr val="EEF1F4"/>
                    </a:solidFill>
                  </a:tcPr>
                </a:tc>
                <a:tc>
                  <a:txBody>
                    <a:bodyPr/>
                    <a:lstStyle/>
                    <a:p>
                      <a:r>
                        <a:rPr sz="1300" b="0">
                          <a:solidFill>
                            <a:srgbClr val="1B2A41"/>
                          </a:solidFill>
                          <a:latin typeface="Arial"/>
                        </a:rPr>
                        <a:t>No API exists and the work only happens in a user interface</a:t>
                      </a:r>
                    </a:p>
                  </a:txBody>
                  <a:tcPr marR="73152" marT="36576" marB="36576" anchor="ctr">
                    <a:solidFill>
                      <a:srgbClr val="EEF1F4"/>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The next action</a:t>
            </a:r>
          </a:p>
        </p:txBody>
      </p:sp>
      <p:graphicFrame>
        <p:nvGraphicFramePr>
          <p:cNvPr id="3" name="Table 2"/>
          <p:cNvGraphicFramePr>
            <a:graphicFrameLocks noGrp="1"/>
          </p:cNvGraphicFramePr>
          <p:nvPr/>
        </p:nvGraphicFramePr>
        <p:xfrm>
          <a:off x="502920" y="1335024"/>
          <a:ext cx="8138160" cy="3346704"/>
        </p:xfrm>
        <a:graphic>
          <a:graphicData uri="http://schemas.openxmlformats.org/drawingml/2006/table">
            <a:tbl>
              <a:tblPr>
                <a:tableStyleId>{2D5ABB26-0587-4C30-8999-92F81FD0307C}</a:tableStyleId>
              </a:tblPr>
              <a:tblGrid>
                <a:gridCol w="4069080">
                  <a:extLst>
                    <a:ext uri="{9D8B030D-6E8A-4147-A177-3AD203B41FA5}">
                      <a16:colId xmlns:a16="http://schemas.microsoft.com/office/drawing/2014/main" val="20000"/>
                    </a:ext>
                  </a:extLst>
                </a:gridCol>
                <a:gridCol w="4069080">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User request</a:t>
                      </a:r>
                    </a:p>
                  </a:txBody>
                  <a:tcPr marR="73152" marT="36576" marB="36576" anchor="ctr">
                    <a:solidFill>
                      <a:srgbClr val="1B2A41"/>
                    </a:solidFill>
                  </a:tcPr>
                </a:tc>
                <a:tc>
                  <a:txBody>
                    <a:bodyPr/>
                    <a:lstStyle/>
                    <a:p>
                      <a:r>
                        <a:rPr sz="1400" b="1">
                          <a:solidFill>
                            <a:srgbClr val="FFFFFF"/>
                          </a:solidFill>
                          <a:latin typeface="Arial"/>
                        </a:rPr>
                        <a:t>Appropriate next step</a:t>
                      </a:r>
                    </a:p>
                  </a:txBody>
                  <a:tcPr marR="73152" marT="36576" marB="36576" anchor="ctr">
                    <a:solidFill>
                      <a:srgbClr val="1B2A41"/>
                    </a:solidFill>
                  </a:tcPr>
                </a:tc>
                <a:extLst>
                  <a:ext uri="{0D108BD9-81ED-4DB2-BD59-A6C34878D82A}">
                    <a16:rowId xmlns:a16="http://schemas.microsoft.com/office/drawing/2014/main" val="10000"/>
                  </a:ext>
                </a:extLst>
              </a:tr>
              <a:tr h="745236">
                <a:tc>
                  <a:txBody>
                    <a:bodyPr/>
                    <a:lstStyle/>
                    <a:p>
                      <a:r>
                        <a:rPr sz="1400" b="1">
                          <a:solidFill>
                            <a:srgbClr val="1B2A41"/>
                          </a:solidFill>
                          <a:latin typeface="Arial"/>
                        </a:rPr>
                        <a:t>Explain a responsible AI principle</a:t>
                      </a:r>
                    </a:p>
                  </a:txBody>
                  <a:tcPr marR="73152" marT="36576" marB="36576" anchor="ctr">
                    <a:solidFill>
                      <a:srgbClr val="FFFFFF"/>
                    </a:solidFill>
                  </a:tcPr>
                </a:tc>
                <a:tc>
                  <a:txBody>
                    <a:bodyPr/>
                    <a:lstStyle/>
                    <a:p>
                      <a:r>
                        <a:rPr sz="1400" b="0">
                          <a:solidFill>
                            <a:srgbClr val="1B2A41"/>
                          </a:solidFill>
                          <a:latin typeface="Arial"/>
                        </a:rPr>
                        <a:t>Answer using knowledge</a:t>
                      </a:r>
                    </a:p>
                  </a:txBody>
                  <a:tcPr marR="73152" marT="36576" marB="36576" anchor="ctr">
                    <a:solidFill>
                      <a:srgbClr val="FFFFFF"/>
                    </a:solidFill>
                  </a:tcPr>
                </a:tc>
                <a:extLst>
                  <a:ext uri="{0D108BD9-81ED-4DB2-BD59-A6C34878D82A}">
                    <a16:rowId xmlns:a16="http://schemas.microsoft.com/office/drawing/2014/main" val="10001"/>
                  </a:ext>
                </a:extLst>
              </a:tr>
              <a:tr h="745236">
                <a:tc>
                  <a:txBody>
                    <a:bodyPr/>
                    <a:lstStyle/>
                    <a:p>
                      <a:r>
                        <a:rPr sz="1400" b="1">
                          <a:solidFill>
                            <a:srgbClr val="1B2A41"/>
                          </a:solidFill>
                          <a:latin typeface="Arial"/>
                        </a:rPr>
                        <a:t>Give me a study session; focus unspecified</a:t>
                      </a:r>
                    </a:p>
                  </a:txBody>
                  <a:tcPr marR="73152" marT="36576" marB="36576" anchor="ctr">
                    <a:solidFill>
                      <a:srgbClr val="EEF1F4"/>
                    </a:solidFill>
                  </a:tcPr>
                </a:tc>
                <a:tc>
                  <a:txBody>
                    <a:bodyPr/>
                    <a:lstStyle/>
                    <a:p>
                      <a:r>
                        <a:rPr sz="1400" b="0">
                          <a:solidFill>
                            <a:srgbClr val="1B2A41"/>
                          </a:solidFill>
                          <a:latin typeface="Arial"/>
                        </a:rPr>
                        <a:t>Clarify the focus</a:t>
                      </a:r>
                    </a:p>
                  </a:txBody>
                  <a:tcPr marR="73152" marT="36576" marB="36576" anchor="ctr">
                    <a:solidFill>
                      <a:srgbClr val="EEF1F4"/>
                    </a:solidFill>
                  </a:tcPr>
                </a:tc>
                <a:extLst>
                  <a:ext uri="{0D108BD9-81ED-4DB2-BD59-A6C34878D82A}">
                    <a16:rowId xmlns:a16="http://schemas.microsoft.com/office/drawing/2014/main" val="10002"/>
                  </a:ext>
                </a:extLst>
              </a:tr>
              <a:tr h="745236">
                <a:tc>
                  <a:txBody>
                    <a:bodyPr/>
                    <a:lstStyle/>
                    <a:p>
                      <a:r>
                        <a:rPr sz="1400" b="1">
                          <a:solidFill>
                            <a:srgbClr val="1B2A41"/>
                          </a:solidFill>
                          <a:latin typeface="Arial"/>
                        </a:rPr>
                        <a:t>Give me the responsible-ai study session</a:t>
                      </a:r>
                    </a:p>
                  </a:txBody>
                  <a:tcPr marR="73152" marT="36576" marB="36576" anchor="ctr">
                    <a:solidFill>
                      <a:srgbClr val="FFFFFF"/>
                    </a:solidFill>
                  </a:tcPr>
                </a:tc>
                <a:tc>
                  <a:txBody>
                    <a:bodyPr/>
                    <a:lstStyle/>
                    <a:p>
                      <a:r>
                        <a:rPr sz="1400" b="0">
                          <a:solidFill>
                            <a:srgbClr val="1B2A41"/>
                          </a:solidFill>
                          <a:latin typeface="Arial"/>
                        </a:rPr>
                        <a:t>Call GetStudySession</a:t>
                      </a:r>
                    </a:p>
                  </a:txBody>
                  <a:tcPr marR="73152" marT="36576" marB="36576" anchor="ctr">
                    <a:solidFill>
                      <a:srgbClr val="FFFFFF"/>
                    </a:solidFill>
                  </a:tcPr>
                </a:tc>
                <a:extLst>
                  <a:ext uri="{0D108BD9-81ED-4DB2-BD59-A6C34878D82A}">
                    <a16:rowId xmlns:a16="http://schemas.microsoft.com/office/drawing/2014/main" val="10003"/>
                  </a:ext>
                </a:extLst>
              </a:tr>
              <a:tr h="745236">
                <a:tc>
                  <a:txBody>
                    <a:bodyPr/>
                    <a:lstStyle/>
                    <a:p>
                      <a:r>
                        <a:rPr sz="1400" b="1">
                          <a:solidFill>
                            <a:srgbClr val="1B2A41"/>
                          </a:solidFill>
                          <a:latin typeface="Arial"/>
                        </a:rPr>
                        <a:t>Book my exam or decide an accommodation</a:t>
                      </a:r>
                    </a:p>
                  </a:txBody>
                  <a:tcPr marR="73152" marT="36576" marB="36576" anchor="ctr">
                    <a:solidFill>
                      <a:srgbClr val="EEF1F4"/>
                    </a:solidFill>
                  </a:tcPr>
                </a:tc>
                <a:tc>
                  <a:txBody>
                    <a:bodyPr/>
                    <a:lstStyle/>
                    <a:p>
                      <a:r>
                        <a:rPr sz="1400" b="0">
                          <a:solidFill>
                            <a:srgbClr val="1B2A41"/>
                          </a:solidFill>
                          <a:latin typeface="Arial"/>
                        </a:rPr>
                        <a:t>Refer to an authorized human or service</a:t>
                      </a:r>
                    </a:p>
                  </a:txBody>
                  <a:tcPr marR="73152" marT="36576" marB="36576" anchor="ctr">
                    <a:solidFill>
                      <a:srgbClr val="EEF1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GetStudySession: the contract</a:t>
            </a:r>
          </a:p>
        </p:txBody>
      </p:sp>
      <p:sp>
        <p:nvSpPr>
          <p:cNvPr id="3" name="Rounded Rectangle 2"/>
          <p:cNvSpPr/>
          <p:nvPr/>
        </p:nvSpPr>
        <p:spPr>
          <a:xfrm>
            <a:off x="502920" y="1645920"/>
            <a:ext cx="2148840" cy="868680"/>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1B2A41"/>
                </a:solidFill>
                <a:latin typeface="Arial"/>
              </a:rPr>
              <a:t>Input</a:t>
            </a:r>
          </a:p>
          <a:p>
            <a:pPr algn="ctr"/>
            <a:r>
              <a:rPr sz="1200" b="0">
                <a:solidFill>
                  <a:srgbClr val="1B2A41"/>
                </a:solidFill>
                <a:latin typeface="Arial"/>
              </a:rPr>
              <a:t>focus  (Text)</a:t>
            </a:r>
          </a:p>
        </p:txBody>
      </p:sp>
      <p:sp>
        <p:nvSpPr>
          <p:cNvPr id="4" name="Right Arrow 3"/>
          <p:cNvSpPr/>
          <p:nvPr/>
        </p:nvSpPr>
        <p:spPr>
          <a:xfrm>
            <a:off x="2743200" y="2002536"/>
            <a:ext cx="384048"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18688" y="1554480"/>
            <a:ext cx="2377440" cy="1051560"/>
          </a:xfrm>
          <a:prstGeom prst="roundRect">
            <a:avLst/>
          </a:prstGeom>
          <a:solidFill>
            <a:srgbClr val="1B2A41"/>
          </a:solidFill>
          <a:ln w="15875">
            <a:solidFill>
              <a:srgbClr val="1B2A41"/>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FFFFFF"/>
                </a:solidFill>
                <a:latin typeface="Arial"/>
              </a:rPr>
              <a:t>GetStudySession</a:t>
            </a:r>
          </a:p>
          <a:p>
            <a:pPr algn="ctr"/>
            <a:r>
              <a:rPr sz="1200" b="0">
                <a:solidFill>
                  <a:srgbClr val="FFFFFF"/>
                </a:solidFill>
                <a:latin typeface="Arial"/>
              </a:rPr>
              <a:t>native agent flow</a:t>
            </a:r>
          </a:p>
        </p:txBody>
      </p:sp>
      <p:sp>
        <p:nvSpPr>
          <p:cNvPr id="6" name="Right Arrow 5"/>
          <p:cNvSpPr/>
          <p:nvPr/>
        </p:nvSpPr>
        <p:spPr>
          <a:xfrm>
            <a:off x="5687568" y="2002536"/>
            <a:ext cx="384048"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163056" y="1463040"/>
            <a:ext cx="2478024" cy="566928"/>
          </a:xfrm>
          <a:prstGeom prst="roundRect">
            <a:avLst/>
          </a:prstGeom>
          <a:solidFill>
            <a:srgbClr val="FAEBD8"/>
          </a:solidFill>
          <a:ln w="15875">
            <a:solidFill>
              <a:srgbClr val="B5620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Output  status  (Text)</a:t>
            </a:r>
          </a:p>
        </p:txBody>
      </p:sp>
      <p:sp>
        <p:nvSpPr>
          <p:cNvPr id="8" name="Rounded Rectangle 7"/>
          <p:cNvSpPr/>
          <p:nvPr/>
        </p:nvSpPr>
        <p:spPr>
          <a:xfrm>
            <a:off x="6163056" y="2121408"/>
            <a:ext cx="2478024" cy="566928"/>
          </a:xfrm>
          <a:prstGeom prst="roundRect">
            <a:avLst/>
          </a:prstGeom>
          <a:solidFill>
            <a:srgbClr val="FAEBD8"/>
          </a:solidFill>
          <a:ln w="15875">
            <a:solidFill>
              <a:srgbClr val="B5620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Output  plan  (Text)</a:t>
            </a:r>
          </a:p>
        </p:txBody>
      </p:sp>
      <p:sp>
        <p:nvSpPr>
          <p:cNvPr id="9" name="TextBox 8"/>
          <p:cNvSpPr txBox="1"/>
          <p:nvPr/>
        </p:nvSpPr>
        <p:spPr>
          <a:xfrm>
            <a:off x="502920" y="3017520"/>
            <a:ext cx="8138160" cy="1417320"/>
          </a:xfrm>
          <a:prstGeom prst="rect">
            <a:avLst/>
          </a:prstGeom>
          <a:noFill/>
        </p:spPr>
        <p:txBody>
          <a:bodyPr wrap="square" lIns="18288" tIns="0" rIns="18288" bIns="0">
            <a:spAutoFit/>
          </a:bodyPr>
          <a:lstStyle/>
          <a:p>
            <a:pPr algn="l"/>
            <a:r>
              <a:rPr sz="1300" b="0">
                <a:solidFill>
                  <a:srgbClr val="1B2A41"/>
                </a:solidFill>
                <a:latin typeface="Arial"/>
              </a:rPr>
              <a:t>A tool contract names the input, its type, and whether it is required; then the outputs and the shape of a success value.</a:t>
            </a:r>
          </a:p>
          <a:p>
            <a:pPr algn="l"/>
            <a:r>
              <a:rPr sz="1300" b="0">
                <a:solidFill>
                  <a:srgbClr val="1B2A41"/>
                </a:solidFill>
                <a:latin typeface="Arial"/>
              </a:rPr>
              <a:t>Write it before you build the flow. The planner selects the tool from its name and description, so both are part of the contract.</a:t>
            </a:r>
          </a:p>
          <a:p>
            <a:pPr algn="l"/>
            <a:r>
              <a:rPr sz="1300" b="0">
                <a:solidFill>
                  <a:srgbClr val="1B2A41"/>
                </a:solidFill>
                <a:latin typeface="Arial"/>
              </a:rPr>
              <a:t>Distinguish an unsupported focus value from an unavailable tool. They need different responses.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The flow behind the tool</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learn.microsoft.com/microsoft-copilot-studio/flows-faqs</a:t>
            </a:r>
          </a:p>
        </p:txBody>
      </p:sp>
      <p:sp>
        <p:nvSpPr>
          <p:cNvPr id="5" name="Rounded Rectangle 4"/>
          <p:cNvSpPr/>
          <p:nvPr/>
        </p:nvSpPr>
        <p:spPr>
          <a:xfrm>
            <a:off x="502920" y="1481328"/>
            <a:ext cx="3886200" cy="566928"/>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300" b="1">
                <a:solidFill>
                  <a:srgbClr val="1B2A41"/>
                </a:solidFill>
                <a:latin typeface="Arial"/>
              </a:rPr>
              <a:t>Agent calls the flow</a:t>
            </a:r>
          </a:p>
        </p:txBody>
      </p:sp>
      <p:sp>
        <p:nvSpPr>
          <p:cNvPr id="6" name="Down Arrow 5"/>
          <p:cNvSpPr/>
          <p:nvPr/>
        </p:nvSpPr>
        <p:spPr>
          <a:xfrm>
            <a:off x="2359152" y="2057400"/>
            <a:ext cx="164592" cy="201168"/>
          </a:xfrm>
          <a:prstGeom prst="down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02920" y="2258568"/>
            <a:ext cx="3886200" cy="566928"/>
          </a:xfrm>
          <a:prstGeom prst="roundRect">
            <a:avLst/>
          </a:prstGeom>
          <a:solidFill>
            <a:srgbClr val="EEF1F4"/>
          </a:solidFill>
          <a:ln w="15875">
            <a:solidFill>
              <a:srgbClr val="4A60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300" b="1">
                <a:solidFill>
                  <a:srgbClr val="1B2A41"/>
                </a:solidFill>
                <a:latin typeface="Arial"/>
              </a:rPr>
              <a:t>Initialize status and plan</a:t>
            </a:r>
          </a:p>
        </p:txBody>
      </p:sp>
      <p:sp>
        <p:nvSpPr>
          <p:cNvPr id="8" name="Down Arrow 7"/>
          <p:cNvSpPr/>
          <p:nvPr/>
        </p:nvSpPr>
        <p:spPr>
          <a:xfrm>
            <a:off x="2359152" y="2834640"/>
            <a:ext cx="164592" cy="201168"/>
          </a:xfrm>
          <a:prstGeom prst="down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02920" y="3035808"/>
            <a:ext cx="3886200" cy="566928"/>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300" b="1">
                <a:solidFill>
                  <a:srgbClr val="1B2A41"/>
                </a:solidFill>
                <a:latin typeface="Arial"/>
              </a:rPr>
              <a:t>Branch on focus value</a:t>
            </a:r>
          </a:p>
        </p:txBody>
      </p:sp>
      <p:sp>
        <p:nvSpPr>
          <p:cNvPr id="10" name="Down Arrow 9"/>
          <p:cNvSpPr/>
          <p:nvPr/>
        </p:nvSpPr>
        <p:spPr>
          <a:xfrm>
            <a:off x="2359152" y="3611880"/>
            <a:ext cx="164592" cy="201168"/>
          </a:xfrm>
          <a:prstGeom prst="down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02920" y="3813048"/>
            <a:ext cx="3886200" cy="566928"/>
          </a:xfrm>
          <a:prstGeom prst="roundRect">
            <a:avLst/>
          </a:prstGeom>
          <a:solidFill>
            <a:srgbClr val="EEF1F4"/>
          </a:solidFill>
          <a:ln w="15875">
            <a:solidFill>
              <a:srgbClr val="4A60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300" b="1">
                <a:solidFill>
                  <a:srgbClr val="1B2A41"/>
                </a:solidFill>
                <a:latin typeface="Arial"/>
              </a:rPr>
              <a:t>Respond to the agent, once</a:t>
            </a:r>
          </a:p>
        </p:txBody>
      </p:sp>
      <p:sp>
        <p:nvSpPr>
          <p:cNvPr id="12" name="TextBox 11"/>
          <p:cNvSpPr txBox="1"/>
          <p:nvPr/>
        </p:nvSpPr>
        <p:spPr>
          <a:xfrm>
            <a:off x="4617720" y="1481328"/>
            <a:ext cx="4023360" cy="2743200"/>
          </a:xfrm>
          <a:prstGeom prst="rect">
            <a:avLst/>
          </a:prstGeom>
          <a:noFill/>
        </p:spPr>
        <p:txBody>
          <a:bodyPr wrap="square" lIns="18288" tIns="0" rIns="18288" bIns="0">
            <a:spAutoFit/>
          </a:bodyPr>
          <a:lstStyle/>
          <a:p>
            <a:pPr algn="l"/>
            <a:r>
              <a:rPr sz="1200" b="0">
                <a:solidFill>
                  <a:srgbClr val="1B2A41"/>
                </a:solidFill>
                <a:latin typeface="Arial"/>
              </a:rPr>
              <a:t>Required pieces</a:t>
            </a:r>
          </a:p>
          <a:p>
            <a:pPr algn="l"/>
            <a:endParaRPr sz="1200" b="0">
              <a:solidFill>
                <a:srgbClr val="1B2A41"/>
              </a:solidFill>
              <a:latin typeface="Arial"/>
            </a:endParaRPr>
          </a:p>
          <a:p>
            <a:pPr algn="l"/>
            <a:r>
              <a:rPr sz="1200" b="0">
                <a:solidFill>
                  <a:srgbClr val="1B2A41"/>
                </a:solidFill>
                <a:latin typeface="Arial"/>
              </a:rPr>
              <a:t>The trigger must be "When an agent calls the flow".</a:t>
            </a:r>
          </a:p>
          <a:p>
            <a:pPr algn="l"/>
            <a:endParaRPr sz="1200" b="0">
              <a:solidFill>
                <a:srgbClr val="1B2A41"/>
              </a:solidFill>
              <a:latin typeface="Arial"/>
            </a:endParaRPr>
          </a:p>
          <a:p>
            <a:pPr algn="l"/>
            <a:r>
              <a:rPr sz="1200" b="0">
                <a:solidFill>
                  <a:srgbClr val="1B2A41"/>
                </a:solidFill>
                <a:latin typeface="Arial"/>
              </a:rPr>
              <a:t>The flow must end in "Respond to the agent".</a:t>
            </a:r>
          </a:p>
          <a:p>
            <a:pPr algn="l"/>
            <a:endParaRPr sz="1200" b="0">
              <a:solidFill>
                <a:srgbClr val="1B2A41"/>
              </a:solidFill>
              <a:latin typeface="Arial"/>
            </a:endParaRPr>
          </a:p>
          <a:p>
            <a:pPr algn="l"/>
            <a:r>
              <a:rPr sz="1200" b="0">
                <a:solidFill>
                  <a:srgbClr val="1B2A41"/>
                </a:solidFill>
                <a:latin typeface="Arial"/>
              </a:rPr>
              <a:t>The flow has to live inside a solution before an agent can use it.</a:t>
            </a:r>
          </a:p>
          <a:p>
            <a:pPr algn="l"/>
            <a:endParaRPr sz="1200" b="0">
              <a:solidFill>
                <a:srgbClr val="1B2A41"/>
              </a:solidFill>
              <a:latin typeface="Arial"/>
            </a:endParaRPr>
          </a:p>
          <a:p>
            <a:pPr algn="l"/>
            <a:r>
              <a:rPr sz="1200" b="0">
                <a:solidFill>
                  <a:srgbClr val="1B2A41"/>
                </a:solidFill>
                <a:latin typeface="Arial"/>
              </a:rPr>
              <a:t>Branches cover responsible-ai, workloads, and foundry. Anything else returns a status the agent can explain.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Topics, agent flows, and cloud flows</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learn.microsoft.com/microsoft-copilot-studio/flows-faqs</a:t>
            </a:r>
          </a:p>
        </p:txBody>
      </p:sp>
      <p:graphicFrame>
        <p:nvGraphicFramePr>
          <p:cNvPr id="5" name="Table 4"/>
          <p:cNvGraphicFramePr>
            <a:graphicFrameLocks noGrp="1"/>
          </p:cNvGraphicFramePr>
          <p:nvPr/>
        </p:nvGraphicFramePr>
        <p:xfrm>
          <a:off x="502920" y="1335024"/>
          <a:ext cx="8138158" cy="3346700"/>
        </p:xfrm>
        <a:graphic>
          <a:graphicData uri="http://schemas.openxmlformats.org/drawingml/2006/table">
            <a:tbl>
              <a:tblPr>
                <a:tableStyleId>{2D5ABB26-0587-4C30-8999-92F81FD0307C}</a:tableStyleId>
              </a:tblPr>
              <a:tblGrid>
                <a:gridCol w="1383487">
                  <a:extLst>
                    <a:ext uri="{9D8B030D-6E8A-4147-A177-3AD203B41FA5}">
                      <a16:colId xmlns:a16="http://schemas.microsoft.com/office/drawing/2014/main" val="20000"/>
                    </a:ext>
                  </a:extLst>
                </a:gridCol>
                <a:gridCol w="2115921">
                  <a:extLst>
                    <a:ext uri="{9D8B030D-6E8A-4147-A177-3AD203B41FA5}">
                      <a16:colId xmlns:a16="http://schemas.microsoft.com/office/drawing/2014/main" val="20001"/>
                    </a:ext>
                  </a:extLst>
                </a:gridCol>
                <a:gridCol w="2360066">
                  <a:extLst>
                    <a:ext uri="{9D8B030D-6E8A-4147-A177-3AD203B41FA5}">
                      <a16:colId xmlns:a16="http://schemas.microsoft.com/office/drawing/2014/main" val="20002"/>
                    </a:ext>
                  </a:extLst>
                </a:gridCol>
                <a:gridCol w="2278684">
                  <a:extLst>
                    <a:ext uri="{9D8B030D-6E8A-4147-A177-3AD203B41FA5}">
                      <a16:colId xmlns:a16="http://schemas.microsoft.com/office/drawing/2014/main" val="20003"/>
                    </a:ext>
                  </a:extLst>
                </a:gridCol>
              </a:tblGrid>
              <a:tr h="365760">
                <a:tc>
                  <a:txBody>
                    <a:bodyPr/>
                    <a:lstStyle/>
                    <a:p>
                      <a:endParaRPr/>
                    </a:p>
                  </a:txBody>
                  <a:tcPr marR="73152" marT="36576" marB="36576" anchor="ctr">
                    <a:solidFill>
                      <a:srgbClr val="1B2A41"/>
                    </a:solidFill>
                  </a:tcPr>
                </a:tc>
                <a:tc>
                  <a:txBody>
                    <a:bodyPr/>
                    <a:lstStyle/>
                    <a:p>
                      <a:r>
                        <a:rPr sz="1400" b="1">
                          <a:solidFill>
                            <a:srgbClr val="FFFFFF"/>
                          </a:solidFill>
                          <a:latin typeface="Arial"/>
                        </a:rPr>
                        <a:t>Topic</a:t>
                      </a:r>
                    </a:p>
                  </a:txBody>
                  <a:tcPr marR="73152" marT="36576" marB="36576" anchor="ctr">
                    <a:solidFill>
                      <a:srgbClr val="1B2A41"/>
                    </a:solidFill>
                  </a:tcPr>
                </a:tc>
                <a:tc>
                  <a:txBody>
                    <a:bodyPr/>
                    <a:lstStyle/>
                    <a:p>
                      <a:r>
                        <a:rPr sz="1400" b="1">
                          <a:solidFill>
                            <a:srgbClr val="FFFFFF"/>
                          </a:solidFill>
                          <a:latin typeface="Arial"/>
                        </a:rPr>
                        <a:t>Agent flow</a:t>
                      </a:r>
                    </a:p>
                  </a:txBody>
                  <a:tcPr marR="73152" marT="36576" marB="36576" anchor="ctr">
                    <a:solidFill>
                      <a:srgbClr val="1B2A41"/>
                    </a:solidFill>
                  </a:tcPr>
                </a:tc>
                <a:tc>
                  <a:txBody>
                    <a:bodyPr/>
                    <a:lstStyle/>
                    <a:p>
                      <a:r>
                        <a:rPr sz="1400" b="1">
                          <a:solidFill>
                            <a:srgbClr val="FFFFFF"/>
                          </a:solidFill>
                          <a:latin typeface="Arial"/>
                        </a:rPr>
                        <a:t>Cloud flow</a:t>
                      </a:r>
                    </a:p>
                  </a:txBody>
                  <a:tcPr marR="73152" marT="36576" marB="36576" anchor="ctr">
                    <a:solidFill>
                      <a:srgbClr val="1B2A41"/>
                    </a:solidFill>
                  </a:tcPr>
                </a:tc>
                <a:extLst>
                  <a:ext uri="{0D108BD9-81ED-4DB2-BD59-A6C34878D82A}">
                    <a16:rowId xmlns:a16="http://schemas.microsoft.com/office/drawing/2014/main" val="10000"/>
                  </a:ext>
                </a:extLst>
              </a:tr>
              <a:tr h="596188">
                <a:tc>
                  <a:txBody>
                    <a:bodyPr/>
                    <a:lstStyle/>
                    <a:p>
                      <a:r>
                        <a:rPr sz="1300" b="1">
                          <a:solidFill>
                            <a:srgbClr val="1B2A41"/>
                          </a:solidFill>
                          <a:latin typeface="Arial"/>
                        </a:rPr>
                        <a:t>Optimized for</a:t>
                      </a:r>
                    </a:p>
                  </a:txBody>
                  <a:tcPr marR="73152" marT="36576" marB="36576" anchor="ctr">
                    <a:solidFill>
                      <a:srgbClr val="FFFFFF"/>
                    </a:solidFill>
                  </a:tcPr>
                </a:tc>
                <a:tc>
                  <a:txBody>
                    <a:bodyPr/>
                    <a:lstStyle/>
                    <a:p>
                      <a:r>
                        <a:rPr sz="1300" b="0">
                          <a:solidFill>
                            <a:srgbClr val="1B2A41"/>
                          </a:solidFill>
                          <a:latin typeface="Arial"/>
                        </a:rPr>
                        <a:t>Conversation</a:t>
                      </a:r>
                    </a:p>
                  </a:txBody>
                  <a:tcPr marR="73152" marT="36576" marB="36576" anchor="ctr">
                    <a:solidFill>
                      <a:srgbClr val="FFFFFF"/>
                    </a:solidFill>
                  </a:tcPr>
                </a:tc>
                <a:tc>
                  <a:txBody>
                    <a:bodyPr/>
                    <a:lstStyle/>
                    <a:p>
                      <a:r>
                        <a:rPr sz="1300" b="0">
                          <a:solidFill>
                            <a:srgbClr val="1B2A41"/>
                          </a:solidFill>
                          <a:latin typeface="Arial"/>
                        </a:rPr>
                        <a:t>Business process</a:t>
                      </a:r>
                    </a:p>
                  </a:txBody>
                  <a:tcPr marR="73152" marT="36576" marB="36576" anchor="ctr">
                    <a:solidFill>
                      <a:srgbClr val="FFFFFF"/>
                    </a:solidFill>
                  </a:tcPr>
                </a:tc>
                <a:tc>
                  <a:txBody>
                    <a:bodyPr/>
                    <a:lstStyle/>
                    <a:p>
                      <a:r>
                        <a:rPr sz="1300" b="0">
                          <a:solidFill>
                            <a:srgbClr val="1B2A41"/>
                          </a:solidFill>
                          <a:latin typeface="Arial"/>
                        </a:rPr>
                        <a:t>General automation</a:t>
                      </a:r>
                    </a:p>
                  </a:txBody>
                  <a:tcPr marR="73152" marT="36576" marB="36576" anchor="ctr">
                    <a:solidFill>
                      <a:srgbClr val="FFFFFF"/>
                    </a:solidFill>
                  </a:tcPr>
                </a:tc>
                <a:extLst>
                  <a:ext uri="{0D108BD9-81ED-4DB2-BD59-A6C34878D82A}">
                    <a16:rowId xmlns:a16="http://schemas.microsoft.com/office/drawing/2014/main" val="10001"/>
                  </a:ext>
                </a:extLst>
              </a:tr>
              <a:tr h="596188">
                <a:tc>
                  <a:txBody>
                    <a:bodyPr/>
                    <a:lstStyle/>
                    <a:p>
                      <a:r>
                        <a:rPr sz="1300" b="1">
                          <a:solidFill>
                            <a:srgbClr val="1B2A41"/>
                          </a:solidFill>
                          <a:latin typeface="Arial"/>
                        </a:rPr>
                        <a:t>Behavior</a:t>
                      </a:r>
                    </a:p>
                  </a:txBody>
                  <a:tcPr marR="73152" marT="36576" marB="36576" anchor="ctr">
                    <a:solidFill>
                      <a:srgbClr val="EEF1F4"/>
                    </a:solidFill>
                  </a:tcPr>
                </a:tc>
                <a:tc>
                  <a:txBody>
                    <a:bodyPr/>
                    <a:lstStyle/>
                    <a:p>
                      <a:r>
                        <a:rPr sz="1300" b="0">
                          <a:solidFill>
                            <a:srgbClr val="1B2A41"/>
                          </a:solidFill>
                          <a:latin typeface="Arial"/>
                        </a:rPr>
                        <a:t>Deterministic</a:t>
                      </a:r>
                    </a:p>
                  </a:txBody>
                  <a:tcPr marR="73152" marT="36576" marB="36576" anchor="ctr">
                    <a:solidFill>
                      <a:srgbClr val="EEF1F4"/>
                    </a:solidFill>
                  </a:tcPr>
                </a:tc>
                <a:tc>
                  <a:txBody>
                    <a:bodyPr/>
                    <a:lstStyle/>
                    <a:p>
                      <a:r>
                        <a:rPr sz="1300" b="0">
                          <a:solidFill>
                            <a:srgbClr val="1B2A41"/>
                          </a:solidFill>
                          <a:latin typeface="Arial"/>
                        </a:rPr>
                        <a:t>Deterministic</a:t>
                      </a:r>
                    </a:p>
                  </a:txBody>
                  <a:tcPr marR="73152" marT="36576" marB="36576" anchor="ctr">
                    <a:solidFill>
                      <a:srgbClr val="EEF1F4"/>
                    </a:solidFill>
                  </a:tcPr>
                </a:tc>
                <a:tc>
                  <a:txBody>
                    <a:bodyPr/>
                    <a:lstStyle/>
                    <a:p>
                      <a:r>
                        <a:rPr sz="1300" b="0">
                          <a:solidFill>
                            <a:srgbClr val="1B2A41"/>
                          </a:solidFill>
                          <a:latin typeface="Arial"/>
                        </a:rPr>
                        <a:t>Deterministic</a:t>
                      </a:r>
                    </a:p>
                  </a:txBody>
                  <a:tcPr marR="73152" marT="36576" marB="36576" anchor="ctr">
                    <a:solidFill>
                      <a:srgbClr val="EEF1F4"/>
                    </a:solidFill>
                  </a:tcPr>
                </a:tc>
                <a:extLst>
                  <a:ext uri="{0D108BD9-81ED-4DB2-BD59-A6C34878D82A}">
                    <a16:rowId xmlns:a16="http://schemas.microsoft.com/office/drawing/2014/main" val="10002"/>
                  </a:ext>
                </a:extLst>
              </a:tr>
              <a:tr h="596188">
                <a:tc>
                  <a:txBody>
                    <a:bodyPr/>
                    <a:lstStyle/>
                    <a:p>
                      <a:r>
                        <a:rPr sz="1300" b="1">
                          <a:solidFill>
                            <a:srgbClr val="1B2A41"/>
                          </a:solidFill>
                          <a:latin typeface="Arial"/>
                        </a:rPr>
                        <a:t>Billing</a:t>
                      </a:r>
                    </a:p>
                  </a:txBody>
                  <a:tcPr marR="73152" marT="36576" marB="36576" anchor="ctr">
                    <a:solidFill>
                      <a:srgbClr val="FFFFFF"/>
                    </a:solidFill>
                  </a:tcPr>
                </a:tc>
                <a:tc>
                  <a:txBody>
                    <a:bodyPr/>
                    <a:lstStyle/>
                    <a:p>
                      <a:r>
                        <a:rPr sz="1300" b="0">
                          <a:solidFill>
                            <a:srgbClr val="1B2A41"/>
                          </a:solidFill>
                          <a:latin typeface="Arial"/>
                        </a:rPr>
                        <a:t>Agent messages</a:t>
                      </a:r>
                    </a:p>
                  </a:txBody>
                  <a:tcPr marR="73152" marT="36576" marB="36576" anchor="ctr">
                    <a:solidFill>
                      <a:srgbClr val="FFFFFF"/>
                    </a:solidFill>
                  </a:tcPr>
                </a:tc>
                <a:tc>
                  <a:txBody>
                    <a:bodyPr/>
                    <a:lstStyle/>
                    <a:p>
                      <a:r>
                        <a:rPr sz="1300" b="0">
                          <a:solidFill>
                            <a:srgbClr val="1B2A41"/>
                          </a:solidFill>
                          <a:latin typeface="Arial"/>
                        </a:rPr>
                        <a:t>Copilot Studio consumption</a:t>
                      </a:r>
                    </a:p>
                  </a:txBody>
                  <a:tcPr marR="73152" marT="36576" marB="36576" anchor="ctr">
                    <a:solidFill>
                      <a:srgbClr val="FFFFFF"/>
                    </a:solidFill>
                  </a:tcPr>
                </a:tc>
                <a:tc>
                  <a:txBody>
                    <a:bodyPr/>
                    <a:lstStyle/>
                    <a:p>
                      <a:r>
                        <a:rPr sz="1300" b="0">
                          <a:solidFill>
                            <a:srgbClr val="1B2A41"/>
                          </a:solidFill>
                          <a:latin typeface="Arial"/>
                        </a:rPr>
                        <a:t>Power Automate license</a:t>
                      </a:r>
                    </a:p>
                  </a:txBody>
                  <a:tcPr marR="73152" marT="36576" marB="36576" anchor="ctr">
                    <a:solidFill>
                      <a:srgbClr val="FFFFFF"/>
                    </a:solidFill>
                  </a:tcPr>
                </a:tc>
                <a:extLst>
                  <a:ext uri="{0D108BD9-81ED-4DB2-BD59-A6C34878D82A}">
                    <a16:rowId xmlns:a16="http://schemas.microsoft.com/office/drawing/2014/main" val="10003"/>
                  </a:ext>
                </a:extLst>
              </a:tr>
              <a:tr h="596188">
                <a:tc>
                  <a:txBody>
                    <a:bodyPr/>
                    <a:lstStyle/>
                    <a:p>
                      <a:r>
                        <a:rPr sz="1300" b="1">
                          <a:solidFill>
                            <a:srgbClr val="1B2A41"/>
                          </a:solidFill>
                          <a:latin typeface="Arial"/>
                        </a:rPr>
                        <a:t>Required parts</a:t>
                      </a:r>
                    </a:p>
                  </a:txBody>
                  <a:tcPr marR="73152" marT="36576" marB="36576" anchor="ctr">
                    <a:solidFill>
                      <a:srgbClr val="EEF1F4"/>
                    </a:solidFill>
                  </a:tcPr>
                </a:tc>
                <a:tc>
                  <a:txBody>
                    <a:bodyPr/>
                    <a:lstStyle/>
                    <a:p>
                      <a:r>
                        <a:rPr sz="1300" b="0">
                          <a:solidFill>
                            <a:srgbClr val="1B2A41"/>
                          </a:solidFill>
                          <a:latin typeface="Arial"/>
                        </a:rPr>
                        <a:t>Description or trigger phrase</a:t>
                      </a:r>
                    </a:p>
                  </a:txBody>
                  <a:tcPr marR="73152" marT="36576" marB="36576" anchor="ctr">
                    <a:solidFill>
                      <a:srgbClr val="EEF1F4"/>
                    </a:solidFill>
                  </a:tcPr>
                </a:tc>
                <a:tc>
                  <a:txBody>
                    <a:bodyPr/>
                    <a:lstStyle/>
                    <a:p>
                      <a:r>
                        <a:rPr sz="1300" b="0">
                          <a:solidFill>
                            <a:srgbClr val="1B2A41"/>
                          </a:solidFill>
                          <a:latin typeface="Arial"/>
                        </a:rPr>
                        <a:t>Agent-call trigger plus Respond to the agent</a:t>
                      </a:r>
                    </a:p>
                  </a:txBody>
                  <a:tcPr marR="73152" marT="36576" marB="36576" anchor="ctr">
                    <a:solidFill>
                      <a:srgbClr val="EEF1F4"/>
                    </a:solidFill>
                  </a:tcPr>
                </a:tc>
                <a:tc>
                  <a:txBody>
                    <a:bodyPr/>
                    <a:lstStyle/>
                    <a:p>
                      <a:r>
                        <a:rPr sz="1300" b="0">
                          <a:solidFill>
                            <a:srgbClr val="1B2A41"/>
                          </a:solidFill>
                          <a:latin typeface="Arial"/>
                        </a:rPr>
                        <a:t>Its own trigger</a:t>
                      </a:r>
                    </a:p>
                  </a:txBody>
                  <a:tcPr marR="73152" marT="36576" marB="36576" anchor="ctr">
                    <a:solidFill>
                      <a:srgbClr val="EEF1F4"/>
                    </a:solidFill>
                  </a:tcPr>
                </a:tc>
                <a:extLst>
                  <a:ext uri="{0D108BD9-81ED-4DB2-BD59-A6C34878D82A}">
                    <a16:rowId xmlns:a16="http://schemas.microsoft.com/office/drawing/2014/main" val="10004"/>
                  </a:ext>
                </a:extLst>
              </a:tr>
              <a:tr h="596188">
                <a:tc>
                  <a:txBody>
                    <a:bodyPr/>
                    <a:lstStyle/>
                    <a:p>
                      <a:r>
                        <a:rPr sz="1300" b="1">
                          <a:solidFill>
                            <a:srgbClr val="1B2A41"/>
                          </a:solidFill>
                          <a:latin typeface="Arial"/>
                        </a:rPr>
                        <a:t>Note</a:t>
                      </a:r>
                    </a:p>
                  </a:txBody>
                  <a:tcPr marR="73152" marT="36576" marB="36576" anchor="ctr">
                    <a:solidFill>
                      <a:srgbClr val="FFFFFF"/>
                    </a:solidFill>
                  </a:tcPr>
                </a:tc>
                <a:tc>
                  <a:txBody>
                    <a:bodyPr/>
                    <a:lstStyle/>
                    <a:p>
                      <a:r>
                        <a:rPr sz="1300" b="0">
                          <a:solidFill>
                            <a:srgbClr val="1B2A41"/>
                          </a:solidFill>
                          <a:latin typeface="Arial"/>
                        </a:rPr>
                        <a:t>Can call a flow behind the scenes</a:t>
                      </a:r>
                    </a:p>
                  </a:txBody>
                  <a:tcPr marR="73152" marT="36576" marB="36576" anchor="ctr">
                    <a:solidFill>
                      <a:srgbClr val="FFFFFF"/>
                    </a:solidFill>
                  </a:tcPr>
                </a:tc>
                <a:tc>
                  <a:txBody>
                    <a:bodyPr/>
                    <a:lstStyle/>
                    <a:p>
                      <a:r>
                        <a:rPr sz="1300" b="0">
                          <a:solidFill>
                            <a:srgbClr val="1B2A41"/>
                          </a:solidFill>
                          <a:latin typeface="Arial"/>
                        </a:rPr>
                        <a:t>Must live in a solution</a:t>
                      </a:r>
                    </a:p>
                  </a:txBody>
                  <a:tcPr marR="73152" marT="36576" marB="36576" anchor="ctr">
                    <a:solidFill>
                      <a:srgbClr val="FFFFFF"/>
                    </a:solidFill>
                  </a:tcPr>
                </a:tc>
                <a:tc>
                  <a:txBody>
                    <a:bodyPr/>
                    <a:lstStyle/>
                    <a:p>
                      <a:r>
                        <a:rPr sz="1300" b="0">
                          <a:solidFill>
                            <a:srgbClr val="1B2A41"/>
                          </a:solidFill>
                          <a:latin typeface="Arial"/>
                        </a:rPr>
                        <a:t>Convertible to an agent flow, one way</a:t>
                      </a:r>
                    </a:p>
                  </a:txBody>
                  <a:tcPr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The evidence of a tool call</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700" b="0">
                <a:latin typeface="Arial"/>
              </a:rPr>
              <a:t>The activity map during testing shows the plan the orchestrator chose</a:t>
            </a:r>
          </a:p>
          <a:p>
            <a:pPr>
              <a:spcAft>
                <a:spcPts val="800"/>
              </a:spcAft>
            </a:pPr>
            <a:r>
              <a:rPr sz="1700" b="0">
                <a:latin typeface="Arial"/>
              </a:rPr>
              <a:t>Expected input: focus = responsible-ai</a:t>
            </a:r>
          </a:p>
          <a:p>
            <a:pPr>
              <a:spcAft>
                <a:spcPts val="800"/>
              </a:spcAft>
            </a:pPr>
            <a:r>
              <a:rPr sz="1700" b="0">
                <a:latin typeface="Arial"/>
              </a:rPr>
              <a:t>Expected output: status = ok, and a plan describing 30 minutes</a:t>
            </a:r>
          </a:p>
          <a:p>
            <a:pPr>
              <a:spcAft>
                <a:spcPts val="800"/>
              </a:spcAft>
            </a:pPr>
            <a:r>
              <a:rPr sz="1700" b="0">
                <a:latin typeface="Arial"/>
              </a:rPr>
              <a:t>No execution record means the response alone proves nothing</a:t>
            </a:r>
          </a:p>
          <a:p>
            <a:pPr>
              <a:spcAft>
                <a:spcPts val="800"/>
              </a:spcAft>
            </a:pPr>
            <a:r>
              <a:rPr sz="1700" b="0">
                <a:latin typeface="Arial"/>
              </a:rPr>
              <a:t>A fluent answer is not proof that a tool ran</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learn.microsoft.com/microsoft-copilot-studio/authoring-review-activity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HTTP, connectors, and MCP</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learn.microsoft.com/microsoft-copilot-studio/guidance/agent-tools</a:t>
            </a:r>
          </a:p>
        </p:txBody>
      </p:sp>
      <p:graphicFrame>
        <p:nvGraphicFramePr>
          <p:cNvPr id="5" name="Table 4"/>
          <p:cNvGraphicFramePr>
            <a:graphicFrameLocks noGrp="1"/>
          </p:cNvGraphicFramePr>
          <p:nvPr/>
        </p:nvGraphicFramePr>
        <p:xfrm>
          <a:off x="502920" y="1335024"/>
          <a:ext cx="8138159" cy="3346700"/>
        </p:xfrm>
        <a:graphic>
          <a:graphicData uri="http://schemas.openxmlformats.org/drawingml/2006/table">
            <a:tbl>
              <a:tblPr>
                <a:tableStyleId>{2D5ABB26-0587-4C30-8999-92F81FD0307C}</a:tableStyleId>
              </a:tblPr>
              <a:tblGrid>
                <a:gridCol w="2115921">
                  <a:extLst>
                    <a:ext uri="{9D8B030D-6E8A-4147-A177-3AD203B41FA5}">
                      <a16:colId xmlns:a16="http://schemas.microsoft.com/office/drawing/2014/main" val="20000"/>
                    </a:ext>
                  </a:extLst>
                </a:gridCol>
                <a:gridCol w="6022238">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Mechanism</a:t>
                      </a:r>
                    </a:p>
                  </a:txBody>
                  <a:tcPr marR="73152" marT="36576" marB="36576" anchor="ctr">
                    <a:solidFill>
                      <a:srgbClr val="1B2A41"/>
                    </a:solidFill>
                  </a:tcPr>
                </a:tc>
                <a:tc>
                  <a:txBody>
                    <a:bodyPr/>
                    <a:lstStyle/>
                    <a:p>
                      <a:r>
                        <a:rPr sz="1400" b="1">
                          <a:solidFill>
                            <a:srgbClr val="FFFFFF"/>
                          </a:solidFill>
                          <a:latin typeface="Arial"/>
                        </a:rPr>
                        <a:t>What the maker has to understand</a:t>
                      </a:r>
                    </a:p>
                  </a:txBody>
                  <a:tcPr marR="73152" marT="36576" marB="36576" anchor="ctr">
                    <a:solidFill>
                      <a:srgbClr val="1B2A41"/>
                    </a:solidFill>
                  </a:tcPr>
                </a:tc>
                <a:extLst>
                  <a:ext uri="{0D108BD9-81ED-4DB2-BD59-A6C34878D82A}">
                    <a16:rowId xmlns:a16="http://schemas.microsoft.com/office/drawing/2014/main" val="10000"/>
                  </a:ext>
                </a:extLst>
              </a:tr>
              <a:tr h="596188">
                <a:tc>
                  <a:txBody>
                    <a:bodyPr/>
                    <a:lstStyle/>
                    <a:p>
                      <a:r>
                        <a:rPr sz="1300" b="1">
                          <a:solidFill>
                            <a:srgbClr val="1B2A41"/>
                          </a:solidFill>
                          <a:latin typeface="Arial"/>
                        </a:rPr>
                        <a:t>HTTP tool</a:t>
                      </a:r>
                    </a:p>
                  </a:txBody>
                  <a:tcPr marR="73152" marT="36576" marB="36576" anchor="ctr">
                    <a:solidFill>
                      <a:srgbClr val="FFFFFF"/>
                    </a:solidFill>
                  </a:tcPr>
                </a:tc>
                <a:tc>
                  <a:txBody>
                    <a:bodyPr/>
                    <a:lstStyle/>
                    <a:p>
                      <a:r>
                        <a:rPr sz="1300" b="0">
                          <a:solidFill>
                            <a:srgbClr val="1B2A41"/>
                          </a:solidFill>
                          <a:latin typeface="Arial"/>
                        </a:rPr>
                        <a:t>A defined endpoint, a request contract, and the response shape</a:t>
                      </a:r>
                    </a:p>
                  </a:txBody>
                  <a:tcPr marR="73152" marT="36576" marB="36576" anchor="ctr">
                    <a:solidFill>
                      <a:srgbClr val="FFFFFF"/>
                    </a:solidFill>
                  </a:tcPr>
                </a:tc>
                <a:extLst>
                  <a:ext uri="{0D108BD9-81ED-4DB2-BD59-A6C34878D82A}">
                    <a16:rowId xmlns:a16="http://schemas.microsoft.com/office/drawing/2014/main" val="10001"/>
                  </a:ext>
                </a:extLst>
              </a:tr>
              <a:tr h="596188">
                <a:tc>
                  <a:txBody>
                    <a:bodyPr/>
                    <a:lstStyle/>
                    <a:p>
                      <a:r>
                        <a:rPr sz="1300" b="1">
                          <a:solidFill>
                            <a:srgbClr val="1B2A41"/>
                          </a:solidFill>
                          <a:latin typeface="Arial"/>
                        </a:rPr>
                        <a:t>Connector action</a:t>
                      </a:r>
                    </a:p>
                  </a:txBody>
                  <a:tcPr marR="73152" marT="36576" marB="36576" anchor="ctr">
                    <a:solidFill>
                      <a:srgbClr val="EEF1F4"/>
                    </a:solidFill>
                  </a:tcPr>
                </a:tc>
                <a:tc>
                  <a:txBody>
                    <a:bodyPr/>
                    <a:lstStyle/>
                    <a:p>
                      <a:r>
                        <a:rPr sz="1300" b="0">
                          <a:solidFill>
                            <a:srgbClr val="1B2A41"/>
                          </a:solidFill>
                          <a:latin typeface="Arial"/>
                        </a:rPr>
                        <a:t>The action's inputs, its outputs, and which identity it runs as</a:t>
                      </a:r>
                    </a:p>
                  </a:txBody>
                  <a:tcPr marR="73152" marT="36576" marB="36576" anchor="ctr">
                    <a:solidFill>
                      <a:srgbClr val="EEF1F4"/>
                    </a:solidFill>
                  </a:tcPr>
                </a:tc>
                <a:extLst>
                  <a:ext uri="{0D108BD9-81ED-4DB2-BD59-A6C34878D82A}">
                    <a16:rowId xmlns:a16="http://schemas.microsoft.com/office/drawing/2014/main" val="10002"/>
                  </a:ext>
                </a:extLst>
              </a:tr>
              <a:tr h="596188">
                <a:tc>
                  <a:txBody>
                    <a:bodyPr/>
                    <a:lstStyle/>
                    <a:p>
                      <a:r>
                        <a:rPr sz="1300" b="1">
                          <a:solidFill>
                            <a:srgbClr val="1B2A41"/>
                          </a:solidFill>
                          <a:latin typeface="Arial"/>
                        </a:rPr>
                        <a:t>MCP server</a:t>
                      </a:r>
                    </a:p>
                  </a:txBody>
                  <a:tcPr marR="73152" marT="36576" marB="36576" anchor="ctr">
                    <a:solidFill>
                      <a:srgbClr val="FFFFFF"/>
                    </a:solidFill>
                  </a:tcPr>
                </a:tc>
                <a:tc>
                  <a:txBody>
                    <a:bodyPr/>
                    <a:lstStyle/>
                    <a:p>
                      <a:r>
                        <a:rPr sz="1300" b="0">
                          <a:solidFill>
                            <a:srgbClr val="1B2A41"/>
                          </a:solidFill>
                          <a:latin typeface="Arial"/>
                        </a:rPr>
                        <a:t>The tools it publishes, their descriptions, and server access</a:t>
                      </a:r>
                    </a:p>
                  </a:txBody>
                  <a:tcPr marR="73152" marT="36576" marB="36576" anchor="ctr">
                    <a:solidFill>
                      <a:srgbClr val="FFFFFF"/>
                    </a:solidFill>
                  </a:tcPr>
                </a:tc>
                <a:extLst>
                  <a:ext uri="{0D108BD9-81ED-4DB2-BD59-A6C34878D82A}">
                    <a16:rowId xmlns:a16="http://schemas.microsoft.com/office/drawing/2014/main" val="10003"/>
                  </a:ext>
                </a:extLst>
              </a:tr>
              <a:tr h="596188">
                <a:tc>
                  <a:txBody>
                    <a:bodyPr/>
                    <a:lstStyle/>
                    <a:p>
                      <a:r>
                        <a:rPr sz="1300" b="1">
                          <a:solidFill>
                            <a:srgbClr val="1B2A41"/>
                          </a:solidFill>
                          <a:latin typeface="Arial"/>
                        </a:rPr>
                        <a:t>All three</a:t>
                      </a:r>
                    </a:p>
                  </a:txBody>
                  <a:tcPr marR="73152" marT="36576" marB="36576" anchor="ctr">
                    <a:solidFill>
                      <a:srgbClr val="EEF1F4"/>
                    </a:solidFill>
                  </a:tcPr>
                </a:tc>
                <a:tc>
                  <a:txBody>
                    <a:bodyPr/>
                    <a:lstStyle/>
                    <a:p>
                      <a:r>
                        <a:rPr sz="1300" b="0">
                          <a:solidFill>
                            <a:srgbClr val="1B2A41"/>
                          </a:solidFill>
                          <a:latin typeface="Arial"/>
                        </a:rPr>
                        <a:t>Identity, permitted data, error handling, and approval</a:t>
                      </a:r>
                    </a:p>
                  </a:txBody>
                  <a:tcPr marR="73152" marT="36576" marB="36576" anchor="ctr">
                    <a:solidFill>
                      <a:srgbClr val="EEF1F4"/>
                    </a:solidFill>
                  </a:tcPr>
                </a:tc>
                <a:extLst>
                  <a:ext uri="{0D108BD9-81ED-4DB2-BD59-A6C34878D82A}">
                    <a16:rowId xmlns:a16="http://schemas.microsoft.com/office/drawing/2014/main" val="10004"/>
                  </a:ext>
                </a:extLst>
              </a:tr>
              <a:tr h="596188">
                <a:tc>
                  <a:txBody>
                    <a:bodyPr/>
                    <a:lstStyle/>
                    <a:p>
                      <a:r>
                        <a:rPr sz="1300" b="1">
                          <a:solidFill>
                            <a:srgbClr val="1B2A41"/>
                          </a:solidFill>
                          <a:latin typeface="Arial"/>
                        </a:rPr>
                        <a:t>This workshop</a:t>
                      </a:r>
                    </a:p>
                  </a:txBody>
                  <a:tcPr marR="73152" marT="36576" marB="36576" anchor="ctr">
                    <a:solidFill>
                      <a:srgbClr val="FFFFFF"/>
                    </a:solidFill>
                  </a:tcPr>
                </a:tc>
                <a:tc>
                  <a:txBody>
                    <a:bodyPr/>
                    <a:lstStyle/>
                    <a:p>
                      <a:r>
                        <a:rPr sz="1300" b="0">
                          <a:solidFill>
                            <a:srgbClr val="1B2A41"/>
                          </a:solidFill>
                          <a:latin typeface="Arial"/>
                        </a:rPr>
                        <a:t>One native agent flow; the rest are comparisons</a:t>
                      </a:r>
                    </a:p>
                  </a:txBody>
                  <a:tcPr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When MCP earns its place</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700" b="0">
                <a:latin typeface="Arial"/>
              </a:rPr>
              <a:t>The server owns the tool names, descriptions, and input schemas, not each agent</a:t>
            </a:r>
          </a:p>
          <a:p>
            <a:pPr>
              <a:spcAft>
                <a:spcPts val="800"/>
              </a:spcAft>
            </a:pPr>
            <a:r>
              <a:rPr sz="1700" b="0">
                <a:latin typeface="Arial"/>
              </a:rPr>
              <a:t>Change a definition once on the server and every agent picks it up without republishing</a:t>
            </a:r>
          </a:p>
          <a:p>
            <a:pPr>
              <a:spcAft>
                <a:spcPts val="800"/>
              </a:spcAft>
            </a:pPr>
            <a:r>
              <a:rPr sz="1700" b="0">
                <a:latin typeface="Arial"/>
              </a:rPr>
              <a:t>Generative orchestration has to be on before an agent can use an MCP server</a:t>
            </a:r>
          </a:p>
          <a:p>
            <a:pPr>
              <a:spcAft>
                <a:spcPts val="800"/>
              </a:spcAft>
            </a:pPr>
            <a:r>
              <a:rPr sz="1700" b="0">
                <a:latin typeface="Arial"/>
              </a:rPr>
              <a:t>Data policies that govern Power Platform connectors also govern MCP servers</a:t>
            </a:r>
          </a:p>
          <a:p>
            <a:pPr>
              <a:spcAft>
                <a:spcPts val="800"/>
              </a:spcAft>
            </a:pPr>
            <a:r>
              <a:rPr sz="1700" b="0">
                <a:latin typeface="Arial"/>
              </a:rPr>
              <a:t>Topics cannot call an MCP server directly; only the orchestrator can</a:t>
            </a:r>
          </a:p>
          <a:p>
            <a:pPr>
              <a:spcAft>
                <a:spcPts val="800"/>
              </a:spcAft>
            </a:pPr>
            <a:r>
              <a:rPr sz="1700" b="0">
                <a:latin typeface="Arial"/>
              </a:rPr>
              <a:t>Keep the count small: concurrent servers per conversation are capped</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learn.microsoft.com/microsoft-copilot-studio/agent-extend-action-mcp</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Adding an MCP server</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learn.microsoft.com/microsoft-copilot-studio/mcp-add-existing-server-to-agent</a:t>
            </a:r>
          </a:p>
        </p:txBody>
      </p:sp>
      <p:sp>
        <p:nvSpPr>
          <p:cNvPr id="5" name="Rounded Rectangle 4"/>
          <p:cNvSpPr/>
          <p:nvPr/>
        </p:nvSpPr>
        <p:spPr>
          <a:xfrm>
            <a:off x="502920" y="1517904"/>
            <a:ext cx="1422806" cy="841248"/>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Tools</a:t>
            </a:r>
          </a:p>
        </p:txBody>
      </p:sp>
      <p:sp>
        <p:nvSpPr>
          <p:cNvPr id="6" name="Right Arrow 5"/>
          <p:cNvSpPr/>
          <p:nvPr/>
        </p:nvSpPr>
        <p:spPr>
          <a:xfrm>
            <a:off x="1966874" y="1856232"/>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2468880"/>
            <a:ext cx="1422806" cy="822960"/>
          </a:xfrm>
          <a:prstGeom prst="rect">
            <a:avLst/>
          </a:prstGeom>
          <a:noFill/>
        </p:spPr>
        <p:txBody>
          <a:bodyPr wrap="square" lIns="18288" tIns="0" rIns="18288" bIns="0">
            <a:spAutoFit/>
          </a:bodyPr>
          <a:lstStyle/>
          <a:p>
            <a:pPr algn="ctr"/>
            <a:r>
              <a:rPr sz="1100" b="0">
                <a:solidFill>
                  <a:srgbClr val="4A6076"/>
                </a:solidFill>
                <a:latin typeface="Arial"/>
              </a:rPr>
              <a:t>Add a tool</a:t>
            </a:r>
          </a:p>
        </p:txBody>
      </p:sp>
      <p:sp>
        <p:nvSpPr>
          <p:cNvPr id="8" name="Rounded Rectangle 7"/>
          <p:cNvSpPr/>
          <p:nvPr/>
        </p:nvSpPr>
        <p:spPr>
          <a:xfrm>
            <a:off x="2181758" y="1517904"/>
            <a:ext cx="1422806" cy="841248"/>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Model Context Protocol</a:t>
            </a:r>
          </a:p>
        </p:txBody>
      </p:sp>
      <p:sp>
        <p:nvSpPr>
          <p:cNvPr id="9" name="Right Arrow 8"/>
          <p:cNvSpPr/>
          <p:nvPr/>
        </p:nvSpPr>
        <p:spPr>
          <a:xfrm>
            <a:off x="3645712" y="1856232"/>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81758" y="2468880"/>
            <a:ext cx="1422806" cy="822960"/>
          </a:xfrm>
          <a:prstGeom prst="rect">
            <a:avLst/>
          </a:prstGeom>
          <a:noFill/>
        </p:spPr>
        <p:txBody>
          <a:bodyPr wrap="square" lIns="18288" tIns="0" rIns="18288" bIns="0">
            <a:spAutoFit/>
          </a:bodyPr>
          <a:lstStyle/>
          <a:p>
            <a:pPr algn="ctr"/>
            <a:r>
              <a:rPr sz="1100" b="0">
                <a:solidFill>
                  <a:srgbClr val="4A6076"/>
                </a:solidFill>
                <a:latin typeface="Arial"/>
              </a:rPr>
              <a:t>pick a connector or add a server</a:t>
            </a:r>
          </a:p>
        </p:txBody>
      </p:sp>
      <p:sp>
        <p:nvSpPr>
          <p:cNvPr id="11" name="Rounded Rectangle 10"/>
          <p:cNvSpPr/>
          <p:nvPr/>
        </p:nvSpPr>
        <p:spPr>
          <a:xfrm>
            <a:off x="3860596" y="1517904"/>
            <a:ext cx="1422806" cy="841248"/>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Server details</a:t>
            </a:r>
          </a:p>
        </p:txBody>
      </p:sp>
      <p:sp>
        <p:nvSpPr>
          <p:cNvPr id="12" name="Right Arrow 11"/>
          <p:cNvSpPr/>
          <p:nvPr/>
        </p:nvSpPr>
        <p:spPr>
          <a:xfrm>
            <a:off x="5324551" y="1856232"/>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60596" y="2468880"/>
            <a:ext cx="1422806" cy="822960"/>
          </a:xfrm>
          <a:prstGeom prst="rect">
            <a:avLst/>
          </a:prstGeom>
          <a:noFill/>
        </p:spPr>
        <p:txBody>
          <a:bodyPr wrap="square" lIns="18288" tIns="0" rIns="18288" bIns="0">
            <a:spAutoFit/>
          </a:bodyPr>
          <a:lstStyle/>
          <a:p>
            <a:pPr algn="ctr"/>
            <a:r>
              <a:rPr sz="1100" b="0">
                <a:solidFill>
                  <a:srgbClr val="4A6076"/>
                </a:solidFill>
                <a:latin typeface="Arial"/>
              </a:rPr>
              <a:t>name, description, URL, authentication</a:t>
            </a:r>
          </a:p>
        </p:txBody>
      </p:sp>
      <p:sp>
        <p:nvSpPr>
          <p:cNvPr id="14" name="Rounded Rectangle 13"/>
          <p:cNvSpPr/>
          <p:nvPr/>
        </p:nvSpPr>
        <p:spPr>
          <a:xfrm>
            <a:off x="5539435" y="1517904"/>
            <a:ext cx="1422806" cy="841248"/>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Handshake</a:t>
            </a:r>
          </a:p>
        </p:txBody>
      </p:sp>
      <p:sp>
        <p:nvSpPr>
          <p:cNvPr id="15" name="Right Arrow 14"/>
          <p:cNvSpPr/>
          <p:nvPr/>
        </p:nvSpPr>
        <p:spPr>
          <a:xfrm>
            <a:off x="7003389" y="1856232"/>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539435" y="2468880"/>
            <a:ext cx="1422806" cy="822960"/>
          </a:xfrm>
          <a:prstGeom prst="rect">
            <a:avLst/>
          </a:prstGeom>
          <a:noFill/>
        </p:spPr>
        <p:txBody>
          <a:bodyPr wrap="square" lIns="18288" tIns="0" rIns="18288" bIns="0">
            <a:spAutoFit/>
          </a:bodyPr>
          <a:lstStyle/>
          <a:p>
            <a:pPr algn="ctr"/>
            <a:r>
              <a:rPr sz="1100" b="0">
                <a:solidFill>
                  <a:srgbClr val="4A6076"/>
                </a:solidFill>
                <a:latin typeface="Arial"/>
              </a:rPr>
              <a:t>Copilot Studio lists the tools it exposes</a:t>
            </a:r>
          </a:p>
        </p:txBody>
      </p:sp>
      <p:sp>
        <p:nvSpPr>
          <p:cNvPr id="17" name="Rounded Rectangle 16"/>
          <p:cNvSpPr/>
          <p:nvPr/>
        </p:nvSpPr>
        <p:spPr>
          <a:xfrm>
            <a:off x="7218273" y="1517904"/>
            <a:ext cx="1422806" cy="841248"/>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Preview tab</a:t>
            </a:r>
          </a:p>
        </p:txBody>
      </p:sp>
      <p:sp>
        <p:nvSpPr>
          <p:cNvPr id="18" name="TextBox 17"/>
          <p:cNvSpPr txBox="1"/>
          <p:nvPr/>
        </p:nvSpPr>
        <p:spPr>
          <a:xfrm>
            <a:off x="7218273" y="2468880"/>
            <a:ext cx="1422806" cy="822960"/>
          </a:xfrm>
          <a:prstGeom prst="rect">
            <a:avLst/>
          </a:prstGeom>
          <a:noFill/>
        </p:spPr>
        <p:txBody>
          <a:bodyPr wrap="square" lIns="18288" tIns="0" rIns="18288" bIns="0">
            <a:spAutoFit/>
          </a:bodyPr>
          <a:lstStyle/>
          <a:p>
            <a:pPr algn="ctr"/>
            <a:r>
              <a:rPr sz="1100" b="0">
                <a:solidFill>
                  <a:srgbClr val="4A6076"/>
                </a:solidFill>
                <a:latin typeface="Arial"/>
              </a:rPr>
              <a:t>test, then read the activity trace</a:t>
            </a:r>
          </a:p>
        </p:txBody>
      </p:sp>
      <p:sp>
        <p:nvSpPr>
          <p:cNvPr id="19" name="TextBox 18"/>
          <p:cNvSpPr txBox="1"/>
          <p:nvPr/>
        </p:nvSpPr>
        <p:spPr>
          <a:xfrm>
            <a:off x="502920" y="3383280"/>
            <a:ext cx="8138160" cy="1234440"/>
          </a:xfrm>
          <a:prstGeom prst="rect">
            <a:avLst/>
          </a:prstGeom>
          <a:noFill/>
        </p:spPr>
        <p:txBody>
          <a:bodyPr wrap="square" lIns="18288" tIns="0" rIns="18288" bIns="0">
            <a:spAutoFit/>
          </a:bodyPr>
          <a:lstStyle/>
          <a:p>
            <a:pPr algn="l"/>
            <a:r>
              <a:rPr sz="1250" b="0">
                <a:solidFill>
                  <a:srgbClr val="1B2A41"/>
                </a:solidFill>
                <a:latin typeface="Arial"/>
              </a:rPr>
              <a:t>Authentication is None, API key, or OAuth 2.0. Pick it before you create the server entry.</a:t>
            </a:r>
          </a:p>
          <a:p>
            <a:pPr algn="l"/>
            <a:r>
              <a:rPr sz="1250" b="0">
                <a:solidFill>
                  <a:srgbClr val="1B2A41"/>
                </a:solidFill>
                <a:latin typeface="Arial"/>
              </a:rPr>
              <a:t>Review every tool description the handshake returns. A tool with a vague description gets selected unreliably.</a:t>
            </a:r>
          </a:p>
          <a:p>
            <a:pPr algn="l"/>
            <a:r>
              <a:rPr sz="1250" b="0">
                <a:solidFill>
                  <a:srgbClr val="1B2A41"/>
                </a:solidFill>
                <a:latin typeface="Arial"/>
              </a:rPr>
              <a:t>Turn off Allow all and enable only the tools this agent needs.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When another agent helps</a:t>
            </a:r>
          </a:p>
        </p:txBody>
      </p:sp>
      <p:sp>
        <p:nvSpPr>
          <p:cNvPr id="3" name="Rounded Rectangle 2"/>
          <p:cNvSpPr/>
          <p:nvPr/>
        </p:nvSpPr>
        <p:spPr>
          <a:xfrm>
            <a:off x="3246120" y="1417320"/>
            <a:ext cx="2651760" cy="749808"/>
          </a:xfrm>
          <a:prstGeom prst="roundRect">
            <a:avLst/>
          </a:prstGeom>
          <a:solidFill>
            <a:srgbClr val="1B2A41"/>
          </a:solidFill>
          <a:ln w="15875">
            <a:solidFill>
              <a:srgbClr val="1B2A41"/>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FFFFFF"/>
                </a:solidFill>
                <a:latin typeface="Arial"/>
              </a:rPr>
              <a:t>Parent agent</a:t>
            </a:r>
          </a:p>
          <a:p>
            <a:pPr algn="ctr"/>
            <a:r>
              <a:rPr sz="1100" b="0">
                <a:solidFill>
                  <a:srgbClr val="FFFFFF"/>
                </a:solidFill>
                <a:latin typeface="Arial"/>
              </a:rPr>
              <a:t>owns the conversation</a:t>
            </a:r>
          </a:p>
        </p:txBody>
      </p:sp>
      <p:sp>
        <p:nvSpPr>
          <p:cNvPr id="4" name="Down Arrow 3"/>
          <p:cNvSpPr/>
          <p:nvPr/>
        </p:nvSpPr>
        <p:spPr>
          <a:xfrm>
            <a:off x="4489704" y="2185416"/>
            <a:ext cx="164592" cy="237744"/>
          </a:xfrm>
          <a:prstGeom prst="down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2487168"/>
            <a:ext cx="2514600" cy="822960"/>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a:solidFill>
                  <a:srgbClr val="1B2A41"/>
                </a:solidFill>
                <a:latin typeface="Arial"/>
              </a:rPr>
              <a:t>Child agent</a:t>
            </a:r>
          </a:p>
          <a:p>
            <a:pPr algn="ctr"/>
            <a:r>
              <a:rPr sz="1100" b="0">
                <a:solidFill>
                  <a:srgbClr val="1B2A41"/>
                </a:solidFill>
                <a:latin typeface="Arial"/>
              </a:rPr>
              <a:t>specialized work inside</a:t>
            </a:r>
          </a:p>
          <a:p>
            <a:pPr algn="ctr"/>
            <a:r>
              <a:rPr sz="1100" b="0">
                <a:solidFill>
                  <a:srgbClr val="1B2A41"/>
                </a:solidFill>
                <a:latin typeface="Arial"/>
              </a:rPr>
              <a:t>the same agent</a:t>
            </a:r>
          </a:p>
        </p:txBody>
      </p:sp>
      <p:sp>
        <p:nvSpPr>
          <p:cNvPr id="6" name="Rounded Rectangle 5"/>
          <p:cNvSpPr/>
          <p:nvPr/>
        </p:nvSpPr>
        <p:spPr>
          <a:xfrm>
            <a:off x="3246120" y="2487168"/>
            <a:ext cx="2651760" cy="822960"/>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a:solidFill>
                  <a:srgbClr val="1B2A41"/>
                </a:solidFill>
                <a:latin typeface="Arial"/>
              </a:rPr>
              <a:t>Connected agent</a:t>
            </a:r>
          </a:p>
          <a:p>
            <a:pPr algn="ctr"/>
            <a:r>
              <a:rPr sz="1100" b="0">
                <a:solidFill>
                  <a:srgbClr val="1B2A41"/>
                </a:solidFill>
                <a:latin typeface="Arial"/>
              </a:rPr>
              <a:t>separately built,</a:t>
            </a:r>
          </a:p>
          <a:p>
            <a:pPr algn="ctr"/>
            <a:r>
              <a:rPr sz="1100" b="0">
                <a:solidFill>
                  <a:srgbClr val="1B2A41"/>
                </a:solidFill>
                <a:latin typeface="Arial"/>
              </a:rPr>
              <a:t>separately managed</a:t>
            </a:r>
          </a:p>
        </p:txBody>
      </p:sp>
      <p:sp>
        <p:nvSpPr>
          <p:cNvPr id="7" name="Rounded Rectangle 6"/>
          <p:cNvSpPr/>
          <p:nvPr/>
        </p:nvSpPr>
        <p:spPr>
          <a:xfrm>
            <a:off x="6126480" y="2487168"/>
            <a:ext cx="2514600" cy="822960"/>
          </a:xfrm>
          <a:prstGeom prst="roundRect">
            <a:avLst/>
          </a:prstGeom>
          <a:solidFill>
            <a:srgbClr val="EEF1F4"/>
          </a:solidFill>
          <a:ln w="15875">
            <a:solidFill>
              <a:srgbClr val="4A60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a:solidFill>
                  <a:srgbClr val="1B2A41"/>
                </a:solidFill>
                <a:latin typeface="Arial"/>
              </a:rPr>
              <a:t>A2A</a:t>
            </a:r>
          </a:p>
          <a:p>
            <a:pPr algn="ctr"/>
            <a:r>
              <a:rPr sz="1100" b="0">
                <a:solidFill>
                  <a:srgbClr val="1B2A41"/>
                </a:solidFill>
                <a:latin typeface="Arial"/>
              </a:rPr>
              <a:t>a protocol for agents</a:t>
            </a:r>
          </a:p>
          <a:p>
            <a:pPr algn="ctr"/>
            <a:r>
              <a:rPr sz="1100" b="0">
                <a:solidFill>
                  <a:srgbClr val="1B2A41"/>
                </a:solidFill>
                <a:latin typeface="Arial"/>
              </a:rPr>
              <a:t>to talk to each other</a:t>
            </a:r>
          </a:p>
        </p:txBody>
      </p:sp>
      <p:sp>
        <p:nvSpPr>
          <p:cNvPr id="8" name="TextBox 7"/>
          <p:cNvSpPr txBox="1"/>
          <p:nvPr/>
        </p:nvSpPr>
        <p:spPr>
          <a:xfrm>
            <a:off x="502920" y="3529584"/>
            <a:ext cx="8138160" cy="868680"/>
          </a:xfrm>
          <a:prstGeom prst="rect">
            <a:avLst/>
          </a:prstGeom>
          <a:noFill/>
        </p:spPr>
        <p:txBody>
          <a:bodyPr wrap="square" lIns="18288" tIns="0" rIns="18288" bIns="0">
            <a:spAutoFit/>
          </a:bodyPr>
          <a:lstStyle/>
          <a:p>
            <a:pPr algn="l"/>
            <a:r>
              <a:rPr sz="1300" b="0">
                <a:solidFill>
                  <a:srgbClr val="1B2A41"/>
                </a:solidFill>
                <a:latin typeface="Arial"/>
              </a:rPr>
              <a:t>The planner picks a child or connected agent from its description, the same way it picks a tool.</a:t>
            </a:r>
          </a:p>
          <a:p>
            <a:pPr algn="l"/>
            <a:r>
              <a:rPr sz="1300" b="0">
                <a:solidFill>
                  <a:srgbClr val="1B2A41"/>
                </a:solidFill>
                <a:latin typeface="Arial"/>
              </a:rPr>
              <a:t>Split into another agent when the work has its own knowledge, its own owner, or its own release cadence.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Decision boundaries</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learn.microsoft.com/microsoft-copilot-studio/guidance/generative-orchestration</a:t>
            </a:r>
          </a:p>
        </p:txBody>
      </p:sp>
      <p:sp>
        <p:nvSpPr>
          <p:cNvPr id="5" name="Rounded Rectangle 4"/>
          <p:cNvSpPr/>
          <p:nvPr/>
        </p:nvSpPr>
        <p:spPr>
          <a:xfrm>
            <a:off x="502920" y="1444752"/>
            <a:ext cx="2587752" cy="640080"/>
          </a:xfrm>
          <a:prstGeom prst="roundRect">
            <a:avLst/>
          </a:prstGeom>
          <a:solidFill>
            <a:srgbClr val="EEF1F4"/>
          </a:solidFill>
          <a:ln w="15875">
            <a:solidFill>
              <a:srgbClr val="4A60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a:solidFill>
                  <a:srgbClr val="1B2A41"/>
                </a:solidFill>
                <a:latin typeface="Arial"/>
              </a:rPr>
              <a:t>Act</a:t>
            </a:r>
          </a:p>
        </p:txBody>
      </p:sp>
      <p:sp>
        <p:nvSpPr>
          <p:cNvPr id="6" name="TextBox 5"/>
          <p:cNvSpPr txBox="1"/>
          <p:nvPr/>
        </p:nvSpPr>
        <p:spPr>
          <a:xfrm>
            <a:off x="557784" y="2212848"/>
            <a:ext cx="2478024" cy="1554480"/>
          </a:xfrm>
          <a:prstGeom prst="rect">
            <a:avLst/>
          </a:prstGeom>
          <a:noFill/>
        </p:spPr>
        <p:txBody>
          <a:bodyPr wrap="square" lIns="18288" tIns="0" rIns="18288" bIns="0">
            <a:spAutoFit/>
          </a:bodyPr>
          <a:lstStyle/>
          <a:p>
            <a:pPr algn="l"/>
            <a:r>
              <a:rPr sz="1200" b="0">
                <a:solidFill>
                  <a:srgbClr val="1B2A41"/>
                </a:solidFill>
                <a:latin typeface="Arial"/>
              </a:rPr>
              <a:t>The agent proceeds with no confirmation.</a:t>
            </a:r>
          </a:p>
          <a:p>
            <a:pPr algn="l"/>
            <a:endParaRPr sz="1200" b="0">
              <a:solidFill>
                <a:srgbClr val="1B2A41"/>
              </a:solidFill>
              <a:latin typeface="Arial"/>
            </a:endParaRPr>
          </a:p>
          <a:p>
            <a:pPr algn="l"/>
            <a:r>
              <a:rPr sz="1200" b="0">
                <a:solidFill>
                  <a:srgbClr val="1B2A41"/>
                </a:solidFill>
                <a:latin typeface="Arial"/>
              </a:rPr>
              <a:t>Lookups, explanations, low-risk multistep work.</a:t>
            </a:r>
          </a:p>
        </p:txBody>
      </p:sp>
      <p:sp>
        <p:nvSpPr>
          <p:cNvPr id="7" name="Rounded Rectangle 6"/>
          <p:cNvSpPr/>
          <p:nvPr/>
        </p:nvSpPr>
        <p:spPr>
          <a:xfrm>
            <a:off x="3264408" y="1444752"/>
            <a:ext cx="2587752" cy="640080"/>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a:solidFill>
                  <a:srgbClr val="1B2A41"/>
                </a:solidFill>
                <a:latin typeface="Arial"/>
              </a:rPr>
              <a:t>Confirm</a:t>
            </a:r>
          </a:p>
        </p:txBody>
      </p:sp>
      <p:sp>
        <p:nvSpPr>
          <p:cNvPr id="8" name="TextBox 7"/>
          <p:cNvSpPr txBox="1"/>
          <p:nvPr/>
        </p:nvSpPr>
        <p:spPr>
          <a:xfrm>
            <a:off x="3319272" y="2212848"/>
            <a:ext cx="2478024" cy="1554480"/>
          </a:xfrm>
          <a:prstGeom prst="rect">
            <a:avLst/>
          </a:prstGeom>
          <a:noFill/>
        </p:spPr>
        <p:txBody>
          <a:bodyPr wrap="square" lIns="18288" tIns="0" rIns="18288" bIns="0">
            <a:spAutoFit/>
          </a:bodyPr>
          <a:lstStyle/>
          <a:p>
            <a:pPr algn="l"/>
            <a:r>
              <a:rPr sz="1200" b="0">
                <a:solidFill>
                  <a:srgbClr val="1B2A41"/>
                </a:solidFill>
                <a:latin typeface="Arial"/>
              </a:rPr>
              <a:t>The agent asks in the conversation before it acts.</a:t>
            </a:r>
          </a:p>
          <a:p>
            <a:pPr algn="l"/>
            <a:endParaRPr sz="1200" b="0">
              <a:solidFill>
                <a:srgbClr val="1B2A41"/>
              </a:solidFill>
              <a:latin typeface="Arial"/>
            </a:endParaRPr>
          </a:p>
          <a:p>
            <a:pPr algn="l"/>
            <a:r>
              <a:rPr sz="1200" b="0">
                <a:solidFill>
                  <a:srgbClr val="1B2A41"/>
                </a:solidFill>
                <a:latin typeface="Arial"/>
              </a:rPr>
              <a:t>Anything the user would want to see stated back.</a:t>
            </a:r>
          </a:p>
        </p:txBody>
      </p:sp>
      <p:sp>
        <p:nvSpPr>
          <p:cNvPr id="9" name="Rounded Rectangle 8"/>
          <p:cNvSpPr/>
          <p:nvPr/>
        </p:nvSpPr>
        <p:spPr>
          <a:xfrm>
            <a:off x="6025896" y="1444752"/>
            <a:ext cx="2587752" cy="640080"/>
          </a:xfrm>
          <a:prstGeom prst="roundRect">
            <a:avLst/>
          </a:prstGeom>
          <a:solidFill>
            <a:srgbClr val="FAEBD8"/>
          </a:solidFill>
          <a:ln w="15875">
            <a:solidFill>
              <a:srgbClr val="B5620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a:solidFill>
                  <a:srgbClr val="1B2A41"/>
                </a:solidFill>
                <a:latin typeface="Arial"/>
              </a:rPr>
              <a:t>Approve</a:t>
            </a:r>
          </a:p>
        </p:txBody>
      </p:sp>
      <p:sp>
        <p:nvSpPr>
          <p:cNvPr id="10" name="TextBox 9"/>
          <p:cNvSpPr txBox="1"/>
          <p:nvPr/>
        </p:nvSpPr>
        <p:spPr>
          <a:xfrm>
            <a:off x="6080759" y="2212848"/>
            <a:ext cx="2478024" cy="1554480"/>
          </a:xfrm>
          <a:prstGeom prst="rect">
            <a:avLst/>
          </a:prstGeom>
          <a:noFill/>
        </p:spPr>
        <p:txBody>
          <a:bodyPr wrap="square" lIns="18288" tIns="0" rIns="18288" bIns="0">
            <a:spAutoFit/>
          </a:bodyPr>
          <a:lstStyle/>
          <a:p>
            <a:pPr algn="l"/>
            <a:r>
              <a:rPr sz="1200" b="0">
                <a:solidFill>
                  <a:srgbClr val="1B2A41"/>
                </a:solidFill>
                <a:latin typeface="Arial"/>
              </a:rPr>
              <a:t>A human approves outside the conversation.</a:t>
            </a:r>
          </a:p>
          <a:p>
            <a:pPr algn="l"/>
            <a:endParaRPr sz="1200" b="0">
              <a:solidFill>
                <a:srgbClr val="1B2A41"/>
              </a:solidFill>
              <a:latin typeface="Arial"/>
            </a:endParaRPr>
          </a:p>
          <a:p>
            <a:pPr algn="l"/>
            <a:r>
              <a:rPr sz="1200" b="0">
                <a:solidFill>
                  <a:srgbClr val="1B2A41"/>
                </a:solidFill>
                <a:latin typeface="Arial"/>
              </a:rPr>
              <a:t>Irreversible work, spend, records, access changes.</a:t>
            </a:r>
          </a:p>
        </p:txBody>
      </p:sp>
      <p:sp>
        <p:nvSpPr>
          <p:cNvPr id="11" name="TextBox 10"/>
          <p:cNvSpPr txBox="1"/>
          <p:nvPr/>
        </p:nvSpPr>
        <p:spPr>
          <a:xfrm>
            <a:off x="502920" y="3931920"/>
            <a:ext cx="8138160" cy="731520"/>
          </a:xfrm>
          <a:prstGeom prst="rect">
            <a:avLst/>
          </a:prstGeom>
          <a:noFill/>
        </p:spPr>
        <p:txBody>
          <a:bodyPr wrap="square" lIns="18288" tIns="0" rIns="18288" bIns="0">
            <a:spAutoFit/>
          </a:bodyPr>
          <a:lstStyle/>
          <a:p>
            <a:pPr algn="l"/>
            <a:r>
              <a:rPr sz="1300" b="0">
                <a:solidFill>
                  <a:srgbClr val="1B2A41"/>
                </a:solidFill>
                <a:latin typeface="Arial"/>
              </a:rPr>
              <a:t>Enforce the boundary in the design: a confirmation node, the platform's approval feature, or logic in the trigger. An instruction is not an enforcement point.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Authority and human handoff</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learn.microsoft.com/microsoft-copilot-studio/guidance/implement-checklist</a:t>
            </a:r>
          </a:p>
        </p:txBody>
      </p:sp>
      <p:graphicFrame>
        <p:nvGraphicFramePr>
          <p:cNvPr id="5" name="Table 4"/>
          <p:cNvGraphicFramePr>
            <a:graphicFrameLocks noGrp="1"/>
          </p:cNvGraphicFramePr>
          <p:nvPr/>
        </p:nvGraphicFramePr>
        <p:xfrm>
          <a:off x="502920" y="1335024"/>
          <a:ext cx="8138159" cy="3346704"/>
        </p:xfrm>
        <a:graphic>
          <a:graphicData uri="http://schemas.openxmlformats.org/drawingml/2006/table">
            <a:tbl>
              <a:tblPr>
                <a:tableStyleId>{2D5ABB26-0587-4C30-8999-92F81FD0307C}</a:tableStyleId>
              </a:tblPr>
              <a:tblGrid>
                <a:gridCol w="3092500">
                  <a:extLst>
                    <a:ext uri="{9D8B030D-6E8A-4147-A177-3AD203B41FA5}">
                      <a16:colId xmlns:a16="http://schemas.microsoft.com/office/drawing/2014/main" val="20000"/>
                    </a:ext>
                  </a:extLst>
                </a:gridCol>
                <a:gridCol w="5045659">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Claim</a:t>
                      </a:r>
                    </a:p>
                  </a:txBody>
                  <a:tcPr marR="73152" marT="36576" marB="36576" anchor="ctr">
                    <a:solidFill>
                      <a:srgbClr val="1B2A41"/>
                    </a:solidFill>
                  </a:tcPr>
                </a:tc>
                <a:tc>
                  <a:txBody>
                    <a:bodyPr/>
                    <a:lstStyle/>
                    <a:p>
                      <a:r>
                        <a:rPr sz="1400" b="1">
                          <a:solidFill>
                            <a:srgbClr val="FFFFFF"/>
                          </a:solidFill>
                          <a:latin typeface="Arial"/>
                        </a:rPr>
                        <a:t>Evidence required</a:t>
                      </a:r>
                    </a:p>
                  </a:txBody>
                  <a:tcPr marR="73152" marT="36576" marB="36576" anchor="ctr">
                    <a:solidFill>
                      <a:srgbClr val="1B2A41"/>
                    </a:solidFill>
                  </a:tcPr>
                </a:tc>
                <a:extLst>
                  <a:ext uri="{0D108BD9-81ED-4DB2-BD59-A6C34878D82A}">
                    <a16:rowId xmlns:a16="http://schemas.microsoft.com/office/drawing/2014/main" val="10000"/>
                  </a:ext>
                </a:extLst>
              </a:tr>
              <a:tr h="745236">
                <a:tc>
                  <a:txBody>
                    <a:bodyPr/>
                    <a:lstStyle/>
                    <a:p>
                      <a:r>
                        <a:rPr sz="1400" b="1">
                          <a:solidFill>
                            <a:srgbClr val="1B2A41"/>
                          </a:solidFill>
                          <a:latin typeface="Arial"/>
                        </a:rPr>
                        <a:t>"Contact your mentor"</a:t>
                      </a:r>
                    </a:p>
                  </a:txBody>
                  <a:tcPr marR="73152" marT="36576" marB="36576" anchor="ctr">
                    <a:solidFill>
                      <a:srgbClr val="FFFFFF"/>
                    </a:solidFill>
                  </a:tcPr>
                </a:tc>
                <a:tc>
                  <a:txBody>
                    <a:bodyPr/>
                    <a:lstStyle/>
                    <a:p>
                      <a:r>
                        <a:rPr sz="1400" b="0">
                          <a:solidFill>
                            <a:srgbClr val="1B2A41"/>
                          </a:solidFill>
                          <a:latin typeface="Arial"/>
                        </a:rPr>
                        <a:t>A truthful route the user can actually take</a:t>
                      </a:r>
                    </a:p>
                  </a:txBody>
                  <a:tcPr marR="73152" marT="36576" marB="36576" anchor="ctr">
                    <a:solidFill>
                      <a:srgbClr val="FFFFFF"/>
                    </a:solidFill>
                  </a:tcPr>
                </a:tc>
                <a:extLst>
                  <a:ext uri="{0D108BD9-81ED-4DB2-BD59-A6C34878D82A}">
                    <a16:rowId xmlns:a16="http://schemas.microsoft.com/office/drawing/2014/main" val="10001"/>
                  </a:ext>
                </a:extLst>
              </a:tr>
              <a:tr h="745236">
                <a:tc>
                  <a:txBody>
                    <a:bodyPr/>
                    <a:lstStyle/>
                    <a:p>
                      <a:r>
                        <a:rPr sz="1400" b="1">
                          <a:solidFill>
                            <a:srgbClr val="1B2A41"/>
                          </a:solidFill>
                          <a:latin typeface="Arial"/>
                        </a:rPr>
                        <a:t>"I submitted your request"</a:t>
                      </a:r>
                    </a:p>
                  </a:txBody>
                  <a:tcPr marR="73152" marT="36576" marB="36576" anchor="ctr">
                    <a:solidFill>
                      <a:srgbClr val="EEF1F4"/>
                    </a:solidFill>
                  </a:tcPr>
                </a:tc>
                <a:tc>
                  <a:txBody>
                    <a:bodyPr/>
                    <a:lstStyle/>
                    <a:p>
                      <a:r>
                        <a:rPr sz="1400" b="0">
                          <a:solidFill>
                            <a:srgbClr val="1B2A41"/>
                          </a:solidFill>
                          <a:latin typeface="Arial"/>
                        </a:rPr>
                        <a:t>A real authorized operation and a returned receipt</a:t>
                      </a:r>
                    </a:p>
                  </a:txBody>
                  <a:tcPr marR="73152" marT="36576" marB="36576" anchor="ctr">
                    <a:solidFill>
                      <a:srgbClr val="EEF1F4"/>
                    </a:solidFill>
                  </a:tcPr>
                </a:tc>
                <a:extLst>
                  <a:ext uri="{0D108BD9-81ED-4DB2-BD59-A6C34878D82A}">
                    <a16:rowId xmlns:a16="http://schemas.microsoft.com/office/drawing/2014/main" val="10002"/>
                  </a:ext>
                </a:extLst>
              </a:tr>
              <a:tr h="745236">
                <a:tc>
                  <a:txBody>
                    <a:bodyPr/>
                    <a:lstStyle/>
                    <a:p>
                      <a:r>
                        <a:rPr sz="1400" b="1">
                          <a:solidFill>
                            <a:srgbClr val="1B2A41"/>
                          </a:solidFill>
                          <a:latin typeface="Arial"/>
                        </a:rPr>
                        <a:t>"You are connected to a person"</a:t>
                      </a:r>
                    </a:p>
                  </a:txBody>
                  <a:tcPr marR="73152" marT="36576" marB="36576" anchor="ctr">
                    <a:solidFill>
                      <a:srgbClr val="FFFFFF"/>
                    </a:solidFill>
                  </a:tcPr>
                </a:tc>
                <a:tc>
                  <a:txBody>
                    <a:bodyPr/>
                    <a:lstStyle/>
                    <a:p>
                      <a:r>
                        <a:rPr sz="1400" b="0">
                          <a:solidFill>
                            <a:srgbClr val="1B2A41"/>
                          </a:solidFill>
                          <a:latin typeface="Arial"/>
                        </a:rPr>
                        <a:t>A supported handoff and an accepted transfer</a:t>
                      </a:r>
                    </a:p>
                  </a:txBody>
                  <a:tcPr marR="73152" marT="36576" marB="36576" anchor="ctr">
                    <a:solidFill>
                      <a:srgbClr val="FFFFFF"/>
                    </a:solidFill>
                  </a:tcPr>
                </a:tc>
                <a:extLst>
                  <a:ext uri="{0D108BD9-81ED-4DB2-BD59-A6C34878D82A}">
                    <a16:rowId xmlns:a16="http://schemas.microsoft.com/office/drawing/2014/main" val="10003"/>
                  </a:ext>
                </a:extLst>
              </a:tr>
              <a:tr h="745236">
                <a:tc>
                  <a:txBody>
                    <a:bodyPr/>
                    <a:lstStyle/>
                    <a:p>
                      <a:r>
                        <a:rPr sz="1400" b="1">
                          <a:solidFill>
                            <a:srgbClr val="1B2A41"/>
                          </a:solidFill>
                          <a:latin typeface="Arial"/>
                        </a:rPr>
                        <a:t>"The tool can access this data"</a:t>
                      </a:r>
                    </a:p>
                  </a:txBody>
                  <a:tcPr marR="73152" marT="36576" marB="36576" anchor="ctr">
                    <a:solidFill>
                      <a:srgbClr val="EEF1F4"/>
                    </a:solidFill>
                  </a:tcPr>
                </a:tc>
                <a:tc>
                  <a:txBody>
                    <a:bodyPr/>
                    <a:lstStyle/>
                    <a:p>
                      <a:r>
                        <a:rPr sz="1400" b="0">
                          <a:solidFill>
                            <a:srgbClr val="1B2A41"/>
                          </a:solidFill>
                          <a:latin typeface="Arial"/>
                        </a:rPr>
                        <a:t>The intended identity and policy allow that access</a:t>
                      </a:r>
                    </a:p>
                  </a:txBody>
                  <a:tcPr marR="73152" marT="36576" marB="36576" anchor="ctr">
                    <a:solidFill>
                      <a:srgbClr val="EEF1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Specifying a tool</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900" b="0">
                <a:latin typeface="Arial"/>
              </a:rPr>
              <a:t>Name the input, its type, and whether it is required</a:t>
            </a:r>
          </a:p>
          <a:p>
            <a:pPr>
              <a:spcAft>
                <a:spcPts val="800"/>
              </a:spcAft>
            </a:pPr>
            <a:r>
              <a:rPr sz="1900" b="0">
                <a:latin typeface="Arial"/>
              </a:rPr>
              <a:t>Name the expected output and what a success value looks like</a:t>
            </a:r>
          </a:p>
          <a:p>
            <a:pPr>
              <a:spcAft>
                <a:spcPts val="800"/>
              </a:spcAft>
            </a:pPr>
            <a:r>
              <a:rPr sz="1900" b="0">
                <a:latin typeface="Arial"/>
              </a:rPr>
              <a:t>Separate an unsupported input value from an unavailable tool</a:t>
            </a:r>
          </a:p>
          <a:p>
            <a:pPr>
              <a:spcAft>
                <a:spcPts val="800"/>
              </a:spcAft>
            </a:pPr>
            <a:r>
              <a:rPr sz="1900" b="0">
                <a:latin typeface="Arial"/>
              </a:rPr>
              <a:t>Name one request in your own scenario that has to go to a human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1783080"/>
            <a:ext cx="8129016" cy="1554480"/>
          </a:xfrm>
        </p:spPr>
        <p:txBody>
          <a:bodyPr wrap="square"/>
          <a:lstStyle/>
          <a:p>
            <a:r>
              <a:rPr sz="3000" b="1">
                <a:latin typeface="Arial"/>
              </a:rPr>
              <a:t>10-minute break</a:t>
            </a:r>
          </a:p>
          <a:p>
            <a:r>
              <a:rPr sz="2200" b="1">
                <a:latin typeface="Arial"/>
              </a:rPr>
              <a:t>Return at noon Central</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1783080"/>
            <a:ext cx="8129016" cy="1554480"/>
          </a:xfrm>
        </p:spPr>
        <p:txBody>
          <a:bodyPr wrap="square"/>
          <a:lstStyle/>
          <a:p>
            <a:r>
              <a:rPr sz="3000" b="1">
                <a:latin typeface="Arial"/>
              </a:rPr>
              <a:t>Segment 4</a:t>
            </a:r>
          </a:p>
          <a:p>
            <a:r>
              <a:rPr sz="2200" b="1">
                <a:latin typeface="Arial"/>
              </a:rPr>
              <a:t>Operate: evaluate, govern, publish</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Evaluation sets and what each answers</a:t>
            </a:r>
          </a:p>
        </p:txBody>
      </p:sp>
      <p:graphicFrame>
        <p:nvGraphicFramePr>
          <p:cNvPr id="3" name="Table 2"/>
          <p:cNvGraphicFramePr>
            <a:graphicFrameLocks noGrp="1"/>
          </p:cNvGraphicFramePr>
          <p:nvPr/>
        </p:nvGraphicFramePr>
        <p:xfrm>
          <a:off x="502920" y="1335024"/>
          <a:ext cx="8138159" cy="3346704"/>
        </p:xfrm>
        <a:graphic>
          <a:graphicData uri="http://schemas.openxmlformats.org/drawingml/2006/table">
            <a:tbl>
              <a:tblPr>
                <a:tableStyleId>{2D5ABB26-0587-4C30-8999-92F81FD0307C}</a:tableStyleId>
              </a:tblPr>
              <a:tblGrid>
                <a:gridCol w="3418027">
                  <a:extLst>
                    <a:ext uri="{9D8B030D-6E8A-4147-A177-3AD203B41FA5}">
                      <a16:colId xmlns:a16="http://schemas.microsoft.com/office/drawing/2014/main" val="20000"/>
                    </a:ext>
                  </a:extLst>
                </a:gridCol>
                <a:gridCol w="4720132">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Prepared set</a:t>
                      </a:r>
                    </a:p>
                  </a:txBody>
                  <a:tcPr marR="73152" marT="36576" marB="36576" anchor="ctr">
                    <a:solidFill>
                      <a:srgbClr val="1B2A41"/>
                    </a:solidFill>
                  </a:tcPr>
                </a:tc>
                <a:tc>
                  <a:txBody>
                    <a:bodyPr/>
                    <a:lstStyle/>
                    <a:p>
                      <a:r>
                        <a:rPr sz="1400" b="1">
                          <a:solidFill>
                            <a:srgbClr val="FFFFFF"/>
                          </a:solidFill>
                          <a:latin typeface="Arial"/>
                        </a:rPr>
                        <a:t>Question it answers</a:t>
                      </a:r>
                    </a:p>
                  </a:txBody>
                  <a:tcPr marR="73152" marT="36576" marB="36576" anchor="ctr">
                    <a:solidFill>
                      <a:srgbClr val="1B2A41"/>
                    </a:solidFill>
                  </a:tcPr>
                </a:tc>
                <a:extLst>
                  <a:ext uri="{0D108BD9-81ED-4DB2-BD59-A6C34878D82A}">
                    <a16:rowId xmlns:a16="http://schemas.microsoft.com/office/drawing/2014/main" val="10000"/>
                  </a:ext>
                </a:extLst>
              </a:tr>
              <a:tr h="993648">
                <a:tc>
                  <a:txBody>
                    <a:bodyPr/>
                    <a:lstStyle/>
                    <a:p>
                      <a:r>
                        <a:rPr sz="1400" b="1">
                          <a:solidFill>
                            <a:srgbClr val="1B2A41"/>
                          </a:solidFill>
                          <a:latin typeface="Arial"/>
                        </a:rPr>
                        <a:t>AI901-live-three  (E04, E05, E08)</a:t>
                      </a:r>
                    </a:p>
                  </a:txBody>
                  <a:tcPr marR="73152" marT="36576" marB="36576" anchor="ctr">
                    <a:solidFill>
                      <a:srgbClr val="FFFFFF"/>
                    </a:solidFill>
                  </a:tcPr>
                </a:tc>
                <a:tc>
                  <a:txBody>
                    <a:bodyPr/>
                    <a:lstStyle/>
                    <a:p>
                      <a:r>
                        <a:rPr sz="1400" b="0">
                          <a:solidFill>
                            <a:srgbClr val="1B2A41"/>
                          </a:solidFill>
                          <a:latin typeface="Arial"/>
                        </a:rPr>
                        <a:t>Does the response match the expected meaning?</a:t>
                      </a:r>
                    </a:p>
                  </a:txBody>
                  <a:tcPr marR="73152" marT="36576" marB="36576" anchor="ctr">
                    <a:solidFill>
                      <a:srgbClr val="FFFFFF"/>
                    </a:solidFill>
                  </a:tcPr>
                </a:tc>
                <a:extLst>
                  <a:ext uri="{0D108BD9-81ED-4DB2-BD59-A6C34878D82A}">
                    <a16:rowId xmlns:a16="http://schemas.microsoft.com/office/drawing/2014/main" val="10001"/>
                  </a:ext>
                </a:extLst>
              </a:tr>
              <a:tr h="993648">
                <a:tc>
                  <a:txBody>
                    <a:bodyPr/>
                    <a:lstStyle/>
                    <a:p>
                      <a:r>
                        <a:rPr sz="1400" b="1">
                          <a:solidFill>
                            <a:srgbClr val="1B2A41"/>
                          </a:solidFill>
                          <a:latin typeface="Arial"/>
                        </a:rPr>
                        <a:t>AI901-tool-one  (E08 only)</a:t>
                      </a:r>
                    </a:p>
                  </a:txBody>
                  <a:tcPr marR="73152" marT="36576" marB="36576" anchor="ctr">
                    <a:solidFill>
                      <a:srgbClr val="EEF1F4"/>
                    </a:solidFill>
                  </a:tcPr>
                </a:tc>
                <a:tc>
                  <a:txBody>
                    <a:bodyPr/>
                    <a:lstStyle/>
                    <a:p>
                      <a:r>
                        <a:rPr sz="1400" b="0">
                          <a:solidFill>
                            <a:srgbClr val="1B2A41"/>
                          </a:solidFill>
                          <a:latin typeface="Arial"/>
                        </a:rPr>
                        <a:t>Did it use the actual GetStudySession capability?</a:t>
                      </a:r>
                    </a:p>
                  </a:txBody>
                  <a:tcPr marR="73152" marT="36576" marB="36576" anchor="ctr">
                    <a:solidFill>
                      <a:srgbClr val="EEF1F4"/>
                    </a:solidFill>
                  </a:tcPr>
                </a:tc>
                <a:extLst>
                  <a:ext uri="{0D108BD9-81ED-4DB2-BD59-A6C34878D82A}">
                    <a16:rowId xmlns:a16="http://schemas.microsoft.com/office/drawing/2014/main" val="10002"/>
                  </a:ext>
                </a:extLst>
              </a:tr>
              <a:tr h="993648">
                <a:tc>
                  <a:txBody>
                    <a:bodyPr/>
                    <a:lstStyle/>
                    <a:p>
                      <a:r>
                        <a:rPr sz="1400" b="1">
                          <a:solidFill>
                            <a:srgbClr val="1B2A41"/>
                          </a:solidFill>
                          <a:latin typeface="Arial"/>
                        </a:rPr>
                        <a:t>Separate manual conversation</a:t>
                      </a:r>
                    </a:p>
                  </a:txBody>
                  <a:tcPr marR="73152" marT="36576" marB="36576" anchor="ctr">
                    <a:solidFill>
                      <a:srgbClr val="FFFFFF"/>
                    </a:solidFill>
                  </a:tcPr>
                </a:tc>
                <a:tc>
                  <a:txBody>
                    <a:bodyPr/>
                    <a:lstStyle/>
                    <a:p>
                      <a:r>
                        <a:rPr sz="1400" b="0">
                          <a:solidFill>
                            <a:srgbClr val="1B2A41"/>
                          </a:solidFill>
                          <a:latin typeface="Arial"/>
                        </a:rPr>
                        <a:t>Did the topic wait, then give the correct feedback?</a:t>
                      </a:r>
                    </a:p>
                  </a:txBody>
                  <a:tcPr marR="73152" marT="36576" marB="36576"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A score and an execution trace</a:t>
            </a:r>
          </a:p>
        </p:txBody>
      </p:sp>
      <p:sp>
        <p:nvSpPr>
          <p:cNvPr id="3" name="Rounded Rectangle 2"/>
          <p:cNvSpPr/>
          <p:nvPr/>
        </p:nvSpPr>
        <p:spPr>
          <a:xfrm>
            <a:off x="502920" y="1536192"/>
            <a:ext cx="1422806" cy="786384"/>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Same test set</a:t>
            </a:r>
          </a:p>
        </p:txBody>
      </p:sp>
      <p:sp>
        <p:nvSpPr>
          <p:cNvPr id="4" name="Right Arrow 3"/>
          <p:cNvSpPr/>
          <p:nvPr/>
        </p:nvSpPr>
        <p:spPr>
          <a:xfrm>
            <a:off x="1966874" y="1847088"/>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2432304"/>
            <a:ext cx="1422806" cy="914400"/>
          </a:xfrm>
          <a:prstGeom prst="rect">
            <a:avLst/>
          </a:prstGeom>
          <a:noFill/>
        </p:spPr>
        <p:txBody>
          <a:bodyPr wrap="square" lIns="18288" tIns="0" rIns="18288" bIns="0">
            <a:spAutoFit/>
          </a:bodyPr>
          <a:lstStyle/>
          <a:p>
            <a:pPr algn="ctr"/>
            <a:r>
              <a:rPr sz="1100" b="0">
                <a:solidFill>
                  <a:srgbClr val="4A6076"/>
                </a:solidFill>
                <a:latin typeface="Arial"/>
              </a:rPr>
              <a:t>Fixed inputs and</a:t>
            </a:r>
          </a:p>
          <a:p>
            <a:pPr algn="ctr"/>
            <a:r>
              <a:rPr sz="1100" b="0">
                <a:solidFill>
                  <a:srgbClr val="4A6076"/>
                </a:solidFill>
                <a:latin typeface="Arial"/>
              </a:rPr>
              <a:t>expected meanings</a:t>
            </a:r>
          </a:p>
        </p:txBody>
      </p:sp>
      <p:sp>
        <p:nvSpPr>
          <p:cNvPr id="6" name="Rounded Rectangle 5"/>
          <p:cNvSpPr/>
          <p:nvPr/>
        </p:nvSpPr>
        <p:spPr>
          <a:xfrm>
            <a:off x="2181758" y="1536192"/>
            <a:ext cx="1422806" cy="786384"/>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Run before</a:t>
            </a:r>
          </a:p>
        </p:txBody>
      </p:sp>
      <p:sp>
        <p:nvSpPr>
          <p:cNvPr id="7" name="Right Arrow 6"/>
          <p:cNvSpPr/>
          <p:nvPr/>
        </p:nvSpPr>
        <p:spPr>
          <a:xfrm>
            <a:off x="3645712" y="1847088"/>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81758" y="2432304"/>
            <a:ext cx="1422806" cy="914400"/>
          </a:xfrm>
          <a:prstGeom prst="rect">
            <a:avLst/>
          </a:prstGeom>
          <a:noFill/>
        </p:spPr>
        <p:txBody>
          <a:bodyPr wrap="square" lIns="18288" tIns="0" rIns="18288" bIns="0">
            <a:spAutoFit/>
          </a:bodyPr>
          <a:lstStyle/>
          <a:p>
            <a:pPr algn="ctr"/>
            <a:r>
              <a:rPr sz="1100" b="0">
                <a:solidFill>
                  <a:srgbClr val="4A6076"/>
                </a:solidFill>
                <a:latin typeface="Arial"/>
              </a:rPr>
              <a:t>Record the baseline</a:t>
            </a:r>
          </a:p>
          <a:p>
            <a:pPr algn="ctr"/>
            <a:r>
              <a:rPr sz="1100" b="0">
                <a:solidFill>
                  <a:srgbClr val="4A6076"/>
                </a:solidFill>
                <a:latin typeface="Arial"/>
              </a:rPr>
              <a:t>result per case</a:t>
            </a:r>
          </a:p>
        </p:txBody>
      </p:sp>
      <p:sp>
        <p:nvSpPr>
          <p:cNvPr id="9" name="Rounded Rectangle 8"/>
          <p:cNvSpPr/>
          <p:nvPr/>
        </p:nvSpPr>
        <p:spPr>
          <a:xfrm>
            <a:off x="3860596" y="1536192"/>
            <a:ext cx="1422806" cy="786384"/>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One change</a:t>
            </a:r>
          </a:p>
        </p:txBody>
      </p:sp>
      <p:sp>
        <p:nvSpPr>
          <p:cNvPr id="10" name="Right Arrow 9"/>
          <p:cNvSpPr/>
          <p:nvPr/>
        </p:nvSpPr>
        <p:spPr>
          <a:xfrm>
            <a:off x="5324551" y="1847088"/>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60596" y="2432304"/>
            <a:ext cx="1422806" cy="914400"/>
          </a:xfrm>
          <a:prstGeom prst="rect">
            <a:avLst/>
          </a:prstGeom>
          <a:noFill/>
        </p:spPr>
        <p:txBody>
          <a:bodyPr wrap="square" lIns="18288" tIns="0" rIns="18288" bIns="0">
            <a:spAutoFit/>
          </a:bodyPr>
          <a:lstStyle/>
          <a:p>
            <a:pPr algn="ctr"/>
            <a:r>
              <a:rPr sz="1100" b="0">
                <a:solidFill>
                  <a:srgbClr val="4A6076"/>
                </a:solidFill>
                <a:latin typeface="Arial"/>
              </a:rPr>
              <a:t>Change exactly one</a:t>
            </a:r>
          </a:p>
          <a:p>
            <a:pPr algn="ctr"/>
            <a:r>
              <a:rPr sz="1100" b="0">
                <a:solidFill>
                  <a:srgbClr val="4A6076"/>
                </a:solidFill>
                <a:latin typeface="Arial"/>
              </a:rPr>
              <a:t>thing, then stop</a:t>
            </a:r>
          </a:p>
        </p:txBody>
      </p:sp>
      <p:sp>
        <p:nvSpPr>
          <p:cNvPr id="12" name="Rounded Rectangle 11"/>
          <p:cNvSpPr/>
          <p:nvPr/>
        </p:nvSpPr>
        <p:spPr>
          <a:xfrm>
            <a:off x="5539435" y="1536192"/>
            <a:ext cx="1422806" cy="786384"/>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Run after</a:t>
            </a:r>
          </a:p>
        </p:txBody>
      </p:sp>
      <p:sp>
        <p:nvSpPr>
          <p:cNvPr id="13" name="Right Arrow 12"/>
          <p:cNvSpPr/>
          <p:nvPr/>
        </p:nvSpPr>
        <p:spPr>
          <a:xfrm>
            <a:off x="7003389" y="1847088"/>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539435" y="2432304"/>
            <a:ext cx="1422806" cy="914400"/>
          </a:xfrm>
          <a:prstGeom prst="rect">
            <a:avLst/>
          </a:prstGeom>
          <a:noFill/>
        </p:spPr>
        <p:txBody>
          <a:bodyPr wrap="square" lIns="18288" tIns="0" rIns="18288" bIns="0">
            <a:spAutoFit/>
          </a:bodyPr>
          <a:lstStyle/>
          <a:p>
            <a:pPr algn="ctr"/>
            <a:r>
              <a:rPr sz="1100" b="0">
                <a:solidFill>
                  <a:srgbClr val="4A6076"/>
                </a:solidFill>
                <a:latin typeface="Arial"/>
              </a:rPr>
              <a:t>Same set, same</a:t>
            </a:r>
          </a:p>
          <a:p>
            <a:pPr algn="ctr"/>
            <a:r>
              <a:rPr sz="1100" b="0">
                <a:solidFill>
                  <a:srgbClr val="4A6076"/>
                </a:solidFill>
                <a:latin typeface="Arial"/>
              </a:rPr>
              <a:t>conditions</a:t>
            </a:r>
          </a:p>
        </p:txBody>
      </p:sp>
      <p:sp>
        <p:nvSpPr>
          <p:cNvPr id="15" name="Rounded Rectangle 14"/>
          <p:cNvSpPr/>
          <p:nvPr/>
        </p:nvSpPr>
        <p:spPr>
          <a:xfrm>
            <a:off x="7218273" y="1536192"/>
            <a:ext cx="1422806" cy="786384"/>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Compare</a:t>
            </a:r>
          </a:p>
        </p:txBody>
      </p:sp>
      <p:sp>
        <p:nvSpPr>
          <p:cNvPr id="16" name="TextBox 15"/>
          <p:cNvSpPr txBox="1"/>
          <p:nvPr/>
        </p:nvSpPr>
        <p:spPr>
          <a:xfrm>
            <a:off x="7218273" y="2432304"/>
            <a:ext cx="1422806" cy="914400"/>
          </a:xfrm>
          <a:prstGeom prst="rect">
            <a:avLst/>
          </a:prstGeom>
          <a:noFill/>
        </p:spPr>
        <p:txBody>
          <a:bodyPr wrap="square" lIns="18288" tIns="0" rIns="18288" bIns="0">
            <a:spAutoFit/>
          </a:bodyPr>
          <a:lstStyle/>
          <a:p>
            <a:pPr algn="ctr"/>
            <a:r>
              <a:rPr sz="1100" b="0">
                <a:solidFill>
                  <a:srgbClr val="4A6076"/>
                </a:solidFill>
                <a:latin typeface="Arial"/>
              </a:rPr>
              <a:t>Per case, plus the</a:t>
            </a:r>
          </a:p>
          <a:p>
            <a:pPr algn="ctr"/>
            <a:r>
              <a:rPr sz="1100" b="0">
                <a:solidFill>
                  <a:srgbClr val="4A6076"/>
                </a:solidFill>
                <a:latin typeface="Arial"/>
              </a:rPr>
              <a:t>source and tool trace</a:t>
            </a:r>
          </a:p>
        </p:txBody>
      </p:sp>
      <p:sp>
        <p:nvSpPr>
          <p:cNvPr id="17" name="TextBox 16"/>
          <p:cNvSpPr txBox="1"/>
          <p:nvPr/>
        </p:nvSpPr>
        <p:spPr>
          <a:xfrm>
            <a:off x="502920" y="3803904"/>
            <a:ext cx="8138160" cy="822960"/>
          </a:xfrm>
          <a:prstGeom prst="rect">
            <a:avLst/>
          </a:prstGeom>
          <a:noFill/>
        </p:spPr>
        <p:txBody>
          <a:bodyPr wrap="square" lIns="18288" tIns="0" rIns="18288" bIns="0">
            <a:spAutoFit/>
          </a:bodyPr>
          <a:lstStyle/>
          <a:p>
            <a:pPr algn="l"/>
            <a:r>
              <a:rPr sz="1300" b="0">
                <a:solidFill>
                  <a:srgbClr val="1B2A41"/>
                </a:solidFill>
                <a:latin typeface="Arial"/>
              </a:rPr>
              <a:t>Change one thing at a time. Two changes and one score movement tells you nothing about which change caused it.</a:t>
            </a:r>
          </a:p>
          <a:p>
            <a:pPr algn="l"/>
            <a:r>
              <a:rPr sz="1300" b="0">
                <a:solidFill>
                  <a:srgbClr val="1B2A41"/>
                </a:solidFill>
                <a:latin typeface="Arial"/>
              </a:rPr>
              <a:t>A green score on the wrong test set is a nicer way to be wrong.</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Conversational agent KPIs</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learn.microsoft.com/microsoft-copilot-studio/analytics-improve-agent-effectiveness</a:t>
            </a:r>
          </a:p>
        </p:txBody>
      </p:sp>
      <p:graphicFrame>
        <p:nvGraphicFramePr>
          <p:cNvPr id="5" name="Table 4"/>
          <p:cNvGraphicFramePr>
            <a:graphicFrameLocks noGrp="1"/>
          </p:cNvGraphicFramePr>
          <p:nvPr/>
        </p:nvGraphicFramePr>
        <p:xfrm>
          <a:off x="502920" y="1335024"/>
          <a:ext cx="8138159" cy="3346704"/>
        </p:xfrm>
        <a:graphic>
          <a:graphicData uri="http://schemas.openxmlformats.org/drawingml/2006/table">
            <a:tbl>
              <a:tblPr>
                <a:tableStyleId>{2D5ABB26-0587-4C30-8999-92F81FD0307C}</a:tableStyleId>
              </a:tblPr>
              <a:tblGrid>
                <a:gridCol w="1953158">
                  <a:extLst>
                    <a:ext uri="{9D8B030D-6E8A-4147-A177-3AD203B41FA5}">
                      <a16:colId xmlns:a16="http://schemas.microsoft.com/office/drawing/2014/main" val="20000"/>
                    </a:ext>
                  </a:extLst>
                </a:gridCol>
                <a:gridCol w="6185001">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Metric</a:t>
                      </a:r>
                    </a:p>
                  </a:txBody>
                  <a:tcPr marR="73152" marT="36576" marB="36576" anchor="ctr">
                    <a:solidFill>
                      <a:srgbClr val="1B2A41"/>
                    </a:solidFill>
                  </a:tcPr>
                </a:tc>
                <a:tc>
                  <a:txBody>
                    <a:bodyPr/>
                    <a:lstStyle/>
                    <a:p>
                      <a:r>
                        <a:rPr sz="1400" b="1">
                          <a:solidFill>
                            <a:srgbClr val="FFFFFF"/>
                          </a:solidFill>
                          <a:latin typeface="Arial"/>
                        </a:rPr>
                        <a:t>Definition</a:t>
                      </a:r>
                    </a:p>
                  </a:txBody>
                  <a:tcPr marR="73152" marT="36576" marB="36576" anchor="ctr">
                    <a:solidFill>
                      <a:srgbClr val="1B2A41"/>
                    </a:solidFill>
                  </a:tcPr>
                </a:tc>
                <a:extLst>
                  <a:ext uri="{0D108BD9-81ED-4DB2-BD59-A6C34878D82A}">
                    <a16:rowId xmlns:a16="http://schemas.microsoft.com/office/drawing/2014/main" val="10000"/>
                  </a:ext>
                </a:extLst>
              </a:tr>
              <a:tr h="496824">
                <a:tc>
                  <a:txBody>
                    <a:bodyPr/>
                    <a:lstStyle/>
                    <a:p>
                      <a:r>
                        <a:rPr sz="1300" b="1">
                          <a:solidFill>
                            <a:srgbClr val="1B2A41"/>
                          </a:solidFill>
                          <a:latin typeface="Arial"/>
                        </a:rPr>
                        <a:t>Total sessions</a:t>
                      </a:r>
                    </a:p>
                  </a:txBody>
                  <a:tcPr marR="73152" marT="36576" marB="36576" anchor="ctr">
                    <a:solidFill>
                      <a:srgbClr val="FFFFFF"/>
                    </a:solidFill>
                  </a:tcPr>
                </a:tc>
                <a:tc>
                  <a:txBody>
                    <a:bodyPr/>
                    <a:lstStyle/>
                    <a:p>
                      <a:r>
                        <a:rPr sz="1300" b="0">
                          <a:solidFill>
                            <a:srgbClr val="1B2A41"/>
                          </a:solidFill>
                          <a:latin typeface="Arial"/>
                        </a:rPr>
                        <a:t>Analytics sessions in the period; one conversation can produce several</a:t>
                      </a:r>
                    </a:p>
                  </a:txBody>
                  <a:tcPr marR="73152" marT="36576" marB="36576" anchor="ctr">
                    <a:solidFill>
                      <a:srgbClr val="FFFFFF"/>
                    </a:solidFill>
                  </a:tcPr>
                </a:tc>
                <a:extLst>
                  <a:ext uri="{0D108BD9-81ED-4DB2-BD59-A6C34878D82A}">
                    <a16:rowId xmlns:a16="http://schemas.microsoft.com/office/drawing/2014/main" val="10001"/>
                  </a:ext>
                </a:extLst>
              </a:tr>
              <a:tr h="496824">
                <a:tc>
                  <a:txBody>
                    <a:bodyPr/>
                    <a:lstStyle/>
                    <a:p>
                      <a:r>
                        <a:rPr sz="1300" b="1">
                          <a:solidFill>
                            <a:srgbClr val="1B2A41"/>
                          </a:solidFill>
                          <a:latin typeface="Arial"/>
                        </a:rPr>
                        <a:t>Engagement rate</a:t>
                      </a:r>
                    </a:p>
                  </a:txBody>
                  <a:tcPr marR="73152" marT="36576" marB="36576" anchor="ctr">
                    <a:solidFill>
                      <a:srgbClr val="EEF1F4"/>
                    </a:solidFill>
                  </a:tcPr>
                </a:tc>
                <a:tc>
                  <a:txBody>
                    <a:bodyPr/>
                    <a:lstStyle/>
                    <a:p>
                      <a:r>
                        <a:rPr sz="1300" b="0">
                          <a:solidFill>
                            <a:srgbClr val="1B2A41"/>
                          </a:solidFill>
                          <a:latin typeface="Arial"/>
                        </a:rPr>
                        <a:t>Share of sessions that reached a custom topic, Escalate, Fallback, or boosting</a:t>
                      </a:r>
                    </a:p>
                  </a:txBody>
                  <a:tcPr marR="73152" marT="36576" marB="36576" anchor="ctr">
                    <a:solidFill>
                      <a:srgbClr val="EEF1F4"/>
                    </a:solidFill>
                  </a:tcPr>
                </a:tc>
                <a:extLst>
                  <a:ext uri="{0D108BD9-81ED-4DB2-BD59-A6C34878D82A}">
                    <a16:rowId xmlns:a16="http://schemas.microsoft.com/office/drawing/2014/main" val="10002"/>
                  </a:ext>
                </a:extLst>
              </a:tr>
              <a:tr h="496824">
                <a:tc>
                  <a:txBody>
                    <a:bodyPr/>
                    <a:lstStyle/>
                    <a:p>
                      <a:r>
                        <a:rPr sz="1300" b="1">
                          <a:solidFill>
                            <a:srgbClr val="1B2A41"/>
                          </a:solidFill>
                          <a:latin typeface="Arial"/>
                        </a:rPr>
                        <a:t>Resolution rate</a:t>
                      </a:r>
                    </a:p>
                  </a:txBody>
                  <a:tcPr marR="73152" marT="36576" marB="36576" anchor="ctr">
                    <a:solidFill>
                      <a:srgbClr val="FFFFFF"/>
                    </a:solidFill>
                  </a:tcPr>
                </a:tc>
                <a:tc>
                  <a:txBody>
                    <a:bodyPr/>
                    <a:lstStyle/>
                    <a:p>
                      <a:r>
                        <a:rPr sz="1300" b="0">
                          <a:solidFill>
                            <a:srgbClr val="1B2A41"/>
                          </a:solidFill>
                          <a:latin typeface="Arial"/>
                        </a:rPr>
                        <a:t>Share of engaged sessions that reached a resolved outcome, confirmed or implied</a:t>
                      </a:r>
                    </a:p>
                  </a:txBody>
                  <a:tcPr marR="73152" marT="36576" marB="36576" anchor="ctr">
                    <a:solidFill>
                      <a:srgbClr val="FFFFFF"/>
                    </a:solidFill>
                  </a:tcPr>
                </a:tc>
                <a:extLst>
                  <a:ext uri="{0D108BD9-81ED-4DB2-BD59-A6C34878D82A}">
                    <a16:rowId xmlns:a16="http://schemas.microsoft.com/office/drawing/2014/main" val="10003"/>
                  </a:ext>
                </a:extLst>
              </a:tr>
              <a:tr h="496824">
                <a:tc>
                  <a:txBody>
                    <a:bodyPr/>
                    <a:lstStyle/>
                    <a:p>
                      <a:r>
                        <a:rPr sz="1300" b="1">
                          <a:solidFill>
                            <a:srgbClr val="1B2A41"/>
                          </a:solidFill>
                          <a:latin typeface="Arial"/>
                        </a:rPr>
                        <a:t>Escalation rate</a:t>
                      </a:r>
                    </a:p>
                  </a:txBody>
                  <a:tcPr marR="73152" marT="36576" marB="36576" anchor="ctr">
                    <a:solidFill>
                      <a:srgbClr val="EEF1F4"/>
                    </a:solidFill>
                  </a:tcPr>
                </a:tc>
                <a:tc>
                  <a:txBody>
                    <a:bodyPr/>
                    <a:lstStyle/>
                    <a:p>
                      <a:r>
                        <a:rPr sz="1300" b="0">
                          <a:solidFill>
                            <a:srgbClr val="1B2A41"/>
                          </a:solidFill>
                          <a:latin typeface="Arial"/>
                        </a:rPr>
                        <a:t>Share of engaged sessions handed off via Escalate or Transfer conversation</a:t>
                      </a:r>
                    </a:p>
                  </a:txBody>
                  <a:tcPr marR="73152" marT="36576" marB="36576" anchor="ctr">
                    <a:solidFill>
                      <a:srgbClr val="EEF1F4"/>
                    </a:solidFill>
                  </a:tcPr>
                </a:tc>
                <a:extLst>
                  <a:ext uri="{0D108BD9-81ED-4DB2-BD59-A6C34878D82A}">
                    <a16:rowId xmlns:a16="http://schemas.microsoft.com/office/drawing/2014/main" val="10004"/>
                  </a:ext>
                </a:extLst>
              </a:tr>
              <a:tr h="496824">
                <a:tc>
                  <a:txBody>
                    <a:bodyPr/>
                    <a:lstStyle/>
                    <a:p>
                      <a:r>
                        <a:rPr sz="1300" b="1">
                          <a:solidFill>
                            <a:srgbClr val="1B2A41"/>
                          </a:solidFill>
                          <a:latin typeface="Arial"/>
                        </a:rPr>
                        <a:t>Abandon rate</a:t>
                      </a:r>
                    </a:p>
                  </a:txBody>
                  <a:tcPr marR="73152" marT="36576" marB="36576" anchor="ctr">
                    <a:solidFill>
                      <a:srgbClr val="FFFFFF"/>
                    </a:solidFill>
                  </a:tcPr>
                </a:tc>
                <a:tc>
                  <a:txBody>
                    <a:bodyPr/>
                    <a:lstStyle/>
                    <a:p>
                      <a:r>
                        <a:rPr sz="1300" b="0">
                          <a:solidFill>
                            <a:srgbClr val="1B2A41"/>
                          </a:solidFill>
                          <a:latin typeface="Arial"/>
                        </a:rPr>
                        <a:t>Share of engaged sessions that ended with neither, after 60 minutes</a:t>
                      </a:r>
                    </a:p>
                  </a:txBody>
                  <a:tcPr marR="73152" marT="36576" marB="36576" anchor="ctr">
                    <a:solidFill>
                      <a:srgbClr val="FFFFFF"/>
                    </a:solidFill>
                  </a:tcPr>
                </a:tc>
                <a:extLst>
                  <a:ext uri="{0D108BD9-81ED-4DB2-BD59-A6C34878D82A}">
                    <a16:rowId xmlns:a16="http://schemas.microsoft.com/office/drawing/2014/main" val="10005"/>
                  </a:ext>
                </a:extLst>
              </a:tr>
              <a:tr h="496824">
                <a:tc>
                  <a:txBody>
                    <a:bodyPr/>
                    <a:lstStyle/>
                    <a:p>
                      <a:r>
                        <a:rPr sz="1300" b="1">
                          <a:solidFill>
                            <a:srgbClr val="1B2A41"/>
                          </a:solidFill>
                          <a:latin typeface="Arial"/>
                        </a:rPr>
                        <a:t>CSAT</a:t>
                      </a:r>
                    </a:p>
                  </a:txBody>
                  <a:tcPr marR="73152" marT="36576" marB="36576" anchor="ctr">
                    <a:solidFill>
                      <a:srgbClr val="EEF1F4"/>
                    </a:solidFill>
                  </a:tcPr>
                </a:tc>
                <a:tc>
                  <a:txBody>
                    <a:bodyPr/>
                    <a:lstStyle/>
                    <a:p>
                      <a:r>
                        <a:rPr sz="1300" b="0">
                          <a:solidFill>
                            <a:srgbClr val="1B2A41"/>
                          </a:solidFill>
                          <a:latin typeface="Arial"/>
                        </a:rPr>
                        <a:t>Average End of Conversation survey score, 1 to 5</a:t>
                      </a:r>
                    </a:p>
                  </a:txBody>
                  <a:tcPr marR="73152" marT="36576" marB="36576" anchor="ctr">
                    <a:solidFill>
                      <a:srgbClr val="EEF1F4"/>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Usage signals need interpretation</a:t>
            </a:r>
          </a:p>
        </p:txBody>
      </p:sp>
      <p:graphicFrame>
        <p:nvGraphicFramePr>
          <p:cNvPr id="3" name="Table 2"/>
          <p:cNvGraphicFramePr>
            <a:graphicFrameLocks noGrp="1"/>
          </p:cNvGraphicFramePr>
          <p:nvPr/>
        </p:nvGraphicFramePr>
        <p:xfrm>
          <a:off x="502920" y="1335024"/>
          <a:ext cx="8138159" cy="3346704"/>
        </p:xfrm>
        <a:graphic>
          <a:graphicData uri="http://schemas.openxmlformats.org/drawingml/2006/table">
            <a:tbl>
              <a:tblPr>
                <a:tableStyleId>{2D5ABB26-0587-4C30-8999-92F81FD0307C}</a:tableStyleId>
              </a:tblPr>
              <a:tblGrid>
                <a:gridCol w="2929737">
                  <a:extLst>
                    <a:ext uri="{9D8B030D-6E8A-4147-A177-3AD203B41FA5}">
                      <a16:colId xmlns:a16="http://schemas.microsoft.com/office/drawing/2014/main" val="20000"/>
                    </a:ext>
                  </a:extLst>
                </a:gridCol>
                <a:gridCol w="5208422">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Signal</a:t>
                      </a:r>
                    </a:p>
                  </a:txBody>
                  <a:tcPr marR="73152" marT="36576" marB="36576" anchor="ctr">
                    <a:solidFill>
                      <a:srgbClr val="1B2A41"/>
                    </a:solidFill>
                  </a:tcPr>
                </a:tc>
                <a:tc>
                  <a:txBody>
                    <a:bodyPr/>
                    <a:lstStyle/>
                    <a:p>
                      <a:r>
                        <a:rPr sz="1400" b="1">
                          <a:solidFill>
                            <a:srgbClr val="FFFFFF"/>
                          </a:solidFill>
                          <a:latin typeface="Arial"/>
                        </a:rPr>
                        <a:t>What it does and does not tell us</a:t>
                      </a:r>
                    </a:p>
                  </a:txBody>
                  <a:tcPr marR="73152" marT="36576" marB="36576" anchor="ctr">
                    <a:solidFill>
                      <a:srgbClr val="1B2A41"/>
                    </a:solidFill>
                  </a:tcPr>
                </a:tc>
                <a:extLst>
                  <a:ext uri="{0D108BD9-81ED-4DB2-BD59-A6C34878D82A}">
                    <a16:rowId xmlns:a16="http://schemas.microsoft.com/office/drawing/2014/main" val="10000"/>
                  </a:ext>
                </a:extLst>
              </a:tr>
              <a:tr h="745236">
                <a:tc>
                  <a:txBody>
                    <a:bodyPr/>
                    <a:lstStyle/>
                    <a:p>
                      <a:r>
                        <a:rPr sz="1400" b="1">
                          <a:solidFill>
                            <a:srgbClr val="1B2A41"/>
                          </a:solidFill>
                          <a:latin typeface="Arial"/>
                        </a:rPr>
                        <a:t>10 sessions, 9 did not escalate</a:t>
                      </a:r>
                    </a:p>
                  </a:txBody>
                  <a:tcPr marR="73152" marT="36576" marB="36576" anchor="ctr">
                    <a:solidFill>
                      <a:srgbClr val="FFFFFF"/>
                    </a:solidFill>
                  </a:tcPr>
                </a:tc>
                <a:tc>
                  <a:txBody>
                    <a:bodyPr/>
                    <a:lstStyle/>
                    <a:p>
                      <a:r>
                        <a:rPr sz="1400" b="0">
                          <a:solidFill>
                            <a:srgbClr val="1B2A41"/>
                          </a:solidFill>
                          <a:latin typeface="Arial"/>
                        </a:rPr>
                        <a:t>A 90% containment proxy, nothing about accuracy</a:t>
                      </a:r>
                    </a:p>
                  </a:txBody>
                  <a:tcPr marR="73152" marT="36576" marB="36576" anchor="ctr">
                    <a:solidFill>
                      <a:srgbClr val="FFFFFF"/>
                    </a:solidFill>
                  </a:tcPr>
                </a:tc>
                <a:extLst>
                  <a:ext uri="{0D108BD9-81ED-4DB2-BD59-A6C34878D82A}">
                    <a16:rowId xmlns:a16="http://schemas.microsoft.com/office/drawing/2014/main" val="10001"/>
                  </a:ext>
                </a:extLst>
              </a:tr>
              <a:tr h="745236">
                <a:tc>
                  <a:txBody>
                    <a:bodyPr/>
                    <a:lstStyle/>
                    <a:p>
                      <a:r>
                        <a:rPr sz="1400" b="1">
                          <a:solidFill>
                            <a:srgbClr val="1B2A41"/>
                          </a:solidFill>
                          <a:latin typeface="Arial"/>
                        </a:rPr>
                        <a:t>6 resolved, 3 abandoned, 1 escalated</a:t>
                      </a:r>
                    </a:p>
                  </a:txBody>
                  <a:tcPr marR="73152" marT="36576" marB="36576" anchor="ctr">
                    <a:solidFill>
                      <a:srgbClr val="EEF1F4"/>
                    </a:solidFill>
                  </a:tcPr>
                </a:tc>
                <a:tc>
                  <a:txBody>
                    <a:bodyPr/>
                    <a:lstStyle/>
                    <a:p>
                      <a:r>
                        <a:rPr sz="1400" b="0">
                          <a:solidFill>
                            <a:srgbClr val="1B2A41"/>
                          </a:solidFill>
                          <a:latin typeface="Arial"/>
                        </a:rPr>
                        <a:t>60% resolution, 30% abandonment</a:t>
                      </a:r>
                    </a:p>
                  </a:txBody>
                  <a:tcPr marR="73152" marT="36576" marB="36576" anchor="ctr">
                    <a:solidFill>
                      <a:srgbClr val="EEF1F4"/>
                    </a:solidFill>
                  </a:tcPr>
                </a:tc>
                <a:extLst>
                  <a:ext uri="{0D108BD9-81ED-4DB2-BD59-A6C34878D82A}">
                    <a16:rowId xmlns:a16="http://schemas.microsoft.com/office/drawing/2014/main" val="10002"/>
                  </a:ext>
                </a:extLst>
              </a:tr>
              <a:tr h="745236">
                <a:tc>
                  <a:txBody>
                    <a:bodyPr/>
                    <a:lstStyle/>
                    <a:p>
                      <a:r>
                        <a:rPr sz="1400" b="1">
                          <a:solidFill>
                            <a:srgbClr val="1B2A41"/>
                          </a:solidFill>
                          <a:latin typeface="Arial"/>
                        </a:rPr>
                        <a:t>4 survey responses</a:t>
                      </a:r>
                    </a:p>
                  </a:txBody>
                  <a:tcPr marR="73152" marT="36576" marB="36576" anchor="ctr">
                    <a:solidFill>
                      <a:srgbClr val="FFFFFF"/>
                    </a:solidFill>
                  </a:tcPr>
                </a:tc>
                <a:tc>
                  <a:txBody>
                    <a:bodyPr/>
                    <a:lstStyle/>
                    <a:p>
                      <a:r>
                        <a:rPr sz="1400" b="0">
                          <a:solidFill>
                            <a:srgbClr val="1B2A41"/>
                          </a:solidFill>
                          <a:latin typeface="Arial"/>
                        </a:rPr>
                        <a:t>The survey describes those 4 respondents</a:t>
                      </a:r>
                    </a:p>
                  </a:txBody>
                  <a:tcPr marR="73152" marT="36576" marB="36576" anchor="ctr">
                    <a:solidFill>
                      <a:srgbClr val="FFFFFF"/>
                    </a:solidFill>
                  </a:tcPr>
                </a:tc>
                <a:extLst>
                  <a:ext uri="{0D108BD9-81ED-4DB2-BD59-A6C34878D82A}">
                    <a16:rowId xmlns:a16="http://schemas.microsoft.com/office/drawing/2014/main" val="10003"/>
                  </a:ext>
                </a:extLst>
              </a:tr>
              <a:tr h="745236">
                <a:tc>
                  <a:txBody>
                    <a:bodyPr/>
                    <a:lstStyle/>
                    <a:p>
                      <a:r>
                        <a:rPr sz="1400" b="1">
                          <a:solidFill>
                            <a:srgbClr val="1B2A41"/>
                          </a:solidFill>
                          <a:latin typeface="Arial"/>
                        </a:rPr>
                        <a:t>High containment plus wrong answers</a:t>
                      </a:r>
                    </a:p>
                  </a:txBody>
                  <a:tcPr marR="73152" marT="36576" marB="36576" anchor="ctr">
                    <a:solidFill>
                      <a:srgbClr val="EEF1F4"/>
                    </a:solidFill>
                  </a:tcPr>
                </a:tc>
                <a:tc>
                  <a:txBody>
                    <a:bodyPr/>
                    <a:lstStyle/>
                    <a:p>
                      <a:r>
                        <a:rPr sz="1400" b="0">
                          <a:solidFill>
                            <a:srgbClr val="1B2A41"/>
                          </a:solidFill>
                          <a:latin typeface="Arial"/>
                        </a:rPr>
                        <a:t>Read outcomes, transcripts, and source evidence together</a:t>
                      </a:r>
                    </a:p>
                  </a:txBody>
                  <a:tcPr marR="73152" marT="36576" marB="36576" anchor="ctr">
                    <a:solidFill>
                      <a:srgbClr val="EEF1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Quality signals the dashboard adds</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700" b="0">
                <a:latin typeface="Arial"/>
              </a:rPr>
              <a:t>Reactions: thumbs up and down with free-text comments, retained 28 days</a:t>
            </a:r>
          </a:p>
          <a:p>
            <a:pPr>
              <a:spcAft>
                <a:spcPts val="800"/>
              </a:spcAft>
            </a:pPr>
            <a:r>
              <a:rPr sz="1700" b="0">
                <a:latin typeface="Arial"/>
              </a:rPr>
              <a:t>Sentiment: an AI-scored negative-sentiment share across sessions</a:t>
            </a:r>
          </a:p>
          <a:p>
            <a:pPr>
              <a:spcAft>
                <a:spcPts val="800"/>
              </a:spcAft>
            </a:pPr>
            <a:r>
              <a:rPr sz="1700" b="0">
                <a:latin typeface="Arial"/>
              </a:rPr>
              <a:t>Themes: user questions grouped, which exposes topic coverage gaps</a:t>
            </a:r>
          </a:p>
          <a:p>
            <a:pPr>
              <a:spcAft>
                <a:spcPts val="800"/>
              </a:spcAft>
            </a:pPr>
            <a:r>
              <a:rPr sz="1700" b="0">
                <a:latin typeface="Arial"/>
              </a:rPr>
              <a:t>Generated answer rate and quality: surfaces the questions that went unanswered</a:t>
            </a:r>
          </a:p>
          <a:p>
            <a:pPr>
              <a:spcAft>
                <a:spcPts val="800"/>
              </a:spcAft>
            </a:pPr>
            <a:r>
              <a:rPr sz="1700" b="0">
                <a:latin typeface="Arial"/>
              </a:rPr>
              <a:t>A theme converts into an evaluation test set in one step</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learn.microsoft.com/microsoft-copilot-studio/analytics-improve-agent-effectiveness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Well-Architected concerns for this agent</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learn.microsoft.com/power-platform/well-architected/pillars</a:t>
            </a:r>
          </a:p>
        </p:txBody>
      </p:sp>
      <p:graphicFrame>
        <p:nvGraphicFramePr>
          <p:cNvPr id="5" name="Table 4"/>
          <p:cNvGraphicFramePr>
            <a:graphicFrameLocks noGrp="1"/>
          </p:cNvGraphicFramePr>
          <p:nvPr/>
        </p:nvGraphicFramePr>
        <p:xfrm>
          <a:off x="502920" y="1335024"/>
          <a:ext cx="8138160" cy="3346700"/>
        </p:xfrm>
        <a:graphic>
          <a:graphicData uri="http://schemas.openxmlformats.org/drawingml/2006/table">
            <a:tbl>
              <a:tblPr>
                <a:tableStyleId>{2D5ABB26-0587-4C30-8999-92F81FD0307C}</a:tableStyleId>
              </a:tblPr>
              <a:tblGrid>
                <a:gridCol w="2441448">
                  <a:extLst>
                    <a:ext uri="{9D8B030D-6E8A-4147-A177-3AD203B41FA5}">
                      <a16:colId xmlns:a16="http://schemas.microsoft.com/office/drawing/2014/main" val="20000"/>
                    </a:ext>
                  </a:extLst>
                </a:gridCol>
                <a:gridCol w="5696712">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Pillar</a:t>
                      </a:r>
                    </a:p>
                  </a:txBody>
                  <a:tcPr marR="73152" marT="36576" marB="36576" anchor="ctr">
                    <a:solidFill>
                      <a:srgbClr val="1B2A41"/>
                    </a:solidFill>
                  </a:tcPr>
                </a:tc>
                <a:tc>
                  <a:txBody>
                    <a:bodyPr/>
                    <a:lstStyle/>
                    <a:p>
                      <a:r>
                        <a:rPr sz="1400" b="1">
                          <a:solidFill>
                            <a:srgbClr val="FFFFFF"/>
                          </a:solidFill>
                          <a:latin typeface="Arial"/>
                        </a:rPr>
                        <a:t>Control for the study assistant</a:t>
                      </a:r>
                    </a:p>
                  </a:txBody>
                  <a:tcPr marR="73152" marT="36576" marB="36576" anchor="ctr">
                    <a:solidFill>
                      <a:srgbClr val="1B2A41"/>
                    </a:solidFill>
                  </a:tcPr>
                </a:tc>
                <a:extLst>
                  <a:ext uri="{0D108BD9-81ED-4DB2-BD59-A6C34878D82A}">
                    <a16:rowId xmlns:a16="http://schemas.microsoft.com/office/drawing/2014/main" val="10000"/>
                  </a:ext>
                </a:extLst>
              </a:tr>
              <a:tr h="596188">
                <a:tc>
                  <a:txBody>
                    <a:bodyPr/>
                    <a:lstStyle/>
                    <a:p>
                      <a:r>
                        <a:rPr sz="1300" b="1">
                          <a:solidFill>
                            <a:srgbClr val="1B2A41"/>
                          </a:solidFill>
                          <a:latin typeface="Arial"/>
                        </a:rPr>
                        <a:t>Reliability</a:t>
                      </a:r>
                    </a:p>
                  </a:txBody>
                  <a:tcPr marR="73152" marT="36576" marB="36576" anchor="ctr">
                    <a:solidFill>
                      <a:srgbClr val="FFFFFF"/>
                    </a:solidFill>
                  </a:tcPr>
                </a:tc>
                <a:tc>
                  <a:txBody>
                    <a:bodyPr/>
                    <a:lstStyle/>
                    <a:p>
                      <a:r>
                        <a:rPr sz="1300" b="0">
                          <a:solidFill>
                            <a:srgbClr val="1B2A41"/>
                          </a:solidFill>
                          <a:latin typeface="Arial"/>
                        </a:rPr>
                        <a:t>Tool failure has a clear recovery path the learner can see</a:t>
                      </a:r>
                    </a:p>
                  </a:txBody>
                  <a:tcPr marR="73152" marT="36576" marB="36576" anchor="ctr">
                    <a:solidFill>
                      <a:srgbClr val="FFFFFF"/>
                    </a:solidFill>
                  </a:tcPr>
                </a:tc>
                <a:extLst>
                  <a:ext uri="{0D108BD9-81ED-4DB2-BD59-A6C34878D82A}">
                    <a16:rowId xmlns:a16="http://schemas.microsoft.com/office/drawing/2014/main" val="10001"/>
                  </a:ext>
                </a:extLst>
              </a:tr>
              <a:tr h="596188">
                <a:tc>
                  <a:txBody>
                    <a:bodyPr/>
                    <a:lstStyle/>
                    <a:p>
                      <a:r>
                        <a:rPr sz="1300" b="1">
                          <a:solidFill>
                            <a:srgbClr val="1B2A41"/>
                          </a:solidFill>
                          <a:latin typeface="Arial"/>
                        </a:rPr>
                        <a:t>Security</a:t>
                      </a:r>
                    </a:p>
                  </a:txBody>
                  <a:tcPr marR="73152" marT="36576" marB="36576" anchor="ctr">
                    <a:solidFill>
                      <a:srgbClr val="EEF1F4"/>
                    </a:solidFill>
                  </a:tcPr>
                </a:tc>
                <a:tc>
                  <a:txBody>
                    <a:bodyPr/>
                    <a:lstStyle/>
                    <a:p>
                      <a:r>
                        <a:rPr sz="1300" b="0">
                          <a:solidFill>
                            <a:srgbClr val="1B2A41"/>
                          </a:solidFill>
                          <a:latin typeface="Arial"/>
                        </a:rPr>
                        <a:t>The intended identity, approved sources, and nothing broader</a:t>
                      </a:r>
                    </a:p>
                  </a:txBody>
                  <a:tcPr marR="73152" marT="36576" marB="36576" anchor="ctr">
                    <a:solidFill>
                      <a:srgbClr val="EEF1F4"/>
                    </a:solidFill>
                  </a:tcPr>
                </a:tc>
                <a:extLst>
                  <a:ext uri="{0D108BD9-81ED-4DB2-BD59-A6C34878D82A}">
                    <a16:rowId xmlns:a16="http://schemas.microsoft.com/office/drawing/2014/main" val="10002"/>
                  </a:ext>
                </a:extLst>
              </a:tr>
              <a:tr h="596188">
                <a:tc>
                  <a:txBody>
                    <a:bodyPr/>
                    <a:lstStyle/>
                    <a:p>
                      <a:r>
                        <a:rPr sz="1300" b="1">
                          <a:solidFill>
                            <a:srgbClr val="1B2A41"/>
                          </a:solidFill>
                          <a:latin typeface="Arial"/>
                        </a:rPr>
                        <a:t>Operational Excellence</a:t>
                      </a:r>
                    </a:p>
                  </a:txBody>
                  <a:tcPr marR="73152" marT="36576" marB="36576" anchor="ctr">
                    <a:solidFill>
                      <a:srgbClr val="FFFFFF"/>
                    </a:solidFill>
                  </a:tcPr>
                </a:tc>
                <a:tc>
                  <a:txBody>
                    <a:bodyPr/>
                    <a:lstStyle/>
                    <a:p>
                      <a:r>
                        <a:rPr sz="1300" b="0">
                          <a:solidFill>
                            <a:srgbClr val="1B2A41"/>
                          </a:solidFill>
                          <a:latin typeface="Arial"/>
                        </a:rPr>
                        <a:t>An owner reviews repeatable tests and incidents</a:t>
                      </a:r>
                    </a:p>
                  </a:txBody>
                  <a:tcPr marR="73152" marT="36576" marB="36576" anchor="ctr">
                    <a:solidFill>
                      <a:srgbClr val="FFFFFF"/>
                    </a:solidFill>
                  </a:tcPr>
                </a:tc>
                <a:extLst>
                  <a:ext uri="{0D108BD9-81ED-4DB2-BD59-A6C34878D82A}">
                    <a16:rowId xmlns:a16="http://schemas.microsoft.com/office/drawing/2014/main" val="10003"/>
                  </a:ext>
                </a:extLst>
              </a:tr>
              <a:tr h="596188">
                <a:tc>
                  <a:txBody>
                    <a:bodyPr/>
                    <a:lstStyle/>
                    <a:p>
                      <a:r>
                        <a:rPr sz="1300" b="1">
                          <a:solidFill>
                            <a:srgbClr val="1B2A41"/>
                          </a:solidFill>
                          <a:latin typeface="Arial"/>
                        </a:rPr>
                        <a:t>Performance Efficiency</a:t>
                      </a:r>
                    </a:p>
                  </a:txBody>
                  <a:tcPr marR="73152" marT="36576" marB="36576" anchor="ctr">
                    <a:solidFill>
                      <a:srgbClr val="EEF1F4"/>
                    </a:solidFill>
                  </a:tcPr>
                </a:tc>
                <a:tc>
                  <a:txBody>
                    <a:bodyPr/>
                    <a:lstStyle/>
                    <a:p>
                      <a:r>
                        <a:rPr sz="1300" b="0">
                          <a:solidFill>
                            <a:srgbClr val="1B2A41"/>
                          </a:solidFill>
                          <a:latin typeface="Arial"/>
                        </a:rPr>
                        <a:t>Measure response time and unnecessary tool work</a:t>
                      </a:r>
                    </a:p>
                  </a:txBody>
                  <a:tcPr marR="73152" marT="36576" marB="36576" anchor="ctr">
                    <a:solidFill>
                      <a:srgbClr val="EEF1F4"/>
                    </a:solidFill>
                  </a:tcPr>
                </a:tc>
                <a:extLst>
                  <a:ext uri="{0D108BD9-81ED-4DB2-BD59-A6C34878D82A}">
                    <a16:rowId xmlns:a16="http://schemas.microsoft.com/office/drawing/2014/main" val="10004"/>
                  </a:ext>
                </a:extLst>
              </a:tr>
              <a:tr h="596188">
                <a:tc>
                  <a:txBody>
                    <a:bodyPr/>
                    <a:lstStyle/>
                    <a:p>
                      <a:r>
                        <a:rPr sz="1300" b="1">
                          <a:solidFill>
                            <a:srgbClr val="1B2A41"/>
                          </a:solidFill>
                          <a:latin typeface="Arial"/>
                        </a:rPr>
                        <a:t>Experience Optimization</a:t>
                      </a:r>
                    </a:p>
                  </a:txBody>
                  <a:tcPr marR="73152" marT="36576" marB="36576" anchor="ctr">
                    <a:solidFill>
                      <a:srgbClr val="FFFFFF"/>
                    </a:solidFill>
                  </a:tcPr>
                </a:tc>
                <a:tc>
                  <a:txBody>
                    <a:bodyPr/>
                    <a:lstStyle/>
                    <a:p>
                      <a:r>
                        <a:rPr sz="1300" b="0">
                          <a:solidFill>
                            <a:srgbClr val="1B2A41"/>
                          </a:solidFill>
                          <a:latin typeface="Arial"/>
                        </a:rPr>
                        <a:t>Wait for the learner, give feedback and a next step</a:t>
                      </a:r>
                    </a:p>
                  </a:txBody>
                  <a:tcPr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Governance runs at three levels</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learn.microsoft.com/microsoft-copilot-studio/guidance/sec-gov-phase2</a:t>
            </a:r>
          </a:p>
        </p:txBody>
      </p:sp>
      <p:sp>
        <p:nvSpPr>
          <p:cNvPr id="5" name="Rounded Rectangle 4"/>
          <p:cNvSpPr/>
          <p:nvPr/>
        </p:nvSpPr>
        <p:spPr>
          <a:xfrm>
            <a:off x="502920" y="1426464"/>
            <a:ext cx="2377440" cy="786384"/>
          </a:xfrm>
          <a:prstGeom prst="roundRect">
            <a:avLst/>
          </a:prstGeom>
          <a:solidFill>
            <a:srgbClr val="1B2A41"/>
          </a:solidFill>
          <a:ln w="15875">
            <a:solidFill>
              <a:srgbClr val="1B2A41"/>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FFFFFF"/>
                </a:solidFill>
                <a:latin typeface="Arial"/>
              </a:rPr>
              <a:t>Tenant</a:t>
            </a:r>
          </a:p>
        </p:txBody>
      </p:sp>
      <p:sp>
        <p:nvSpPr>
          <p:cNvPr id="6" name="TextBox 5"/>
          <p:cNvSpPr txBox="1"/>
          <p:nvPr/>
        </p:nvSpPr>
        <p:spPr>
          <a:xfrm>
            <a:off x="3044952" y="1481328"/>
            <a:ext cx="5486400" cy="786384"/>
          </a:xfrm>
          <a:prstGeom prst="rect">
            <a:avLst/>
          </a:prstGeom>
          <a:noFill/>
        </p:spPr>
        <p:txBody>
          <a:bodyPr wrap="square" lIns="18288" tIns="0" rIns="18288" bIns="0">
            <a:spAutoFit/>
          </a:bodyPr>
          <a:lstStyle/>
          <a:p>
            <a:pPr algn="l"/>
            <a:r>
              <a:rPr sz="1200" b="0">
                <a:solidFill>
                  <a:srgbClr val="1B2A41"/>
                </a:solidFill>
                <a:latin typeface="Arial"/>
              </a:rPr>
              <a:t>Data policies across every environment: unauthenticated use, individual channels, knowledge sources, connectors, and whether generative agents publish.</a:t>
            </a:r>
          </a:p>
        </p:txBody>
      </p:sp>
      <p:sp>
        <p:nvSpPr>
          <p:cNvPr id="7" name="Rounded Rectangle 6"/>
          <p:cNvSpPr/>
          <p:nvPr/>
        </p:nvSpPr>
        <p:spPr>
          <a:xfrm>
            <a:off x="502920" y="2340864"/>
            <a:ext cx="2377440" cy="786384"/>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1B2A41"/>
                </a:solidFill>
                <a:latin typeface="Arial"/>
              </a:rPr>
              <a:t>Environment</a:t>
            </a:r>
          </a:p>
        </p:txBody>
      </p:sp>
      <p:sp>
        <p:nvSpPr>
          <p:cNvPr id="8" name="TextBox 7"/>
          <p:cNvSpPr txBox="1"/>
          <p:nvPr/>
        </p:nvSpPr>
        <p:spPr>
          <a:xfrm>
            <a:off x="3044952" y="2395728"/>
            <a:ext cx="5486400" cy="786384"/>
          </a:xfrm>
          <a:prstGeom prst="rect">
            <a:avLst/>
          </a:prstGeom>
          <a:noFill/>
        </p:spPr>
        <p:txBody>
          <a:bodyPr wrap="square" lIns="18288" tIns="0" rIns="18288" bIns="0">
            <a:spAutoFit/>
          </a:bodyPr>
          <a:lstStyle/>
          <a:p>
            <a:pPr algn="l"/>
            <a:r>
              <a:rPr sz="1200" b="0">
                <a:solidFill>
                  <a:srgbClr val="1B2A41"/>
                </a:solidFill>
                <a:latin typeface="Arial"/>
              </a:rPr>
              <a:t>Scope those policies in or out, allow or block public data sources, and apply network isolation with virtual network support and IP firewall.</a:t>
            </a:r>
          </a:p>
        </p:txBody>
      </p:sp>
      <p:sp>
        <p:nvSpPr>
          <p:cNvPr id="9" name="Rounded Rectangle 8"/>
          <p:cNvSpPr/>
          <p:nvPr/>
        </p:nvSpPr>
        <p:spPr>
          <a:xfrm>
            <a:off x="502920" y="3255264"/>
            <a:ext cx="2377440" cy="786384"/>
          </a:xfrm>
          <a:prstGeom prst="roundRect">
            <a:avLst/>
          </a:prstGeom>
          <a:solidFill>
            <a:srgbClr val="FAEBD8"/>
          </a:solidFill>
          <a:ln w="15875">
            <a:solidFill>
              <a:srgbClr val="B5620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1B2A41"/>
                </a:solidFill>
                <a:latin typeface="Arial"/>
              </a:rPr>
              <a:t>Agent</a:t>
            </a:r>
          </a:p>
        </p:txBody>
      </p:sp>
      <p:sp>
        <p:nvSpPr>
          <p:cNvPr id="10" name="TextBox 9"/>
          <p:cNvSpPr txBox="1"/>
          <p:nvPr/>
        </p:nvSpPr>
        <p:spPr>
          <a:xfrm>
            <a:off x="3044952" y="3310128"/>
            <a:ext cx="5486400" cy="786384"/>
          </a:xfrm>
          <a:prstGeom prst="rect">
            <a:avLst/>
          </a:prstGeom>
          <a:noFill/>
        </p:spPr>
        <p:txBody>
          <a:bodyPr wrap="square" lIns="18288" tIns="0" rIns="18288" bIns="0">
            <a:spAutoFit/>
          </a:bodyPr>
          <a:lstStyle/>
          <a:p>
            <a:pPr algn="l"/>
            <a:r>
              <a:rPr sz="1200" b="0">
                <a:solidFill>
                  <a:srgbClr val="1B2A41"/>
                </a:solidFill>
                <a:latin typeface="Arial"/>
              </a:rPr>
              <a:t>Generative orchestration, knowledge, and generative answers on or off; the authentication mode; web channel security.</a:t>
            </a:r>
          </a:p>
        </p:txBody>
      </p:sp>
      <p:sp>
        <p:nvSpPr>
          <p:cNvPr id="11" name="TextBox 10"/>
          <p:cNvSpPr txBox="1"/>
          <p:nvPr/>
        </p:nvSpPr>
        <p:spPr>
          <a:xfrm>
            <a:off x="502920" y="4151376"/>
            <a:ext cx="8138160" cy="457200"/>
          </a:xfrm>
          <a:prstGeom prst="rect">
            <a:avLst/>
          </a:prstGeom>
          <a:noFill/>
        </p:spPr>
        <p:txBody>
          <a:bodyPr wrap="square" lIns="18288" tIns="0" rIns="18288" bIns="0">
            <a:spAutoFit/>
          </a:bodyPr>
          <a:lstStyle/>
          <a:p>
            <a:pPr algn="l"/>
            <a:r>
              <a:rPr sz="1300" b="1">
                <a:solidFill>
                  <a:srgbClr val="1B2A41"/>
                </a:solidFill>
                <a:latin typeface="Arial"/>
              </a:rPr>
              <a:t>The narrowest setting wins. An agent switch cannot re-enable what a tenant policy blocked.</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Environments and the ALM rules</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learn.microsoft.com/microsoft-copilot-studio/guidance/alm</a:t>
            </a:r>
          </a:p>
        </p:txBody>
      </p:sp>
      <p:sp>
        <p:nvSpPr>
          <p:cNvPr id="5" name="Rounded Rectangle 4"/>
          <p:cNvSpPr/>
          <p:nvPr/>
        </p:nvSpPr>
        <p:spPr>
          <a:xfrm>
            <a:off x="502920" y="1444752"/>
            <a:ext cx="2331720" cy="786384"/>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1B2A41"/>
                </a:solidFill>
                <a:latin typeface="Arial"/>
              </a:rPr>
              <a:t>DEV</a:t>
            </a:r>
          </a:p>
          <a:p>
            <a:pPr algn="ctr"/>
            <a:r>
              <a:rPr sz="1200" b="0">
                <a:solidFill>
                  <a:srgbClr val="1B2A41"/>
                </a:solidFill>
                <a:latin typeface="Arial"/>
              </a:rPr>
              <a:t>sandbox</a:t>
            </a:r>
          </a:p>
        </p:txBody>
      </p:sp>
      <p:sp>
        <p:nvSpPr>
          <p:cNvPr id="6" name="TextBox 5"/>
          <p:cNvSpPr txBox="1"/>
          <p:nvPr/>
        </p:nvSpPr>
        <p:spPr>
          <a:xfrm>
            <a:off x="502920" y="2286000"/>
            <a:ext cx="2331720" cy="548640"/>
          </a:xfrm>
          <a:prstGeom prst="rect">
            <a:avLst/>
          </a:prstGeom>
          <a:noFill/>
        </p:spPr>
        <p:txBody>
          <a:bodyPr wrap="square" lIns="18288" tIns="0" rIns="18288" bIns="0">
            <a:spAutoFit/>
          </a:bodyPr>
          <a:lstStyle/>
          <a:p>
            <a:pPr algn="ctr"/>
            <a:r>
              <a:rPr sz="1150" b="0">
                <a:solidFill>
                  <a:srgbClr val="4A6076"/>
                </a:solidFill>
                <a:latin typeface="Arial"/>
              </a:rPr>
              <a:t>Build here. Nowhere else.</a:t>
            </a:r>
          </a:p>
        </p:txBody>
      </p:sp>
      <p:sp>
        <p:nvSpPr>
          <p:cNvPr id="7" name="Right Arrow 6"/>
          <p:cNvSpPr/>
          <p:nvPr/>
        </p:nvSpPr>
        <p:spPr>
          <a:xfrm>
            <a:off x="2880360" y="1755648"/>
            <a:ext cx="274320"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264408" y="1444752"/>
            <a:ext cx="2331720" cy="786384"/>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1B2A41"/>
                </a:solidFill>
                <a:latin typeface="Arial"/>
              </a:rPr>
              <a:t>TEST</a:t>
            </a:r>
          </a:p>
          <a:p>
            <a:pPr algn="ctr"/>
            <a:r>
              <a:rPr sz="1200" b="0">
                <a:solidFill>
                  <a:srgbClr val="1B2A41"/>
                </a:solidFill>
                <a:latin typeface="Arial"/>
              </a:rPr>
              <a:t>sandbox</a:t>
            </a:r>
          </a:p>
        </p:txBody>
      </p:sp>
      <p:sp>
        <p:nvSpPr>
          <p:cNvPr id="9" name="TextBox 8"/>
          <p:cNvSpPr txBox="1"/>
          <p:nvPr/>
        </p:nvSpPr>
        <p:spPr>
          <a:xfrm>
            <a:off x="3264408" y="2286000"/>
            <a:ext cx="2331720" cy="548640"/>
          </a:xfrm>
          <a:prstGeom prst="rect">
            <a:avLst/>
          </a:prstGeom>
          <a:noFill/>
        </p:spPr>
        <p:txBody>
          <a:bodyPr wrap="square" lIns="18288" tIns="0" rIns="18288" bIns="0">
            <a:spAutoFit/>
          </a:bodyPr>
          <a:lstStyle/>
          <a:p>
            <a:pPr algn="ctr"/>
            <a:r>
              <a:rPr sz="1150" b="0">
                <a:solidFill>
                  <a:srgbClr val="4A6076"/>
                </a:solidFill>
                <a:latin typeface="Arial"/>
              </a:rPr>
              <a:t>Managed solution import, then validate.</a:t>
            </a:r>
          </a:p>
        </p:txBody>
      </p:sp>
      <p:sp>
        <p:nvSpPr>
          <p:cNvPr id="10" name="Right Arrow 9"/>
          <p:cNvSpPr/>
          <p:nvPr/>
        </p:nvSpPr>
        <p:spPr>
          <a:xfrm>
            <a:off x="5641848" y="1755648"/>
            <a:ext cx="274320"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025896" y="1444752"/>
            <a:ext cx="2331720" cy="786384"/>
          </a:xfrm>
          <a:prstGeom prst="roundRect">
            <a:avLst/>
          </a:prstGeom>
          <a:solidFill>
            <a:srgbClr val="FAEBD8"/>
          </a:solidFill>
          <a:ln w="15875">
            <a:solidFill>
              <a:srgbClr val="B5620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1B2A41"/>
                </a:solidFill>
                <a:latin typeface="Arial"/>
              </a:rPr>
              <a:t>PROD</a:t>
            </a:r>
          </a:p>
          <a:p>
            <a:pPr algn="ctr"/>
            <a:r>
              <a:rPr sz="1200" b="0">
                <a:solidFill>
                  <a:srgbClr val="1B2A41"/>
                </a:solidFill>
                <a:latin typeface="Arial"/>
              </a:rPr>
              <a:t>production</a:t>
            </a:r>
          </a:p>
        </p:txBody>
      </p:sp>
      <p:sp>
        <p:nvSpPr>
          <p:cNvPr id="12" name="TextBox 11"/>
          <p:cNvSpPr txBox="1"/>
          <p:nvPr/>
        </p:nvSpPr>
        <p:spPr>
          <a:xfrm>
            <a:off x="6025896" y="2286000"/>
            <a:ext cx="2331720" cy="548640"/>
          </a:xfrm>
          <a:prstGeom prst="rect">
            <a:avLst/>
          </a:prstGeom>
          <a:noFill/>
        </p:spPr>
        <p:txBody>
          <a:bodyPr wrap="square" lIns="18288" tIns="0" rIns="18288" bIns="0">
            <a:spAutoFit/>
          </a:bodyPr>
          <a:lstStyle/>
          <a:p>
            <a:pPr algn="ctr"/>
            <a:r>
              <a:rPr sz="1150" b="0">
                <a:solidFill>
                  <a:srgbClr val="4A6076"/>
                </a:solidFill>
                <a:latin typeface="Arial"/>
              </a:rPr>
              <a:t>Managed only. No direct customization.</a:t>
            </a:r>
          </a:p>
        </p:txBody>
      </p:sp>
      <p:sp>
        <p:nvSpPr>
          <p:cNvPr id="13" name="TextBox 12"/>
          <p:cNvSpPr txBox="1"/>
          <p:nvPr/>
        </p:nvSpPr>
        <p:spPr>
          <a:xfrm>
            <a:off x="502920" y="2871216"/>
            <a:ext cx="3977639" cy="1828800"/>
          </a:xfrm>
          <a:prstGeom prst="rect">
            <a:avLst/>
          </a:prstGeom>
          <a:noFill/>
        </p:spPr>
        <p:txBody>
          <a:bodyPr wrap="square" lIns="18288" tIns="0" rIns="18288" bIns="0">
            <a:spAutoFit/>
          </a:bodyPr>
          <a:lstStyle/>
          <a:p>
            <a:pPr algn="l"/>
            <a:r>
              <a:rPr sz="1200" b="0">
                <a:solidFill>
                  <a:srgbClr val="1B2A41"/>
                </a:solidFill>
                <a:latin typeface="Arial"/>
              </a:rPr>
              <a:t>Golden rules</a:t>
            </a:r>
          </a:p>
          <a:p>
            <a:pPr algn="l"/>
            <a:endParaRPr sz="1200" b="0">
              <a:solidFill>
                <a:srgbClr val="1B2A41"/>
              </a:solidFill>
              <a:latin typeface="Arial"/>
            </a:endParaRPr>
          </a:p>
          <a:p>
            <a:pPr algn="l"/>
            <a:r>
              <a:rPr sz="1200" b="0">
                <a:solidFill>
                  <a:srgbClr val="1B2A41"/>
                </a:solidFill>
                <a:latin typeface="Arial"/>
              </a:rPr>
              <a:t>Do not customize outside development.</a:t>
            </a:r>
          </a:p>
          <a:p>
            <a:pPr algn="l"/>
            <a:r>
              <a:rPr sz="1200" b="0">
                <a:solidFill>
                  <a:srgbClr val="1B2A41"/>
                </a:solidFill>
                <a:latin typeface="Arial"/>
              </a:rPr>
              <a:t>Always work in the context of solutions.</a:t>
            </a:r>
          </a:p>
          <a:p>
            <a:pPr algn="l"/>
            <a:r>
              <a:rPr sz="1200" b="0">
                <a:solidFill>
                  <a:srgbClr val="1B2A41"/>
                </a:solidFill>
                <a:latin typeface="Arial"/>
              </a:rPr>
              <a:t>Use a custom publisher and prefix.</a:t>
            </a:r>
          </a:p>
          <a:p>
            <a:pPr algn="l"/>
            <a:r>
              <a:rPr sz="1200" b="0">
                <a:solidFill>
                  <a:srgbClr val="1B2A41"/>
                </a:solidFill>
                <a:latin typeface="Arial"/>
              </a:rPr>
              <a:t>Environment variables for settings and secrets.</a:t>
            </a:r>
          </a:p>
          <a:p>
            <a:pPr algn="l"/>
            <a:r>
              <a:rPr sz="1200" b="0">
                <a:solidFill>
                  <a:srgbClr val="1B2A41"/>
                </a:solidFill>
                <a:latin typeface="Arial"/>
              </a:rPr>
              <a:t>Export as managed, except into development.</a:t>
            </a:r>
          </a:p>
          <a:p>
            <a:pPr algn="l"/>
            <a:r>
              <a:rPr sz="1200" b="0">
                <a:solidFill>
                  <a:srgbClr val="1B2A41"/>
                </a:solidFill>
                <a:latin typeface="Arial"/>
              </a:rPr>
              <a:t>Automate with pipelines or Git integration.</a:t>
            </a:r>
          </a:p>
        </p:txBody>
      </p:sp>
      <p:sp>
        <p:nvSpPr>
          <p:cNvPr id="14" name="TextBox 13"/>
          <p:cNvSpPr txBox="1"/>
          <p:nvPr/>
        </p:nvSpPr>
        <p:spPr>
          <a:xfrm>
            <a:off x="4663440" y="2871216"/>
            <a:ext cx="3977639" cy="1828800"/>
          </a:xfrm>
          <a:prstGeom prst="rect">
            <a:avLst/>
          </a:prstGeom>
          <a:noFill/>
        </p:spPr>
        <p:txBody>
          <a:bodyPr wrap="square" lIns="18288" tIns="0" rIns="18288" bIns="0">
            <a:spAutoFit/>
          </a:bodyPr>
          <a:lstStyle/>
          <a:p>
            <a:pPr algn="l"/>
            <a:r>
              <a:rPr sz="1200" b="0">
                <a:solidFill>
                  <a:srgbClr val="1B2A41"/>
                </a:solidFill>
                <a:latin typeface="Arial"/>
              </a:rPr>
              <a:t>Not solution-aware: redo after every deployment</a:t>
            </a:r>
          </a:p>
          <a:p>
            <a:pPr algn="l"/>
            <a:endParaRPr sz="1200" b="0">
              <a:solidFill>
                <a:srgbClr val="1B2A41"/>
              </a:solidFill>
              <a:latin typeface="Arial"/>
            </a:endParaRPr>
          </a:p>
          <a:p>
            <a:pPr algn="l"/>
            <a:r>
              <a:rPr sz="1200" b="0">
                <a:solidFill>
                  <a:srgbClr val="1B2A41"/>
                </a:solidFill>
                <a:latin typeface="Arial"/>
              </a:rPr>
              <a:t>Application Insights settings.</a:t>
            </a:r>
          </a:p>
          <a:p>
            <a:pPr algn="l"/>
            <a:r>
              <a:rPr sz="1200" b="0">
                <a:solidFill>
                  <a:srgbClr val="1B2A41"/>
                </a:solidFill>
                <a:latin typeface="Arial"/>
              </a:rPr>
              <a:t>Manual authentication settings.</a:t>
            </a:r>
          </a:p>
          <a:p>
            <a:pPr algn="l"/>
            <a:r>
              <a:rPr sz="1200" b="0">
                <a:solidFill>
                  <a:srgbClr val="1B2A41"/>
                </a:solidFill>
                <a:latin typeface="Arial"/>
              </a:rPr>
              <a:t>Direct Line and web channel security.</a:t>
            </a:r>
          </a:p>
          <a:p>
            <a:pPr algn="l"/>
            <a:r>
              <a:rPr sz="1200" b="0">
                <a:solidFill>
                  <a:srgbClr val="1B2A41"/>
                </a:solidFill>
                <a:latin typeface="Arial"/>
              </a:rPr>
              <a:t>Deployed channels.</a:t>
            </a:r>
          </a:p>
          <a:p>
            <a:pPr algn="l"/>
            <a:r>
              <a:rPr sz="1200" b="0">
                <a:solidFill>
                  <a:srgbClr val="1B2A41"/>
                </a:solidFill>
                <a:latin typeface="Arial"/>
              </a:rPr>
              <a:t>Sharing, with makers and with end users.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Publishing and audience access</a:t>
            </a:r>
          </a:p>
        </p:txBody>
      </p:sp>
      <p:sp>
        <p:nvSpPr>
          <p:cNvPr id="3" name="Rounded Rectangle 2"/>
          <p:cNvSpPr/>
          <p:nvPr/>
        </p:nvSpPr>
        <p:spPr>
          <a:xfrm>
            <a:off x="502920" y="1554480"/>
            <a:ext cx="1842515" cy="822960"/>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Tested draft</a:t>
            </a:r>
          </a:p>
        </p:txBody>
      </p:sp>
      <p:sp>
        <p:nvSpPr>
          <p:cNvPr id="4" name="Right Arrow 3"/>
          <p:cNvSpPr/>
          <p:nvPr/>
        </p:nvSpPr>
        <p:spPr>
          <a:xfrm>
            <a:off x="2386583" y="1883664"/>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2487168"/>
            <a:ext cx="1842515" cy="1051560"/>
          </a:xfrm>
          <a:prstGeom prst="rect">
            <a:avLst/>
          </a:prstGeom>
          <a:noFill/>
        </p:spPr>
        <p:txBody>
          <a:bodyPr wrap="square" lIns="18288" tIns="0" rIns="18288" bIns="0">
            <a:spAutoFit/>
          </a:bodyPr>
          <a:lstStyle/>
          <a:p>
            <a:pPr algn="ctr"/>
            <a:r>
              <a:rPr sz="1100" b="0">
                <a:solidFill>
                  <a:srgbClr val="4A6076"/>
                </a:solidFill>
                <a:latin typeface="Arial"/>
              </a:rPr>
              <a:t>Evaluation sets pass and</a:t>
            </a:r>
          </a:p>
          <a:p>
            <a:pPr algn="ctr"/>
            <a:r>
              <a:rPr sz="1100" b="0">
                <a:solidFill>
                  <a:srgbClr val="4A6076"/>
                </a:solidFill>
                <a:latin typeface="Arial"/>
              </a:rPr>
              <a:t>the transcripts back it up</a:t>
            </a:r>
          </a:p>
        </p:txBody>
      </p:sp>
      <p:sp>
        <p:nvSpPr>
          <p:cNvPr id="6" name="Rounded Rectangle 5"/>
          <p:cNvSpPr/>
          <p:nvPr/>
        </p:nvSpPr>
        <p:spPr>
          <a:xfrm>
            <a:off x="2601468" y="1554480"/>
            <a:ext cx="1842515" cy="822960"/>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Publish version</a:t>
            </a:r>
          </a:p>
        </p:txBody>
      </p:sp>
      <p:sp>
        <p:nvSpPr>
          <p:cNvPr id="7" name="Right Arrow 6"/>
          <p:cNvSpPr/>
          <p:nvPr/>
        </p:nvSpPr>
        <p:spPr>
          <a:xfrm>
            <a:off x="4485131" y="1883664"/>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601468" y="2487168"/>
            <a:ext cx="1842515" cy="1051560"/>
          </a:xfrm>
          <a:prstGeom prst="rect">
            <a:avLst/>
          </a:prstGeom>
          <a:noFill/>
        </p:spPr>
        <p:txBody>
          <a:bodyPr wrap="square" lIns="18288" tIns="0" rIns="18288" bIns="0">
            <a:spAutoFit/>
          </a:bodyPr>
          <a:lstStyle/>
          <a:p>
            <a:pPr algn="ctr"/>
            <a:r>
              <a:rPr sz="1100" b="0">
                <a:solidFill>
                  <a:srgbClr val="4A6076"/>
                </a:solidFill>
                <a:latin typeface="Arial"/>
              </a:rPr>
              <a:t>Publishing promotes the</a:t>
            </a:r>
          </a:p>
          <a:p>
            <a:pPr algn="ctr"/>
            <a:r>
              <a:rPr sz="1100" b="0">
                <a:solidFill>
                  <a:srgbClr val="4A6076"/>
                </a:solidFill>
                <a:latin typeface="Arial"/>
              </a:rPr>
              <a:t>configured version, not</a:t>
            </a:r>
          </a:p>
          <a:p>
            <a:pPr algn="ctr"/>
            <a:r>
              <a:rPr sz="1100" b="0">
                <a:solidFill>
                  <a:srgbClr val="4A6076"/>
                </a:solidFill>
                <a:latin typeface="Arial"/>
              </a:rPr>
              <a:t>your editor state</a:t>
            </a:r>
          </a:p>
        </p:txBody>
      </p:sp>
      <p:sp>
        <p:nvSpPr>
          <p:cNvPr id="9" name="Rounded Rectangle 8"/>
          <p:cNvSpPr/>
          <p:nvPr/>
        </p:nvSpPr>
        <p:spPr>
          <a:xfrm>
            <a:off x="4700016" y="1554480"/>
            <a:ext cx="1842515" cy="822960"/>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Scope the channel</a:t>
            </a:r>
          </a:p>
        </p:txBody>
      </p:sp>
      <p:sp>
        <p:nvSpPr>
          <p:cNvPr id="10" name="Right Arrow 9"/>
          <p:cNvSpPr/>
          <p:nvPr/>
        </p:nvSpPr>
        <p:spPr>
          <a:xfrm>
            <a:off x="6583679" y="1883664"/>
            <a:ext cx="173736" cy="164592"/>
          </a:xfrm>
          <a:prstGeom prst="rightArrow">
            <a:avLst/>
          </a:prstGeom>
          <a:solidFill>
            <a:srgbClr val="4A6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00016" y="2487168"/>
            <a:ext cx="1842515" cy="1051560"/>
          </a:xfrm>
          <a:prstGeom prst="rect">
            <a:avLst/>
          </a:prstGeom>
          <a:noFill/>
        </p:spPr>
        <p:txBody>
          <a:bodyPr wrap="square" lIns="18288" tIns="0" rIns="18288" bIns="0">
            <a:spAutoFit/>
          </a:bodyPr>
          <a:lstStyle/>
          <a:p>
            <a:pPr algn="ctr"/>
            <a:r>
              <a:rPr sz="1100" b="0">
                <a:solidFill>
                  <a:srgbClr val="4A6076"/>
                </a:solidFill>
                <a:latin typeface="Arial"/>
              </a:rPr>
              <a:t>Channel plus access</a:t>
            </a:r>
          </a:p>
          <a:p>
            <a:pPr algn="ctr"/>
            <a:r>
              <a:rPr sz="1100" b="0">
                <a:solidFill>
                  <a:srgbClr val="4A6076"/>
                </a:solidFill>
                <a:latin typeface="Arial"/>
              </a:rPr>
              <a:t>control decides who</a:t>
            </a:r>
          </a:p>
          <a:p>
            <a:pPr algn="ctr"/>
            <a:r>
              <a:rPr sz="1100" b="0">
                <a:solidFill>
                  <a:srgbClr val="4A6076"/>
                </a:solidFill>
                <a:latin typeface="Arial"/>
              </a:rPr>
              <a:t>can actually reach it</a:t>
            </a:r>
          </a:p>
        </p:txBody>
      </p:sp>
      <p:sp>
        <p:nvSpPr>
          <p:cNvPr id="12" name="Rounded Rectangle 11"/>
          <p:cNvSpPr/>
          <p:nvPr/>
        </p:nvSpPr>
        <p:spPr>
          <a:xfrm>
            <a:off x="6798564" y="1554480"/>
            <a:ext cx="1842515" cy="822960"/>
          </a:xfrm>
          <a:prstGeom prst="roundRect">
            <a:avLst/>
          </a:prstGeom>
          <a:solidFill>
            <a:srgbClr val="DDE9F6"/>
          </a:solidFill>
          <a:ln w="15875">
            <a:solidFill>
              <a:srgbClr val="1F5FA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B2A41"/>
                </a:solidFill>
                <a:latin typeface="Arial"/>
              </a:rPr>
              <a:t>Fresh session</a:t>
            </a:r>
          </a:p>
        </p:txBody>
      </p:sp>
      <p:sp>
        <p:nvSpPr>
          <p:cNvPr id="13" name="TextBox 12"/>
          <p:cNvSpPr txBox="1"/>
          <p:nvPr/>
        </p:nvSpPr>
        <p:spPr>
          <a:xfrm>
            <a:off x="6798564" y="2487168"/>
            <a:ext cx="1842515" cy="1051560"/>
          </a:xfrm>
          <a:prstGeom prst="rect">
            <a:avLst/>
          </a:prstGeom>
          <a:noFill/>
        </p:spPr>
        <p:txBody>
          <a:bodyPr wrap="square" lIns="18288" tIns="0" rIns="18288" bIns="0">
            <a:spAutoFit/>
          </a:bodyPr>
          <a:lstStyle/>
          <a:p>
            <a:pPr algn="ctr"/>
            <a:r>
              <a:rPr sz="1100" b="0">
                <a:solidFill>
                  <a:srgbClr val="4A6076"/>
                </a:solidFill>
                <a:latin typeface="Arial"/>
              </a:rPr>
              <a:t>Sign in as a real user and</a:t>
            </a:r>
          </a:p>
          <a:p>
            <a:pPr algn="ctr"/>
            <a:r>
              <a:rPr sz="1100" b="0">
                <a:solidFill>
                  <a:srgbClr val="4A6076"/>
                </a:solidFill>
                <a:latin typeface="Arial"/>
              </a:rPr>
              <a:t>run the conversation from</a:t>
            </a:r>
          </a:p>
          <a:p>
            <a:pPr algn="ctr"/>
            <a:r>
              <a:rPr sz="1100" b="0">
                <a:solidFill>
                  <a:srgbClr val="4A6076"/>
                </a:solidFill>
                <a:latin typeface="Arial"/>
              </a:rPr>
              <a:t>the beginning</a:t>
            </a:r>
          </a:p>
        </p:txBody>
      </p:sp>
      <p:sp>
        <p:nvSpPr>
          <p:cNvPr id="14" name="TextBox 13"/>
          <p:cNvSpPr txBox="1"/>
          <p:nvPr/>
        </p:nvSpPr>
        <p:spPr>
          <a:xfrm>
            <a:off x="502920" y="3877056"/>
            <a:ext cx="8138160" cy="777240"/>
          </a:xfrm>
          <a:prstGeom prst="rect">
            <a:avLst/>
          </a:prstGeom>
          <a:noFill/>
        </p:spPr>
        <p:txBody>
          <a:bodyPr wrap="square" lIns="18288" tIns="0" rIns="18288" bIns="0">
            <a:spAutoFit/>
          </a:bodyPr>
          <a:lstStyle/>
          <a:p>
            <a:pPr algn="l"/>
            <a:r>
              <a:rPr sz="1300" b="0">
                <a:solidFill>
                  <a:srgbClr val="1B2A41"/>
                </a:solidFill>
                <a:latin typeface="Arial"/>
              </a:rPr>
              <a:t>Publishing to an organizational catalog can require administrator approval, so build that wait into the plan rather than the launch day.</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Channel choice changes the checks</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learn.microsoft.com/microsoft-copilot-studio/guidance/channels</a:t>
            </a:r>
          </a:p>
        </p:txBody>
      </p:sp>
      <p:graphicFrame>
        <p:nvGraphicFramePr>
          <p:cNvPr id="5" name="Table 4"/>
          <p:cNvGraphicFramePr>
            <a:graphicFrameLocks noGrp="1"/>
          </p:cNvGraphicFramePr>
          <p:nvPr/>
        </p:nvGraphicFramePr>
        <p:xfrm>
          <a:off x="502920" y="1335024"/>
          <a:ext cx="8138159" cy="3346704"/>
        </p:xfrm>
        <a:graphic>
          <a:graphicData uri="http://schemas.openxmlformats.org/drawingml/2006/table">
            <a:tbl>
              <a:tblPr>
                <a:tableStyleId>{2D5ABB26-0587-4C30-8999-92F81FD0307C}</a:tableStyleId>
              </a:tblPr>
              <a:tblGrid>
                <a:gridCol w="2929737">
                  <a:extLst>
                    <a:ext uri="{9D8B030D-6E8A-4147-A177-3AD203B41FA5}">
                      <a16:colId xmlns:a16="http://schemas.microsoft.com/office/drawing/2014/main" val="20000"/>
                    </a:ext>
                  </a:extLst>
                </a:gridCol>
                <a:gridCol w="5208422">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Channel</a:t>
                      </a:r>
                    </a:p>
                  </a:txBody>
                  <a:tcPr marR="73152" marT="36576" marB="36576" anchor="ctr">
                    <a:solidFill>
                      <a:srgbClr val="1B2A41"/>
                    </a:solidFill>
                  </a:tcPr>
                </a:tc>
                <a:tc>
                  <a:txBody>
                    <a:bodyPr/>
                    <a:lstStyle/>
                    <a:p>
                      <a:r>
                        <a:rPr sz="1400" b="1">
                          <a:solidFill>
                            <a:srgbClr val="FFFFFF"/>
                          </a:solidFill>
                          <a:latin typeface="Arial"/>
                        </a:rPr>
                        <a:t>Preparation to verify</a:t>
                      </a:r>
                    </a:p>
                  </a:txBody>
                  <a:tcPr marR="73152" marT="36576" marB="36576" anchor="ctr">
                    <a:solidFill>
                      <a:srgbClr val="1B2A41"/>
                    </a:solidFill>
                  </a:tcPr>
                </a:tc>
                <a:extLst>
                  <a:ext uri="{0D108BD9-81ED-4DB2-BD59-A6C34878D82A}">
                    <a16:rowId xmlns:a16="http://schemas.microsoft.com/office/drawing/2014/main" val="10000"/>
                  </a:ext>
                </a:extLst>
              </a:tr>
              <a:tr h="745236">
                <a:tc>
                  <a:txBody>
                    <a:bodyPr/>
                    <a:lstStyle/>
                    <a:p>
                      <a:r>
                        <a:rPr sz="1400" b="1">
                          <a:solidFill>
                            <a:srgbClr val="1B2A41"/>
                          </a:solidFill>
                          <a:latin typeface="Arial"/>
                        </a:rPr>
                        <a:t>Teams: course demonstration</a:t>
                      </a:r>
                    </a:p>
                  </a:txBody>
                  <a:tcPr marR="73152" marT="36576" marB="36576" anchor="ctr">
                    <a:solidFill>
                      <a:srgbClr val="FFFFFF"/>
                    </a:solidFill>
                  </a:tcPr>
                </a:tc>
                <a:tc>
                  <a:txBody>
                    <a:bodyPr/>
                    <a:lstStyle/>
                    <a:p>
                      <a:r>
                        <a:rPr sz="1400" b="0">
                          <a:solidFill>
                            <a:srgbClr val="1B2A41"/>
                          </a:solidFill>
                          <a:latin typeface="Arial"/>
                        </a:rPr>
                        <a:t>Entitlement, scoped access, installation, a fresh conversation</a:t>
                      </a:r>
                    </a:p>
                  </a:txBody>
                  <a:tcPr marR="73152" marT="36576" marB="36576" anchor="ctr">
                    <a:solidFill>
                      <a:srgbClr val="FFFFFF"/>
                    </a:solidFill>
                  </a:tcPr>
                </a:tc>
                <a:extLst>
                  <a:ext uri="{0D108BD9-81ED-4DB2-BD59-A6C34878D82A}">
                    <a16:rowId xmlns:a16="http://schemas.microsoft.com/office/drawing/2014/main" val="10001"/>
                  </a:ext>
                </a:extLst>
              </a:tr>
              <a:tr h="745236">
                <a:tc>
                  <a:txBody>
                    <a:bodyPr/>
                    <a:lstStyle/>
                    <a:p>
                      <a:r>
                        <a:rPr sz="1400" b="1">
                          <a:solidFill>
                            <a:srgbClr val="1B2A41"/>
                          </a:solidFill>
                          <a:latin typeface="Arial"/>
                        </a:rPr>
                        <a:t>SharePoint: comparison</a:t>
                      </a:r>
                    </a:p>
                  </a:txBody>
                  <a:tcPr marR="73152" marT="36576" marB="36576" anchor="ctr">
                    <a:solidFill>
                      <a:srgbClr val="EEF1F4"/>
                    </a:solidFill>
                  </a:tcPr>
                </a:tc>
                <a:tc>
                  <a:txBody>
                    <a:bodyPr/>
                    <a:lstStyle/>
                    <a:p>
                      <a:r>
                        <a:rPr sz="1400" b="0">
                          <a:solidFill>
                            <a:srgbClr val="1B2A41"/>
                          </a:solidFill>
                          <a:latin typeface="Arial"/>
                        </a:rPr>
                        <a:t>Site permission, published agent, allowed deployment</a:t>
                      </a:r>
                    </a:p>
                  </a:txBody>
                  <a:tcPr marR="73152" marT="36576" marB="36576" anchor="ctr">
                    <a:solidFill>
                      <a:srgbClr val="EEF1F4"/>
                    </a:solidFill>
                  </a:tcPr>
                </a:tc>
                <a:extLst>
                  <a:ext uri="{0D108BD9-81ED-4DB2-BD59-A6C34878D82A}">
                    <a16:rowId xmlns:a16="http://schemas.microsoft.com/office/drawing/2014/main" val="10002"/>
                  </a:ext>
                </a:extLst>
              </a:tr>
              <a:tr h="745236">
                <a:tc>
                  <a:txBody>
                    <a:bodyPr/>
                    <a:lstStyle/>
                    <a:p>
                      <a:r>
                        <a:rPr sz="1400" b="1">
                          <a:solidFill>
                            <a:srgbClr val="1B2A41"/>
                          </a:solidFill>
                          <a:latin typeface="Arial"/>
                        </a:rPr>
                        <a:t>Microsoft 365 Copilot: comparison</a:t>
                      </a:r>
                    </a:p>
                  </a:txBody>
                  <a:tcPr marR="73152" marT="36576" marB="36576" anchor="ctr">
                    <a:solidFill>
                      <a:srgbClr val="FFFFFF"/>
                    </a:solidFill>
                  </a:tcPr>
                </a:tc>
                <a:tc>
                  <a:txBody>
                    <a:bodyPr/>
                    <a:lstStyle/>
                    <a:p>
                      <a:r>
                        <a:rPr sz="1400" b="0">
                          <a:solidFill>
                            <a:srgbClr val="1B2A41"/>
                          </a:solidFill>
                          <a:latin typeface="Arial"/>
                        </a:rPr>
                        <a:t>Channel configuration and an approved audience</a:t>
                      </a:r>
                    </a:p>
                  </a:txBody>
                  <a:tcPr marR="73152" marT="36576" marB="36576" anchor="ctr">
                    <a:solidFill>
                      <a:srgbClr val="FFFFFF"/>
                    </a:solidFill>
                  </a:tcPr>
                </a:tc>
                <a:extLst>
                  <a:ext uri="{0D108BD9-81ED-4DB2-BD59-A6C34878D82A}">
                    <a16:rowId xmlns:a16="http://schemas.microsoft.com/office/drawing/2014/main" val="10003"/>
                  </a:ext>
                </a:extLst>
              </a:tr>
              <a:tr h="745236">
                <a:tc>
                  <a:txBody>
                    <a:bodyPr/>
                    <a:lstStyle/>
                    <a:p>
                      <a:r>
                        <a:rPr sz="1400" b="1">
                          <a:solidFill>
                            <a:srgbClr val="1B2A41"/>
                          </a:solidFill>
                          <a:latin typeface="Arial"/>
                        </a:rPr>
                        <a:t>Every channel</a:t>
                      </a:r>
                    </a:p>
                  </a:txBody>
                  <a:tcPr marR="73152" marT="36576" marB="36576" anchor="ctr">
                    <a:solidFill>
                      <a:srgbClr val="EEF1F4"/>
                    </a:solidFill>
                  </a:tcPr>
                </a:tc>
                <a:tc>
                  <a:txBody>
                    <a:bodyPr/>
                    <a:lstStyle/>
                    <a:p>
                      <a:r>
                        <a:rPr sz="1400" b="0">
                          <a:solidFill>
                            <a:srgbClr val="1B2A41"/>
                          </a:solidFill>
                          <a:latin typeface="Arial"/>
                        </a:rPr>
                        <a:t>Real user access, source permissions, and the message formats it supports</a:t>
                      </a:r>
                    </a:p>
                  </a:txBody>
                  <a:tcPr marR="73152" marT="36576" marB="36576" anchor="ctr">
                    <a:solidFill>
                      <a:srgbClr val="EEF1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Before you publish</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700" b="0">
                <a:latin typeface="Arial"/>
              </a:rPr>
              <a:t>Knowledge sources are current, approved, in scope, and stale content is gone</a:t>
            </a:r>
          </a:p>
          <a:p>
            <a:pPr>
              <a:spcAft>
                <a:spcPts val="800"/>
              </a:spcAft>
            </a:pPr>
            <a:r>
              <a:rPr sz="1700" b="0">
                <a:latin typeface="Arial"/>
              </a:rPr>
              <a:t>Every tool has a clear name, description, inputs, and outputs</a:t>
            </a:r>
          </a:p>
          <a:p>
            <a:pPr>
              <a:spcAft>
                <a:spcPts val="800"/>
              </a:spcAft>
            </a:pPr>
            <a:r>
              <a:rPr sz="1700" b="0">
                <a:latin typeface="Arial"/>
              </a:rPr>
              <a:t>Decision boundaries are written down: act, confirm, approve</a:t>
            </a:r>
          </a:p>
          <a:p>
            <a:pPr>
              <a:spcAft>
                <a:spcPts val="800"/>
              </a:spcAft>
            </a:pPr>
            <a:r>
              <a:rPr sz="1700" b="0">
                <a:latin typeface="Arial"/>
              </a:rPr>
              <a:t>Authentication is settled: user credentials or maker credentials, per integration</a:t>
            </a:r>
          </a:p>
          <a:p>
            <a:pPr>
              <a:spcAft>
                <a:spcPts val="800"/>
              </a:spcAft>
            </a:pPr>
            <a:r>
              <a:rPr sz="1700" b="0">
                <a:latin typeface="Arial"/>
              </a:rPr>
              <a:t>Each tool tested on its own for payload, schema, error state, and latency</a:t>
            </a:r>
          </a:p>
          <a:p>
            <a:pPr>
              <a:spcAft>
                <a:spcPts val="800"/>
              </a:spcAft>
            </a:pPr>
            <a:r>
              <a:rPr sz="1700" b="0">
                <a:latin typeface="Arial"/>
              </a:rPr>
              <a:t>Channel message formats verified: Markdown, Adaptive Cards, images</a:t>
            </a:r>
          </a:p>
        </p:txBody>
      </p:sp>
      <p:sp>
        <p:nvSpPr>
          <p:cNvPr id="4" name="Text Placeholder 3"/>
          <p:cNvSpPr>
            <a:spLocks noGrp="1"/>
          </p:cNvSpPr>
          <p:nvPr>
            <p:ph type="body" idx="2"/>
          </p:nvPr>
        </p:nvSpPr>
        <p:spPr>
          <a:xfrm>
            <a:off x="502920" y="4754880"/>
            <a:ext cx="8129016" cy="292608"/>
          </a:xfrm>
        </p:spPr>
        <p:txBody>
          <a:bodyPr wrap="square"/>
          <a:lstStyle/>
          <a:p>
            <a:pPr marL="0" indent="0">
              <a:buNone/>
            </a:pPr>
            <a:r>
              <a:rPr sz="1000" b="0">
                <a:solidFill>
                  <a:srgbClr val="9AA5B1"/>
                </a:solidFill>
                <a:latin typeface="Arial"/>
              </a:rPr>
              <a:t>learn.microsoft.com/microsoft-copilot-studio/guidance/implement-checklist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Scoping a pilot</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900" b="0">
                <a:latin typeface="Arial"/>
              </a:rPr>
              <a:t>Named users, a named owner, a data boundary, and a stop condition</a:t>
            </a:r>
          </a:p>
          <a:p>
            <a:pPr>
              <a:spcAft>
                <a:spcPts val="800"/>
              </a:spcAft>
            </a:pPr>
            <a:r>
              <a:rPr sz="1900" b="0">
                <a:latin typeface="Arial"/>
              </a:rPr>
              <a:t>One measured result, with its evidence source labeled</a:t>
            </a:r>
          </a:p>
          <a:p>
            <a:pPr>
              <a:spcAft>
                <a:spcPts val="800"/>
              </a:spcAft>
            </a:pPr>
            <a:r>
              <a:rPr sz="1900" b="0">
                <a:latin typeface="Arial"/>
              </a:rPr>
              <a:t>A review date, and the finding that would end the pilot early</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The same pattern at work</a:t>
            </a:r>
          </a:p>
        </p:txBody>
      </p:sp>
      <p:graphicFrame>
        <p:nvGraphicFramePr>
          <p:cNvPr id="3" name="Table 2"/>
          <p:cNvGraphicFramePr>
            <a:graphicFrameLocks noGrp="1"/>
          </p:cNvGraphicFramePr>
          <p:nvPr/>
        </p:nvGraphicFramePr>
        <p:xfrm>
          <a:off x="502920" y="1335024"/>
          <a:ext cx="8138159" cy="3346704"/>
        </p:xfrm>
        <a:graphic>
          <a:graphicData uri="http://schemas.openxmlformats.org/drawingml/2006/table">
            <a:tbl>
              <a:tblPr>
                <a:tableStyleId>{2D5ABB26-0587-4C30-8999-92F81FD0307C}</a:tableStyleId>
              </a:tblPr>
              <a:tblGrid>
                <a:gridCol w="2929737">
                  <a:extLst>
                    <a:ext uri="{9D8B030D-6E8A-4147-A177-3AD203B41FA5}">
                      <a16:colId xmlns:a16="http://schemas.microsoft.com/office/drawing/2014/main" val="20000"/>
                    </a:ext>
                  </a:extLst>
                </a:gridCol>
                <a:gridCol w="5208422">
                  <a:extLst>
                    <a:ext uri="{9D8B030D-6E8A-4147-A177-3AD203B41FA5}">
                      <a16:colId xmlns:a16="http://schemas.microsoft.com/office/drawing/2014/main" val="20001"/>
                    </a:ext>
                  </a:extLst>
                </a:gridCol>
              </a:tblGrid>
              <a:tr h="365760">
                <a:tc>
                  <a:txBody>
                    <a:bodyPr/>
                    <a:lstStyle/>
                    <a:p>
                      <a:r>
                        <a:rPr sz="1400" b="1">
                          <a:solidFill>
                            <a:srgbClr val="FFFFFF"/>
                          </a:solidFill>
                          <a:latin typeface="Arial"/>
                        </a:rPr>
                        <a:t>Course component</a:t>
                      </a:r>
                    </a:p>
                  </a:txBody>
                  <a:tcPr marR="73152" marT="36576" marB="36576" anchor="ctr">
                    <a:solidFill>
                      <a:srgbClr val="1B2A41"/>
                    </a:solidFill>
                  </a:tcPr>
                </a:tc>
                <a:tc>
                  <a:txBody>
                    <a:bodyPr/>
                    <a:lstStyle/>
                    <a:p>
                      <a:r>
                        <a:rPr sz="1400" b="1">
                          <a:solidFill>
                            <a:srgbClr val="FFFFFF"/>
                          </a:solidFill>
                          <a:latin typeface="Arial"/>
                        </a:rPr>
                        <a:t>Workplace transfer</a:t>
                      </a:r>
                    </a:p>
                  </a:txBody>
                  <a:tcPr marR="73152" marT="36576" marB="36576" anchor="ctr">
                    <a:solidFill>
                      <a:srgbClr val="1B2A41"/>
                    </a:solidFill>
                  </a:tcPr>
                </a:tc>
                <a:extLst>
                  <a:ext uri="{0D108BD9-81ED-4DB2-BD59-A6C34878D82A}">
                    <a16:rowId xmlns:a16="http://schemas.microsoft.com/office/drawing/2014/main" val="10000"/>
                  </a:ext>
                </a:extLst>
              </a:tr>
              <a:tr h="745236">
                <a:tc>
                  <a:txBody>
                    <a:bodyPr/>
                    <a:lstStyle/>
                    <a:p>
                      <a:r>
                        <a:rPr sz="1400" b="1">
                          <a:solidFill>
                            <a:srgbClr val="1B2A41"/>
                          </a:solidFill>
                          <a:latin typeface="Arial"/>
                        </a:rPr>
                        <a:t>AI-901 reference</a:t>
                      </a:r>
                    </a:p>
                  </a:txBody>
                  <a:tcPr marR="73152" marT="36576" marB="36576" anchor="ctr">
                    <a:solidFill>
                      <a:srgbClr val="FFFFFF"/>
                    </a:solidFill>
                  </a:tcPr>
                </a:tc>
                <a:tc>
                  <a:txBody>
                    <a:bodyPr/>
                    <a:lstStyle/>
                    <a:p>
                      <a:r>
                        <a:rPr sz="1400" b="0">
                          <a:solidFill>
                            <a:srgbClr val="1B2A41"/>
                          </a:solidFill>
                          <a:latin typeface="Arial"/>
                        </a:rPr>
                        <a:t>Approved internal knowledge</a:t>
                      </a:r>
                    </a:p>
                  </a:txBody>
                  <a:tcPr marR="73152" marT="36576" marB="36576" anchor="ctr">
                    <a:solidFill>
                      <a:srgbClr val="FFFFFF"/>
                    </a:solidFill>
                  </a:tcPr>
                </a:tc>
                <a:extLst>
                  <a:ext uri="{0D108BD9-81ED-4DB2-BD59-A6C34878D82A}">
                    <a16:rowId xmlns:a16="http://schemas.microsoft.com/office/drawing/2014/main" val="10001"/>
                  </a:ext>
                </a:extLst>
              </a:tr>
              <a:tr h="745236">
                <a:tc>
                  <a:txBody>
                    <a:bodyPr/>
                    <a:lstStyle/>
                    <a:p>
                      <a:r>
                        <a:rPr sz="1400" b="1">
                          <a:solidFill>
                            <a:srgbClr val="1B2A41"/>
                          </a:solidFill>
                          <a:latin typeface="Arial"/>
                        </a:rPr>
                        <a:t>Practice topic</a:t>
                      </a:r>
                    </a:p>
                  </a:txBody>
                  <a:tcPr marR="73152" marT="36576" marB="36576" anchor="ctr">
                    <a:solidFill>
                      <a:srgbClr val="EEF1F4"/>
                    </a:solidFill>
                  </a:tcPr>
                </a:tc>
                <a:tc>
                  <a:txBody>
                    <a:bodyPr/>
                    <a:lstStyle/>
                    <a:p>
                      <a:r>
                        <a:rPr sz="1400" b="0">
                          <a:solidFill>
                            <a:srgbClr val="1B2A41"/>
                          </a:solidFill>
                          <a:latin typeface="Arial"/>
                        </a:rPr>
                        <a:t>A controlled training or triage interaction</a:t>
                      </a:r>
                    </a:p>
                  </a:txBody>
                  <a:tcPr marR="73152" marT="36576" marB="36576" anchor="ctr">
                    <a:solidFill>
                      <a:srgbClr val="EEF1F4"/>
                    </a:solidFill>
                  </a:tcPr>
                </a:tc>
                <a:extLst>
                  <a:ext uri="{0D108BD9-81ED-4DB2-BD59-A6C34878D82A}">
                    <a16:rowId xmlns:a16="http://schemas.microsoft.com/office/drawing/2014/main" val="10002"/>
                  </a:ext>
                </a:extLst>
              </a:tr>
              <a:tr h="745236">
                <a:tc>
                  <a:txBody>
                    <a:bodyPr/>
                    <a:lstStyle/>
                    <a:p>
                      <a:r>
                        <a:rPr sz="1400" b="1">
                          <a:solidFill>
                            <a:srgbClr val="1B2A41"/>
                          </a:solidFill>
                          <a:latin typeface="Arial"/>
                        </a:rPr>
                        <a:t>Study-session tool</a:t>
                      </a:r>
                    </a:p>
                  </a:txBody>
                  <a:tcPr marR="73152" marT="36576" marB="36576" anchor="ctr">
                    <a:solidFill>
                      <a:srgbClr val="FFFFFF"/>
                    </a:solidFill>
                  </a:tcPr>
                </a:tc>
                <a:tc>
                  <a:txBody>
                    <a:bodyPr/>
                    <a:lstStyle/>
                    <a:p>
                      <a:r>
                        <a:rPr sz="1400" b="0">
                          <a:solidFill>
                            <a:srgbClr val="1B2A41"/>
                          </a:solidFill>
                          <a:latin typeface="Arial"/>
                        </a:rPr>
                        <a:t>One bounded lookup or operation</a:t>
                      </a:r>
                    </a:p>
                  </a:txBody>
                  <a:tcPr marR="73152" marT="36576" marB="36576" anchor="ctr">
                    <a:solidFill>
                      <a:srgbClr val="FFFFFF"/>
                    </a:solidFill>
                  </a:tcPr>
                </a:tc>
                <a:extLst>
                  <a:ext uri="{0D108BD9-81ED-4DB2-BD59-A6C34878D82A}">
                    <a16:rowId xmlns:a16="http://schemas.microsoft.com/office/drawing/2014/main" val="10003"/>
                  </a:ext>
                </a:extLst>
              </a:tr>
              <a:tr h="745236">
                <a:tc>
                  <a:txBody>
                    <a:bodyPr/>
                    <a:lstStyle/>
                    <a:p>
                      <a:r>
                        <a:rPr sz="1400" b="1">
                          <a:solidFill>
                            <a:srgbClr val="1B2A41"/>
                          </a:solidFill>
                          <a:latin typeface="Arial"/>
                        </a:rPr>
                        <a:t>Pilot decision</a:t>
                      </a:r>
                    </a:p>
                  </a:txBody>
                  <a:tcPr marR="73152" marT="36576" marB="36576" anchor="ctr">
                    <a:solidFill>
                      <a:srgbClr val="EEF1F4"/>
                    </a:solidFill>
                  </a:tcPr>
                </a:tc>
                <a:tc>
                  <a:txBody>
                    <a:bodyPr/>
                    <a:lstStyle/>
                    <a:p>
                      <a:r>
                        <a:rPr sz="1400" b="0">
                          <a:solidFill>
                            <a:srgbClr val="1B2A41"/>
                          </a:solidFill>
                          <a:latin typeface="Arial"/>
                        </a:rPr>
                        <a:t>Named audience, owner, evidence, and stop condition</a:t>
                      </a:r>
                    </a:p>
                  </a:txBody>
                  <a:tcPr marR="73152" marT="36576" marB="36576" anchor="ctr">
                    <a:solidFill>
                      <a:srgbClr val="EEF1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The outcomes in practice</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900" b="0">
                <a:latin typeface="Arial"/>
              </a:rPr>
              <a:t>Plan: a brief with a testable boundary</a:t>
            </a:r>
          </a:p>
          <a:p>
            <a:pPr>
              <a:spcAft>
                <a:spcPts val="800"/>
              </a:spcAft>
            </a:pPr>
            <a:r>
              <a:rPr sz="1900" b="0">
                <a:latin typeface="Arial"/>
              </a:rPr>
              <a:t>Build: source evidence and a topic that waits</a:t>
            </a:r>
          </a:p>
          <a:p>
            <a:pPr>
              <a:spcAft>
                <a:spcPts val="800"/>
              </a:spcAft>
            </a:pPr>
            <a:r>
              <a:rPr sz="1900" b="0">
                <a:latin typeface="Arial"/>
              </a:rPr>
              <a:t>Extend: a tool contract and a human boundary</a:t>
            </a:r>
          </a:p>
          <a:p>
            <a:pPr>
              <a:spcAft>
                <a:spcPts val="800"/>
              </a:spcAft>
            </a:pPr>
            <a:r>
              <a:rPr sz="1900" b="0">
                <a:latin typeface="Arial"/>
              </a:rPr>
              <a:t>Operate: test evidence and a defensible pilot decision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Warner's Laws of Agent Building</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500" b="0">
                <a:latin typeface="Arial"/>
              </a:rPr>
              <a:t>1.  A fluent answer isn't proof that a tool ran. Go read the activity record.</a:t>
            </a:r>
          </a:p>
          <a:p>
            <a:pPr>
              <a:spcAft>
                <a:spcPts val="800"/>
              </a:spcAft>
            </a:pPr>
            <a:r>
              <a:rPr sz="1500" b="0">
                <a:latin typeface="Arial"/>
              </a:rPr>
              <a:t>2.  Instructions steer behavior. They never grant permission.</a:t>
            </a:r>
          </a:p>
          <a:p>
            <a:pPr>
              <a:spcAft>
                <a:spcPts val="800"/>
              </a:spcAft>
            </a:pPr>
            <a:r>
              <a:rPr sz="1500" b="0">
                <a:latin typeface="Arial"/>
              </a:rPr>
              <a:t>3.  If the agent doesn't wait, it isn't teaching. It's lecturing.</a:t>
            </a:r>
          </a:p>
          <a:p>
            <a:pPr>
              <a:spcAft>
                <a:spcPts val="800"/>
              </a:spcAft>
            </a:pPr>
            <a:r>
              <a:rPr sz="1500" b="0">
                <a:latin typeface="Arial"/>
              </a:rPr>
              <a:t>4.  Ground it or don't claim it. A citation is something you inspect.</a:t>
            </a:r>
          </a:p>
          <a:p>
            <a:pPr>
              <a:spcAft>
                <a:spcPts val="800"/>
              </a:spcAft>
            </a:pPr>
            <a:r>
              <a:rPr sz="1500" b="0">
                <a:latin typeface="Arial"/>
              </a:rPr>
              <a:t>5.  Name the boundary before you name the features.</a:t>
            </a:r>
          </a:p>
          <a:p>
            <a:pPr>
              <a:spcAft>
                <a:spcPts val="800"/>
              </a:spcAft>
            </a:pPr>
            <a:r>
              <a:rPr sz="1500" b="0">
                <a:latin typeface="Arial"/>
              </a:rPr>
              <a:t>6.  A green score on the wrong test set is just a nicer way to be wrong.</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Where to keep reading</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500" b="0">
                <a:latin typeface="Arial"/>
              </a:rPr>
              <a:t>learn.microsoft.com/microsoft-copilot-studio/guidance/overview</a:t>
            </a:r>
          </a:p>
          <a:p>
            <a:pPr>
              <a:spcAft>
                <a:spcPts val="800"/>
              </a:spcAft>
            </a:pPr>
            <a:r>
              <a:rPr sz="1500" b="0">
                <a:latin typeface="Arial"/>
              </a:rPr>
              <a:t>learn.microsoft.com/microsoft-copilot-studio/guidance/implement-checklist</a:t>
            </a:r>
          </a:p>
          <a:p>
            <a:pPr>
              <a:spcAft>
                <a:spcPts val="800"/>
              </a:spcAft>
            </a:pPr>
            <a:r>
              <a:rPr sz="1500" b="0">
                <a:latin typeface="Arial"/>
              </a:rPr>
              <a:t>learn.microsoft.com/microsoft-copilot-studio/guidance/retrieval-augmented-generation</a:t>
            </a:r>
          </a:p>
          <a:p>
            <a:pPr>
              <a:spcAft>
                <a:spcPts val="800"/>
              </a:spcAft>
            </a:pPr>
            <a:r>
              <a:rPr sz="1500" b="0">
                <a:latin typeface="Arial"/>
              </a:rPr>
              <a:t>learn.microsoft.com/microsoft-copilot-studio/agent-extend-action-mcp</a:t>
            </a:r>
          </a:p>
          <a:p>
            <a:pPr>
              <a:spcAft>
                <a:spcPts val="800"/>
              </a:spcAft>
            </a:pPr>
            <a:r>
              <a:rPr sz="1500" b="0">
                <a:latin typeface="Arial"/>
              </a:rPr>
              <a:t>learn.microsoft.com/power-platform/architecture/products/copilot-studio</a:t>
            </a:r>
          </a:p>
          <a:p>
            <a:pPr>
              <a:spcAft>
                <a:spcPts val="800"/>
              </a:spcAft>
            </a:pPr>
            <a:r>
              <a:rPr sz="1500" b="0">
                <a:latin typeface="Arial"/>
              </a:rPr>
              <a:t>learn.microsoft.com/power-platform/well-architected/pillars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56032"/>
            <a:ext cx="7726679" cy="969264"/>
          </a:xfrm>
        </p:spPr>
        <p:txBody>
          <a:bodyPr wrap="square"/>
          <a:lstStyle/>
          <a:p>
            <a:r>
              <a:rPr sz="2600" b="1">
                <a:latin typeface="Arial"/>
              </a:rPr>
              <a:t>Thank you for attending</a:t>
            </a:r>
          </a:p>
        </p:txBody>
      </p:sp>
      <p:sp>
        <p:nvSpPr>
          <p:cNvPr id="3" name="Text Placeholder 2"/>
          <p:cNvSpPr>
            <a:spLocks noGrp="1"/>
          </p:cNvSpPr>
          <p:nvPr>
            <p:ph type="body" idx="1"/>
          </p:nvPr>
        </p:nvSpPr>
        <p:spPr>
          <a:xfrm>
            <a:off x="502920" y="1335024"/>
            <a:ext cx="8138160" cy="3346704"/>
          </a:xfrm>
        </p:spPr>
        <p:txBody>
          <a:bodyPr wrap="square"/>
          <a:lstStyle/>
          <a:p>
            <a:pPr>
              <a:spcAft>
                <a:spcPts val="800"/>
              </a:spcAft>
            </a:pPr>
            <a:r>
              <a:rPr sz="1700" b="0">
                <a:latin typeface="Arial"/>
              </a:rPr>
              <a:t>Please complete the course evaluation</a:t>
            </a:r>
          </a:p>
          <a:p>
            <a:pPr>
              <a:spcAft>
                <a:spcPts val="800"/>
              </a:spcAft>
            </a:pPr>
            <a:r>
              <a:rPr sz="1700" b="0">
                <a:latin typeface="Arial"/>
              </a:rPr>
              <a:t>Recording posts 24 to 48 hours from now at learning.oreilly.com</a:t>
            </a:r>
          </a:p>
          <a:p>
            <a:pPr>
              <a:spcAft>
                <a:spcPts val="800"/>
              </a:spcAft>
            </a:pPr>
            <a:r>
              <a:rPr sz="1700" b="0">
                <a:latin typeface="Arial"/>
              </a:rPr>
              <a:t>Session materials: github.com/timothywarner-org/oreilly-copilot-studio-agents</a:t>
            </a:r>
          </a:p>
          <a:p>
            <a:pPr>
              <a:spcAft>
                <a:spcPts val="800"/>
              </a:spcAft>
            </a:pPr>
            <a:r>
              <a:rPr sz="1700" b="0">
                <a:latin typeface="Arial"/>
              </a:rPr>
              <a:t>Tim Warner  |  TechTrainerTim.com</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D30020"/>
      </a:dk2>
      <a:lt2>
        <a:srgbClr val="666666"/>
      </a:lt2>
      <a:accent1>
        <a:srgbClr val="EE0000"/>
      </a:accent1>
      <a:accent2>
        <a:srgbClr val="EFCC01"/>
      </a:accent2>
      <a:accent3>
        <a:srgbClr val="8E22A7"/>
      </a:accent3>
      <a:accent4>
        <a:srgbClr val="30F358"/>
      </a:accent4>
      <a:accent5>
        <a:srgbClr val="16DFDA"/>
      </a:accent5>
      <a:accent6>
        <a:srgbClr val="0345FF"/>
      </a:accent6>
      <a:hlink>
        <a:srgbClr val="99999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8420</Words>
  <Application>Microsoft Office PowerPoint</Application>
  <PresentationFormat>On-screen Show (16:9)</PresentationFormat>
  <Paragraphs>728</Paragraphs>
  <Slides>66</Slides>
  <Notes>42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66</vt:i4>
      </vt:variant>
    </vt:vector>
  </HeadingPairs>
  <TitlesOfParts>
    <vt:vector size="70" baseType="lpstr">
      <vt:lpstr>Arial</vt:lpstr>
      <vt:lpstr>Poppins</vt:lpstr>
      <vt:lpstr>Poppins SemiBold</vt:lpstr>
      <vt:lpstr>Simple Light</vt:lpstr>
      <vt:lpstr>Build AI Agents to Automate Your Workflows</vt:lpstr>
      <vt:lpstr>Course flow (Central Time)</vt:lpstr>
      <vt:lpstr>Recording and replay</vt:lpstr>
      <vt:lpstr>Session materials</vt:lpstr>
      <vt:lpstr>Questions</vt:lpstr>
      <vt:lpstr>Segment 1 Inception: design the agent</vt:lpstr>
      <vt:lpstr>What you'll be able to do</vt:lpstr>
      <vt:lpstr>What Copilot Studio builds</vt:lpstr>
      <vt:lpstr>Anatomy of an agent</vt:lpstr>
      <vt:lpstr>Generative and classic orchestration</vt:lpstr>
      <vt:lpstr>How Microsoft frames a Copilot Studio project</vt:lpstr>
      <vt:lpstr>A maker and a learner</vt:lpstr>
      <vt:lpstr>The brief before the build</vt:lpstr>
      <vt:lpstr>The topic map</vt:lpstr>
      <vt:lpstr>Control layers and decision boundaries</vt:lpstr>
      <vt:lpstr>Instructions the planner can act on</vt:lpstr>
      <vt:lpstr>Starting a Copilot Studio trial</vt:lpstr>
      <vt:lpstr>Trial access and its limits</vt:lpstr>
      <vt:lpstr>First run: instructions, orchestration, boundary</vt:lpstr>
      <vt:lpstr>10-minute break Return at 10:00 AM Central</vt:lpstr>
      <vt:lpstr>Segment 2 Build: knowledge and grounded answers</vt:lpstr>
      <vt:lpstr>How grounded answers get built</vt:lpstr>
      <vt:lpstr>What each knowledge source gives you</vt:lpstr>
      <vt:lpstr>Knowledge limits change with orchestration mode</vt:lpstr>
      <vt:lpstr>Grounding controls on the agent</vt:lpstr>
      <vt:lpstr>Verify a grounded answer</vt:lpstr>
      <vt:lpstr>Knowledge scope and limits</vt:lpstr>
      <vt:lpstr>Teach, wait, then give feedback</vt:lpstr>
      <vt:lpstr>Topic inputs, outputs, and auto-prompting</vt:lpstr>
      <vt:lpstr>Context reuse or a new answer</vt:lpstr>
      <vt:lpstr>A useful failure response</vt:lpstr>
      <vt:lpstr>What retrieval grounding is for</vt:lpstr>
      <vt:lpstr>10-minute break Return at 11:00 AM Central</vt:lpstr>
      <vt:lpstr>Segment 3 Extend: actions, MCP, and handoff</vt:lpstr>
      <vt:lpstr>The tool shelf</vt:lpstr>
      <vt:lpstr>The next action</vt:lpstr>
      <vt:lpstr>GetStudySession: the contract</vt:lpstr>
      <vt:lpstr>The flow behind the tool</vt:lpstr>
      <vt:lpstr>Topics, agent flows, and cloud flows</vt:lpstr>
      <vt:lpstr>The evidence of a tool call</vt:lpstr>
      <vt:lpstr>HTTP, connectors, and MCP</vt:lpstr>
      <vt:lpstr>When MCP earns its place</vt:lpstr>
      <vt:lpstr>Adding an MCP server</vt:lpstr>
      <vt:lpstr>When another agent helps</vt:lpstr>
      <vt:lpstr>Decision boundaries</vt:lpstr>
      <vt:lpstr>Authority and human handoff</vt:lpstr>
      <vt:lpstr>Specifying a tool</vt:lpstr>
      <vt:lpstr>10-minute break Return at noon Central</vt:lpstr>
      <vt:lpstr>Segment 4 Operate: evaluate, govern, publish</vt:lpstr>
      <vt:lpstr>Evaluation sets and what each answers</vt:lpstr>
      <vt:lpstr>A score and an execution trace</vt:lpstr>
      <vt:lpstr>Conversational agent KPIs</vt:lpstr>
      <vt:lpstr>Usage signals need interpretation</vt:lpstr>
      <vt:lpstr>Quality signals the dashboard adds</vt:lpstr>
      <vt:lpstr>Well-Architected concerns for this agent</vt:lpstr>
      <vt:lpstr>Governance runs at three levels</vt:lpstr>
      <vt:lpstr>Environments and the ALM rules</vt:lpstr>
      <vt:lpstr>Publishing and audience access</vt:lpstr>
      <vt:lpstr>Channel choice changes the checks</vt:lpstr>
      <vt:lpstr>Before you publish</vt:lpstr>
      <vt:lpstr>Scoping a pilot</vt:lpstr>
      <vt:lpstr>The same pattern at work</vt:lpstr>
      <vt:lpstr>The outcomes in practice</vt:lpstr>
      <vt:lpstr>Warner's Laws of Agent Building</vt:lpstr>
      <vt:lpstr>Where to keep reading</vt:lpstr>
      <vt:lpstr>Thank you for attending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O’Reilly Slides Template</dc:title>
  <cp:lastModifiedBy>Tim Warner</cp:lastModifiedBy>
  <cp:revision>4</cp:revision>
  <dcterms:modified xsi:type="dcterms:W3CDTF">2026-09-08T12:51:10Z</dcterms:modified>
</cp:coreProperties>
</file>